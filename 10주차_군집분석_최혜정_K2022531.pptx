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3" r:id="rId5"/>
    <p:sldId id="257" r:id="rId6"/>
    <p:sldId id="258" r:id="rId7"/>
    <p:sldId id="259" r:id="rId8"/>
    <p:sldId id="262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2" autoAdjust="0"/>
    <p:restoredTop sz="94660"/>
  </p:normalViewPr>
  <p:slideViewPr>
    <p:cSldViewPr snapToGrid="0">
      <p:cViewPr varScale="1">
        <p:scale>
          <a:sx n="83" d="100"/>
          <a:sy n="83" d="100"/>
        </p:scale>
        <p:origin x="38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48BA0-F678-4532-9946-0E342DDDA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B96ACE-49E7-4BB9-AED7-BC071640A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C33F6A-3214-47CD-A2FB-63CAEDA8F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9917E5-04AF-42F9-B934-C530470E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3D613B-7ABC-428F-8272-C8337F26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58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D8B6B-0DA1-4407-914A-BBE8B87B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2C9546-8F25-4AC6-8F97-9A34853AC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BE5DEC-9428-4972-8CA5-31F4D685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E2A318-EDF4-4E38-874A-A59B5AF06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4A7636-0ABB-48FA-81F8-E735844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46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20910-BE7C-441E-B1BC-7CDA224A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AF7921-CA0E-4312-8E4C-BE1657182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F27FE3-6CC2-4967-A409-E7AF1EFCE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22E008-19EA-4C5C-87C2-AF32AE58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0462C8-960F-4BE7-A99C-90599589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89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ADB38-B44C-4838-8965-BFB212B0A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6AC78-7602-4B6E-B442-8539639B5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12DB84-1EB5-42C1-BA06-21D29AEC3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05DDBC-D4AE-4372-BD67-84D21294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0E858B-ADDD-4539-B61A-11FD2056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A7CBC-C1B6-4C46-9435-9357E56B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12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C4F0A-1F33-4E6C-97B7-7BC2E633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590324-1660-4C71-80F3-9189BA3D5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B236FE-0D6B-49F2-970C-AFFC6C196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3291AC-217B-46A7-A74E-52AF79CBD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CC6AF1-A7BE-4CBA-BD94-380E349C04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EDFD99-EC87-42C2-AE63-681AEFD3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D839A9-21D4-49F6-9B67-6BA03AE7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DFD367-DEF9-4CE9-9BC9-5EACAD79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832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5281A-B837-4E78-9979-A2B2F0F1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1CAAE-3866-40B7-8CB8-3A777C9AE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A75BD7-E229-46B7-B9B8-D21A4F71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E40B33-94E3-4D18-8DC1-171B0EDB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105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D9224C-7078-4BCE-9798-393CEC466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AE4FBC-371B-4D8E-97DF-50B27AB1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AE4CA0-EF76-4E14-9D92-CD82E90D3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66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64072-9A96-4658-A1CD-D31CFA8B8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F8D152-9A49-47F4-954B-1CD494FC0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BEBABA-500C-4DC0-A4CA-7A5EE0024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C04452-7F46-45AD-9182-49AF88FD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EB63F7-AE1A-45F7-8098-39B0CA94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140BF4-8CE2-43A5-87AD-DC6748E6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608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1EEA37-3915-45E7-BCDB-81793D3CC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E934A4-770B-4FC5-ACD1-75BF6EBA5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2514FF-FA85-4E33-B5B9-760A56B19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17EAA7-6E6F-48E7-959E-9570B13BF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3FF8E1-2136-4405-8546-B7CB8C14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9D2A38-18C6-4438-9EB3-773E202C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77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DCEFB-8B4D-4F0C-8753-3A700BE8E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5C7794-76F8-4AF2-9665-EE8A9A600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EA2ADF-0643-49F7-A83A-15ACEBC6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91E4D2-D326-4F17-B489-6B37589F3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0B5201-94D7-4D7B-9AD8-27795DD3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64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D39A9D-479E-4189-8980-C89FDCE65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43A8CB-0D68-4C4E-B76D-F64D80A58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A2C556-4DA3-4AD9-AF8A-95BF9049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8EC97-DDCC-4C94-81BF-F58FCF854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9FA8C8-E236-4753-A42E-F0668E04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13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8CC39A-3F21-4BFC-9B44-9C2A3849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F52125-93AB-4767-9AE6-D99B9321F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755C5-4185-48C6-AF00-E8C90B1AE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A4CBE-7572-4A80-9A34-A0030A3F411C}" type="datetimeFigureOut">
              <a:rPr lang="ko-KR" altLang="en-US" smtClean="0"/>
              <a:t>2022-11-18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C491BC-BD62-48DF-9A55-8FE1B90AA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1B4DA9-BFB1-4A4C-B99C-707C1C66CD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04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CACAF6A-BD5C-4911-BD20-5809F31C9F22}"/>
              </a:ext>
            </a:extLst>
          </p:cNvPr>
          <p:cNvCxnSpPr>
            <a:cxnSpLocks/>
          </p:cNvCxnSpPr>
          <p:nvPr/>
        </p:nvCxnSpPr>
        <p:spPr>
          <a:xfrm>
            <a:off x="614597" y="479685"/>
            <a:ext cx="0" cy="5543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B0CBB64-5496-46C1-8AEB-BEC2564446A1}"/>
              </a:ext>
            </a:extLst>
          </p:cNvPr>
          <p:cNvSpPr txBox="1"/>
          <p:nvPr/>
        </p:nvSpPr>
        <p:spPr>
          <a:xfrm>
            <a:off x="749508" y="525772"/>
            <a:ext cx="263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군집 분석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5EA328-1CFA-43E2-BE20-34C4B979EF8E}"/>
              </a:ext>
            </a:extLst>
          </p:cNvPr>
          <p:cNvSpPr/>
          <p:nvPr/>
        </p:nvSpPr>
        <p:spPr>
          <a:xfrm>
            <a:off x="2463382" y="664271"/>
            <a:ext cx="92289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0" i="0">
                <a:effectLst/>
              </a:rPr>
              <a:t>서로 </a:t>
            </a:r>
            <a:r>
              <a:rPr lang="ko-KR" altLang="en-US" b="0" i="0" u="sng">
                <a:effectLst/>
              </a:rPr>
              <a:t>유사한 정도에 따라 다수의 객체를 군집으로 나누는</a:t>
            </a:r>
            <a:r>
              <a:rPr lang="ko-KR" altLang="en-US" b="0" i="0">
                <a:effectLst/>
              </a:rPr>
              <a:t> 작업 또는 이에 기반한 분석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6A501C-6273-4AF1-BC89-1E7C1CF91BE0}"/>
              </a:ext>
            </a:extLst>
          </p:cNvPr>
          <p:cNvSpPr/>
          <p:nvPr/>
        </p:nvSpPr>
        <p:spPr>
          <a:xfrm>
            <a:off x="749508" y="1266076"/>
            <a:ext cx="8504419" cy="119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0" i="0" dirty="0">
                <a:effectLst/>
              </a:rPr>
              <a:t>- </a:t>
            </a:r>
            <a:r>
              <a:rPr lang="ko-KR" altLang="en-US" sz="1600" b="0" i="0" dirty="0">
                <a:effectLst/>
              </a:rPr>
              <a:t>유사도가 높은 데이터끼리 그룹화 </a:t>
            </a:r>
            <a:r>
              <a:rPr lang="en-US" altLang="ko-KR" sz="1600" b="0" i="0" dirty="0">
                <a:effectLst/>
              </a:rPr>
              <a:t>(</a:t>
            </a:r>
            <a:r>
              <a:rPr lang="ko-KR" altLang="en-US" sz="1600" b="0" i="0" dirty="0">
                <a:effectLst/>
              </a:rPr>
              <a:t>대표적으로 유클리드 </a:t>
            </a:r>
            <a:r>
              <a:rPr lang="ko-KR" altLang="en-US" sz="1600" b="0" i="0" dirty="0" err="1">
                <a:effectLst/>
              </a:rPr>
              <a:t>거리식</a:t>
            </a:r>
            <a:r>
              <a:rPr lang="ko-KR" altLang="en-US" sz="1600" b="0" i="0" dirty="0">
                <a:effectLst/>
              </a:rPr>
              <a:t> 이용</a:t>
            </a:r>
            <a:r>
              <a:rPr lang="en-US" altLang="ko-KR" sz="1600" b="0" i="0" dirty="0">
                <a:effectLst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dirty="0">
                <a:effectLst/>
              </a:rPr>
              <a:t>- </a:t>
            </a:r>
            <a:r>
              <a:rPr lang="ko-KR" altLang="en-US" sz="1600" b="0" i="0" dirty="0">
                <a:effectLst/>
              </a:rPr>
              <a:t>계층형 클러스터링과 비계층형 클러스터링으로 분류</a:t>
            </a:r>
          </a:p>
          <a:p>
            <a:pPr>
              <a:lnSpc>
                <a:spcPct val="150000"/>
              </a:lnSpc>
            </a:pPr>
            <a:r>
              <a:rPr lang="en-US" altLang="ko-KR" sz="1600" b="0" i="0" dirty="0">
                <a:effectLst/>
              </a:rPr>
              <a:t>- </a:t>
            </a:r>
            <a:r>
              <a:rPr lang="ko-KR" altLang="en-US" sz="1600" b="0" i="0" dirty="0">
                <a:effectLst/>
              </a:rPr>
              <a:t>주요 알고리즘 </a:t>
            </a:r>
            <a:r>
              <a:rPr lang="en-US" altLang="ko-KR" sz="1600" b="0" i="0" dirty="0">
                <a:effectLst/>
              </a:rPr>
              <a:t>: </a:t>
            </a:r>
            <a:r>
              <a:rPr lang="en-US" altLang="ko-KR" sz="1600" b="1" i="0" dirty="0">
                <a:effectLst/>
              </a:rPr>
              <a:t>k-means</a:t>
            </a:r>
            <a:r>
              <a:rPr lang="en-US" altLang="ko-KR" sz="1600" b="0" i="0" dirty="0">
                <a:effectLst/>
              </a:rPr>
              <a:t>, hierarchical</a:t>
            </a:r>
            <a:endParaRPr lang="ko-KR" altLang="en-US" sz="1600" b="0" i="0" dirty="0">
              <a:effectLst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39BCC8-50E3-49CE-B0AB-596771860433}"/>
              </a:ext>
            </a:extLst>
          </p:cNvPr>
          <p:cNvSpPr/>
          <p:nvPr/>
        </p:nvSpPr>
        <p:spPr>
          <a:xfrm>
            <a:off x="749508" y="2797329"/>
            <a:ext cx="10548076" cy="49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/>
              <a:t>군집분석의 특징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3BEDC4-6F8C-458B-9EB2-5D371845B459}"/>
              </a:ext>
            </a:extLst>
          </p:cNvPr>
          <p:cNvSpPr/>
          <p:nvPr/>
        </p:nvSpPr>
        <p:spPr>
          <a:xfrm>
            <a:off x="749509" y="3322601"/>
            <a:ext cx="8979108" cy="2670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dirty="0"/>
              <a:t>종속변수</a:t>
            </a:r>
            <a:r>
              <a:rPr lang="en-US" altLang="ko-KR" sz="1600" dirty="0"/>
              <a:t>(y</a:t>
            </a:r>
            <a:r>
              <a:rPr lang="ko-KR" altLang="en-US" sz="1600" dirty="0"/>
              <a:t>변수</a:t>
            </a:r>
            <a:r>
              <a:rPr lang="en-US" altLang="ko-KR" sz="1600" dirty="0"/>
              <a:t>)</a:t>
            </a:r>
            <a:r>
              <a:rPr lang="ko-KR" altLang="en-US" sz="1600" dirty="0"/>
              <a:t>가 없는 데이터 마이닝 기법 </a:t>
            </a:r>
            <a:r>
              <a:rPr lang="en-US" altLang="ko-KR" sz="1600" dirty="0"/>
              <a:t>(</a:t>
            </a:r>
            <a:r>
              <a:rPr lang="ko-KR" altLang="en-US" sz="1600" dirty="0"/>
              <a:t>비지도 학습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dirty="0"/>
              <a:t>유클리드 거리 기반 유사 객체 묶음 </a:t>
            </a:r>
            <a:r>
              <a:rPr lang="en-US" altLang="ko-KR" sz="1600" dirty="0"/>
              <a:t>(</a:t>
            </a:r>
            <a:r>
              <a:rPr lang="ko-KR" altLang="en-US" sz="1600" dirty="0"/>
              <a:t>유사성 </a:t>
            </a:r>
            <a:r>
              <a:rPr lang="en-US" altLang="ko-KR" sz="1600" dirty="0"/>
              <a:t>= </a:t>
            </a:r>
            <a:r>
              <a:rPr lang="ko-KR" altLang="en-US" sz="1600" dirty="0"/>
              <a:t>유클리드 거리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dirty="0"/>
              <a:t>전체적인 데이터 구조를 파악하는데 이용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dirty="0"/>
              <a:t>분석결과에 대한 가설 검정 없음 </a:t>
            </a:r>
            <a:r>
              <a:rPr lang="en-US" altLang="ko-KR" sz="1600" dirty="0"/>
              <a:t>(</a:t>
            </a:r>
            <a:r>
              <a:rPr lang="ko-KR" altLang="en-US" sz="1600" dirty="0"/>
              <a:t>타당성 검증 방법 없음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dirty="0"/>
              <a:t>계층적 군집분석</a:t>
            </a:r>
            <a:r>
              <a:rPr lang="en-US" altLang="ko-KR" sz="1600" dirty="0"/>
              <a:t>(</a:t>
            </a:r>
            <a:r>
              <a:rPr lang="ko-KR" altLang="en-US" sz="1600" dirty="0"/>
              <a:t>탐색적</a:t>
            </a:r>
            <a:r>
              <a:rPr lang="en-US" altLang="ko-KR" sz="1600" dirty="0"/>
              <a:t>), </a:t>
            </a:r>
            <a:r>
              <a:rPr lang="ko-KR" altLang="en-US" sz="1600" dirty="0"/>
              <a:t>비계층적 군집분석</a:t>
            </a:r>
            <a:r>
              <a:rPr lang="en-US" altLang="ko-KR" sz="1600" dirty="0"/>
              <a:t>(</a:t>
            </a:r>
            <a:r>
              <a:rPr lang="ko-KR" altLang="en-US" sz="1600" dirty="0"/>
              <a:t>확인적</a:t>
            </a:r>
            <a:r>
              <a:rPr lang="en-US" altLang="ko-KR" sz="1600" dirty="0"/>
              <a:t>)</a:t>
            </a:r>
            <a:endParaRPr lang="ko-KR" altLang="en-US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b="1" dirty="0"/>
              <a:t>고객 </a:t>
            </a:r>
            <a:r>
              <a:rPr lang="en-US" altLang="ko-KR" sz="1600" b="1" dirty="0"/>
              <a:t>DB -&gt; </a:t>
            </a:r>
            <a:r>
              <a:rPr lang="ko-KR" altLang="en-US" sz="1600" b="1" dirty="0"/>
              <a:t>알고리즘 적용 </a:t>
            </a:r>
            <a:r>
              <a:rPr lang="en-US" altLang="ko-KR" sz="1600" b="1" dirty="0"/>
              <a:t>-&gt; </a:t>
            </a:r>
            <a:r>
              <a:rPr lang="ko-KR" altLang="en-US" sz="1600" b="1" dirty="0"/>
              <a:t>패턴 추출</a:t>
            </a:r>
            <a:r>
              <a:rPr lang="en-US" altLang="ko-KR" sz="1600" b="1" dirty="0"/>
              <a:t>(rule) -&gt; </a:t>
            </a:r>
            <a:r>
              <a:rPr lang="ko-KR" altLang="en-US" sz="1600" b="1" dirty="0"/>
              <a:t>근거리 모형으로 군집 형성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dirty="0"/>
              <a:t>척도 </a:t>
            </a:r>
            <a:r>
              <a:rPr lang="en-US" altLang="ko-KR" sz="1600" dirty="0"/>
              <a:t>: </a:t>
            </a:r>
            <a:r>
              <a:rPr lang="ko-KR" altLang="en-US" sz="1600" dirty="0"/>
              <a:t>등간</a:t>
            </a:r>
            <a:r>
              <a:rPr lang="en-US" altLang="ko-KR" sz="1600" dirty="0"/>
              <a:t>, </a:t>
            </a:r>
            <a:r>
              <a:rPr lang="ko-KR" altLang="en-US" sz="1600" dirty="0"/>
              <a:t>비율척도   </a:t>
            </a:r>
            <a:r>
              <a:rPr lang="en-US" altLang="ko-KR" sz="1600" dirty="0"/>
              <a:t>=&gt; </a:t>
            </a:r>
            <a:r>
              <a:rPr lang="ko-KR" altLang="en-US" sz="1600" dirty="0"/>
              <a:t>명목척도를 만듦</a:t>
            </a:r>
          </a:p>
        </p:txBody>
      </p:sp>
      <p:pic>
        <p:nvPicPr>
          <p:cNvPr id="1026" name="Picture 2" descr="https://blog.kakaocdn.net/dn/9gyAQ/btqznu1Dack/FZvxjPU2KDgoyzQVoPU6z0/img.png">
            <a:extLst>
              <a:ext uri="{FF2B5EF4-FFF2-40B4-BE49-F238E27FC236}">
                <a16:creationId xmlns:a16="http://schemas.microsoft.com/office/drawing/2014/main" id="{F79DAD3B-CBBF-49A5-924A-135D59260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5595" y="4041938"/>
            <a:ext cx="2316896" cy="20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9607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37D84EA-0B19-4206-BF74-1B8CA621D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39" y="606124"/>
            <a:ext cx="7626810" cy="548332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1C793D3-4B8C-4B8D-BA42-752109DA8E17}"/>
              </a:ext>
            </a:extLst>
          </p:cNvPr>
          <p:cNvSpPr/>
          <p:nvPr/>
        </p:nvSpPr>
        <p:spPr>
          <a:xfrm>
            <a:off x="749508" y="556852"/>
            <a:ext cx="10548076" cy="49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13131"/>
                </a:solidFill>
              </a:rPr>
              <a:t>군집분석의 예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41846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F584762-F016-4C1A-8D0C-2DC49C914250}"/>
              </a:ext>
            </a:extLst>
          </p:cNvPr>
          <p:cNvSpPr/>
          <p:nvPr/>
        </p:nvSpPr>
        <p:spPr>
          <a:xfrm>
            <a:off x="749508" y="556869"/>
            <a:ext cx="10548076" cy="49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13131"/>
                </a:solidFill>
              </a:rPr>
              <a:t>군집분석의 특징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55C8D3-964B-4DC2-9AE9-FACEFE159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546" y="853705"/>
            <a:ext cx="5166655" cy="355894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E658DCC-A35F-4D20-993D-31A9265BB341}"/>
              </a:ext>
            </a:extLst>
          </p:cNvPr>
          <p:cNvSpPr/>
          <p:nvPr/>
        </p:nvSpPr>
        <p:spPr>
          <a:xfrm>
            <a:off x="1202872" y="1455249"/>
            <a:ext cx="4640330" cy="2531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군지분석에서 군집을 분류하는 가장 기본적인 가정은 군집 내에 속한 객체들의 특성은 동질적이고</a:t>
            </a:r>
            <a:r>
              <a:rPr lang="en-US" altLang="ko-KR" dirty="0"/>
              <a:t>, </a:t>
            </a:r>
            <a:r>
              <a:rPr lang="ko-KR" altLang="en-US" dirty="0"/>
              <a:t>서로 다른 군집에 속한 객체들 간의 특성은 이질적이 되도록 각각의 객체를 분류해야 한다는 것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742B7-D458-471C-AA3A-89E150FAE7C1}"/>
              </a:ext>
            </a:extLst>
          </p:cNvPr>
          <p:cNvSpPr txBox="1"/>
          <p:nvPr/>
        </p:nvSpPr>
        <p:spPr>
          <a:xfrm>
            <a:off x="1390115" y="4709487"/>
            <a:ext cx="8906174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 </a:t>
            </a:r>
            <a:r>
              <a:rPr lang="ko-KR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군집 내 구성원의 동질성</a:t>
            </a:r>
            <a:r>
              <a:rPr lang="ko-KR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과 </a:t>
            </a:r>
            <a:r>
              <a:rPr lang="ko-KR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군집 간 구성원의 이질성</a:t>
            </a:r>
            <a:r>
              <a:rPr lang="ko-KR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을 </a:t>
            </a:r>
            <a:endParaRPr lang="en-US" altLang="ko-K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최대화</a:t>
            </a:r>
            <a:r>
              <a:rPr lang="ko-KR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하는 방법이 됨</a:t>
            </a:r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.”</a:t>
            </a:r>
            <a:endParaRPr lang="ko-K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6257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F8A1F96-3BEF-4A97-8FBF-131676665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530" y="556869"/>
            <a:ext cx="8868032" cy="535492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CF6FE0D-291F-4AC4-9687-68E214C2A53C}"/>
              </a:ext>
            </a:extLst>
          </p:cNvPr>
          <p:cNvSpPr/>
          <p:nvPr/>
        </p:nvSpPr>
        <p:spPr>
          <a:xfrm>
            <a:off x="749508" y="556869"/>
            <a:ext cx="10548076" cy="49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13131"/>
                </a:solidFill>
              </a:rPr>
              <a:t>군집분석의 종류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2632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7944853-BB88-4B54-A2B4-A3091D3B8AFB}"/>
              </a:ext>
            </a:extLst>
          </p:cNvPr>
          <p:cNvGrpSpPr/>
          <p:nvPr/>
        </p:nvGrpSpPr>
        <p:grpSpPr>
          <a:xfrm>
            <a:off x="701311" y="471056"/>
            <a:ext cx="11068612" cy="5548250"/>
            <a:chOff x="468234" y="613392"/>
            <a:chExt cx="11068612" cy="554825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4EA0E70-5361-484E-8478-215119716A7F}"/>
                </a:ext>
              </a:extLst>
            </p:cNvPr>
            <p:cNvSpPr/>
            <p:nvPr/>
          </p:nvSpPr>
          <p:spPr>
            <a:xfrm>
              <a:off x="516743" y="725986"/>
              <a:ext cx="214353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000" b="1" i="0" dirty="0">
                  <a:effectLst/>
                  <a:latin typeface="+mn-ea"/>
                </a:rPr>
                <a:t>1) </a:t>
              </a:r>
              <a:r>
                <a:rPr lang="ko-KR" altLang="en-US" sz="2000" b="1" i="0" dirty="0">
                  <a:effectLst/>
                  <a:latin typeface="+mn-ea"/>
                </a:rPr>
                <a:t>유클리드 거리</a:t>
              </a:r>
              <a:endParaRPr lang="ko-KR" altLang="en-US" sz="2000" b="0" i="0" dirty="0">
                <a:effectLst/>
                <a:latin typeface="+mn-ea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CAB45F5-80F4-4E41-B57D-6168D512E617}"/>
                </a:ext>
              </a:extLst>
            </p:cNvPr>
            <p:cNvSpPr/>
            <p:nvPr/>
          </p:nvSpPr>
          <p:spPr>
            <a:xfrm>
              <a:off x="2855207" y="717270"/>
              <a:ext cx="6096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altLang="ko-KR" b="0" i="0" dirty="0">
                  <a:effectLst/>
                  <a:latin typeface="+mn-ea"/>
                </a:rPr>
                <a:t>- </a:t>
              </a:r>
              <a:r>
                <a:rPr lang="ko-KR" altLang="en-US" b="0" i="0" dirty="0">
                  <a:effectLst/>
                  <a:latin typeface="+mn-ea"/>
                </a:rPr>
                <a:t>두 점 사이의 거리를 계산하는 방법</a:t>
              </a:r>
            </a:p>
            <a:p>
              <a:r>
                <a:rPr lang="en-US" altLang="ko-KR" b="0" i="0" dirty="0">
                  <a:effectLst/>
                  <a:latin typeface="+mn-ea"/>
                </a:rPr>
                <a:t>- </a:t>
              </a:r>
              <a:r>
                <a:rPr lang="ko-KR" altLang="en-US" b="0" i="0" dirty="0">
                  <a:effectLst/>
                  <a:latin typeface="+mn-ea"/>
                </a:rPr>
                <a:t>이 거리를 이용하여 유클리드 공간 정의</a:t>
              </a:r>
            </a:p>
          </p:txBody>
        </p:sp>
        <p:pic>
          <p:nvPicPr>
            <p:cNvPr id="2050" name="Picture 2" descr="https://blog.kakaocdn.net/dn/cTUoKN/btqzpIxFen3/hmg1LuJYR9sp6KPmRk4KYK/img.png">
              <a:extLst>
                <a:ext uri="{FF2B5EF4-FFF2-40B4-BE49-F238E27FC236}">
                  <a16:creationId xmlns:a16="http://schemas.microsoft.com/office/drawing/2014/main" id="{0607ACC4-6173-47D4-B5F4-375506E43A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0134" y="1709284"/>
              <a:ext cx="5238750" cy="866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https://blog.kakaocdn.net/dn/BJrfT/btqzmkrGGGR/ppMp9TtaQwznASrX9J92Ak/img.png">
              <a:extLst>
                <a:ext uri="{FF2B5EF4-FFF2-40B4-BE49-F238E27FC236}">
                  <a16:creationId xmlns:a16="http://schemas.microsoft.com/office/drawing/2014/main" id="{E8335FD3-E5AD-47A2-8A55-692EDE4C49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9570" y="613392"/>
              <a:ext cx="3504585" cy="24462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B5387BF-15CE-45E5-80B1-42A2F7B196FA}"/>
                </a:ext>
              </a:extLst>
            </p:cNvPr>
            <p:cNvSpPr/>
            <p:nvPr/>
          </p:nvSpPr>
          <p:spPr>
            <a:xfrm>
              <a:off x="516743" y="3503000"/>
              <a:ext cx="406585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000" b="1" dirty="0">
                  <a:highlight>
                    <a:srgbClr val="FFFF00"/>
                  </a:highlight>
                  <a:latin typeface="+mn-ea"/>
                </a:rPr>
                <a:t>2</a:t>
              </a:r>
              <a:r>
                <a:rPr lang="en-US" altLang="ko-KR" sz="2000" b="1" i="0" dirty="0">
                  <a:effectLst/>
                  <a:highlight>
                    <a:srgbClr val="FFFF00"/>
                  </a:highlight>
                  <a:latin typeface="+mn-ea"/>
                </a:rPr>
                <a:t>) </a:t>
              </a:r>
              <a:r>
                <a:rPr lang="ko-KR" altLang="en-US" sz="2000" b="1" dirty="0">
                  <a:highlight>
                    <a:srgbClr val="FFFF00"/>
                  </a:highlight>
                  <a:latin typeface="+mn-ea"/>
                </a:rPr>
                <a:t>계층적 군집분석 </a:t>
              </a:r>
              <a:r>
                <a:rPr lang="en-US" altLang="ko-KR" sz="2000" b="1" dirty="0">
                  <a:latin typeface="+mn-ea"/>
                </a:rPr>
                <a:t>(hierarchical)</a:t>
              </a:r>
              <a:endParaRPr lang="ko-KR" altLang="en-US" sz="2000" b="0" i="0" dirty="0">
                <a:effectLst/>
                <a:latin typeface="+mn-ea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A7415AC-8920-4B71-9F77-8EF8C8E876BD}"/>
                </a:ext>
              </a:extLst>
            </p:cNvPr>
            <p:cNvSpPr/>
            <p:nvPr/>
          </p:nvSpPr>
          <p:spPr>
            <a:xfrm>
              <a:off x="468234" y="4130317"/>
              <a:ext cx="6364508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latin typeface="+mn-ea"/>
                </a:rPr>
                <a:t>- </a:t>
              </a:r>
              <a:r>
                <a:rPr lang="ko-KR" altLang="en-US" dirty="0">
                  <a:highlight>
                    <a:srgbClr val="FFFF00"/>
                  </a:highlight>
                  <a:latin typeface="+mn-ea"/>
                </a:rPr>
                <a:t>유클리드 거리를 이용</a:t>
              </a:r>
              <a:r>
                <a:rPr lang="ko-KR" altLang="en-US" dirty="0">
                  <a:latin typeface="+mn-ea"/>
                </a:rPr>
                <a:t>한 군집분석 방법</a:t>
              </a:r>
            </a:p>
            <a:p>
              <a:r>
                <a:rPr lang="en-US" altLang="ko-KR" dirty="0">
                  <a:latin typeface="+mn-ea"/>
                </a:rPr>
                <a:t>- </a:t>
              </a:r>
              <a:r>
                <a:rPr lang="ko-KR" altLang="en-US" dirty="0">
                  <a:latin typeface="+mn-ea"/>
                </a:rPr>
                <a:t>계층적으로 군집 결과 도출</a:t>
              </a:r>
            </a:p>
            <a:p>
              <a:r>
                <a:rPr lang="en-US" altLang="ko-KR" dirty="0">
                  <a:latin typeface="+mn-ea"/>
                </a:rPr>
                <a:t>- </a:t>
              </a:r>
              <a:r>
                <a:rPr lang="ko-KR" altLang="en-US" dirty="0">
                  <a:latin typeface="+mn-ea"/>
                </a:rPr>
                <a:t>탐색적 군집분석</a:t>
              </a:r>
            </a:p>
            <a:p>
              <a:r>
                <a:rPr lang="en-US" altLang="ko-KR" dirty="0">
                  <a:latin typeface="+mn-ea"/>
                </a:rPr>
                <a:t>- </a:t>
              </a:r>
              <a:r>
                <a:rPr lang="ko-KR" altLang="en-US" dirty="0">
                  <a:latin typeface="+mn-ea"/>
                </a:rPr>
                <a:t>계층적 군집분석의 결과</a:t>
              </a:r>
            </a:p>
            <a:p>
              <a:r>
                <a:rPr lang="ko-KR" altLang="en-US" dirty="0">
                  <a:latin typeface="+mn-ea"/>
                </a:rPr>
                <a:t>    </a:t>
              </a:r>
              <a:r>
                <a:rPr lang="en-US" altLang="ko-KR" dirty="0">
                  <a:latin typeface="+mn-ea"/>
                </a:rPr>
                <a:t>=&gt; </a:t>
              </a:r>
              <a:r>
                <a:rPr lang="ko-KR" altLang="en-US" dirty="0" err="1">
                  <a:latin typeface="+mn-ea"/>
                </a:rPr>
                <a:t>덴드로그램</a:t>
              </a:r>
              <a:r>
                <a:rPr lang="ko-KR" altLang="en-US" dirty="0">
                  <a:latin typeface="+mn-ea"/>
                </a:rPr>
                <a:t> </a:t>
              </a:r>
              <a:r>
                <a:rPr lang="en-US" altLang="ko-KR" dirty="0">
                  <a:latin typeface="+mn-ea"/>
                </a:rPr>
                <a:t>(Dendrogram) : </a:t>
              </a:r>
              <a:r>
                <a:rPr lang="ko-KR" altLang="en-US" dirty="0">
                  <a:latin typeface="+mn-ea"/>
                </a:rPr>
                <a:t>표본들이 군을 형성하는 </a:t>
              </a:r>
              <a:endParaRPr lang="en-US" altLang="ko-KR" dirty="0">
                <a:latin typeface="+mn-ea"/>
              </a:endParaRPr>
            </a:p>
            <a:p>
              <a:r>
                <a:rPr lang="en-US" altLang="ko-KR" dirty="0">
                  <a:latin typeface="+mn-ea"/>
                </a:rPr>
                <a:t>          </a:t>
              </a:r>
              <a:r>
                <a:rPr lang="ko-KR" altLang="en-US" dirty="0">
                  <a:latin typeface="+mn-ea"/>
                </a:rPr>
                <a:t>과정을 나타내는 나무 형식의 그림</a:t>
              </a:r>
            </a:p>
            <a:p>
              <a:r>
                <a:rPr lang="en-US" altLang="ko-KR" dirty="0">
                  <a:latin typeface="+mn-ea"/>
                </a:rPr>
                <a:t>- </a:t>
              </a:r>
              <a:r>
                <a:rPr lang="ko-KR" altLang="en-US" dirty="0">
                  <a:latin typeface="+mn-ea"/>
                </a:rPr>
                <a:t>군집 수는 사용자가 정할 수 있음 </a:t>
              </a:r>
              <a:r>
                <a:rPr lang="en-US" altLang="ko-KR" dirty="0">
                  <a:latin typeface="+mn-ea"/>
                </a:rPr>
                <a:t>(2</a:t>
              </a:r>
              <a:r>
                <a:rPr lang="ko-KR" altLang="en-US" dirty="0">
                  <a:latin typeface="+mn-ea"/>
                </a:rPr>
                <a:t>집단</a:t>
              </a:r>
              <a:r>
                <a:rPr lang="en-US" altLang="ko-KR" dirty="0">
                  <a:latin typeface="+mn-ea"/>
                </a:rPr>
                <a:t>, 3</a:t>
              </a:r>
              <a:r>
                <a:rPr lang="ko-KR" altLang="en-US" dirty="0">
                  <a:latin typeface="+mn-ea"/>
                </a:rPr>
                <a:t>집단</a:t>
              </a:r>
              <a:r>
                <a:rPr lang="en-US" altLang="ko-KR" dirty="0">
                  <a:latin typeface="+mn-ea"/>
                </a:rPr>
                <a:t>, ... </a:t>
              </a:r>
              <a:r>
                <a:rPr lang="ko-KR" altLang="en-US" dirty="0">
                  <a:latin typeface="+mn-ea"/>
                </a:rPr>
                <a:t>등</a:t>
              </a:r>
              <a:r>
                <a:rPr lang="en-US" altLang="ko-KR" dirty="0">
                  <a:latin typeface="+mn-ea"/>
                </a:rPr>
                <a:t>)</a:t>
              </a:r>
              <a:endParaRPr lang="ko-KR" altLang="en-US" b="0" i="0" dirty="0">
                <a:effectLst/>
                <a:latin typeface="+mn-ea"/>
              </a:endParaRPr>
            </a:p>
          </p:txBody>
        </p:sp>
        <p:pic>
          <p:nvPicPr>
            <p:cNvPr id="2054" name="Picture 6" descr="https://blog.kakaocdn.net/dn/brjH0f/btqzmkkWwCC/NvciU4B0fbEPFbNvfUkHjk/img.png">
              <a:extLst>
                <a:ext uri="{FF2B5EF4-FFF2-40B4-BE49-F238E27FC236}">
                  <a16:creationId xmlns:a16="http://schemas.microsoft.com/office/drawing/2014/main" id="{CF920385-57F0-4154-BFC7-C3E7C53D9F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5938" y="4089039"/>
              <a:ext cx="4780908" cy="19173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56785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85EDB29-C449-47B9-AD76-DBE451491EE7}"/>
              </a:ext>
            </a:extLst>
          </p:cNvPr>
          <p:cNvSpPr/>
          <p:nvPr/>
        </p:nvSpPr>
        <p:spPr>
          <a:xfrm>
            <a:off x="821962" y="451938"/>
            <a:ext cx="10548076" cy="49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군집화 방식 </a:t>
            </a:r>
            <a:endParaRPr lang="ko-KR" altLang="en-US" sz="2000" b="1" dirty="0"/>
          </a:p>
        </p:txBody>
      </p:sp>
      <p:pic>
        <p:nvPicPr>
          <p:cNvPr id="3074" name="Picture 2" descr="https://blog.kakaocdn.net/dn/KlyG9/btqzokdfxuA/60rEdd8aJtl33zy0BCDrnK/img.png">
            <a:extLst>
              <a:ext uri="{FF2B5EF4-FFF2-40B4-BE49-F238E27FC236}">
                <a16:creationId xmlns:a16="http://schemas.microsoft.com/office/drawing/2014/main" id="{DB348D3E-5525-4D86-BD9C-F066C0973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617" y="776380"/>
            <a:ext cx="5731379" cy="530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1BFAA3B-9937-4F53-BC45-EC9160F66240}"/>
              </a:ext>
            </a:extLst>
          </p:cNvPr>
          <p:cNvSpPr/>
          <p:nvPr/>
        </p:nvSpPr>
        <p:spPr>
          <a:xfrm>
            <a:off x="821962" y="1190662"/>
            <a:ext cx="4377128" cy="4476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0" i="0" dirty="0">
                <a:effectLst/>
              </a:rPr>
              <a:t>① 단일기준결합방식 </a:t>
            </a:r>
            <a:r>
              <a:rPr lang="en-US" altLang="ko-KR" sz="1600" b="0" i="0" dirty="0">
                <a:effectLst/>
              </a:rPr>
              <a:t>: </a:t>
            </a:r>
            <a:r>
              <a:rPr lang="ko-KR" altLang="en-US" sz="1600" b="0" i="0" dirty="0">
                <a:effectLst/>
              </a:rPr>
              <a:t>각 군집에서 중심으로부터 거리가 가까운 것 </a:t>
            </a:r>
            <a:r>
              <a:rPr lang="en-US" altLang="ko-KR" sz="1600" b="0" i="0" dirty="0">
                <a:effectLst/>
              </a:rPr>
              <a:t>1</a:t>
            </a:r>
            <a:r>
              <a:rPr lang="ko-KR" altLang="en-US" sz="1600" b="0" i="0" dirty="0">
                <a:effectLst/>
              </a:rPr>
              <a:t>개씩 비교하여 가장 가까운 것끼리 군집화</a:t>
            </a:r>
            <a:endParaRPr lang="en-US" altLang="ko-KR" sz="1600" b="0" i="0" dirty="0">
              <a:effectLst/>
            </a:endParaRPr>
          </a:p>
          <a:p>
            <a:pPr>
              <a:lnSpc>
                <a:spcPct val="150000"/>
              </a:lnSpc>
            </a:pPr>
            <a:endParaRPr lang="ko-KR" altLang="en-US" sz="1600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dirty="0">
                <a:effectLst/>
              </a:rPr>
              <a:t>② 완전기준결합방식 </a:t>
            </a:r>
            <a:r>
              <a:rPr lang="en-US" altLang="ko-KR" sz="1600" b="0" i="0" dirty="0">
                <a:effectLst/>
              </a:rPr>
              <a:t>: </a:t>
            </a:r>
            <a:r>
              <a:rPr lang="ko-KR" altLang="en-US" sz="1600" b="0" i="0" dirty="0">
                <a:effectLst/>
              </a:rPr>
              <a:t>각 군집에서 중심으로부터 가장 먼 대상끼리 비교하여 가장 가까운 것끼리 군집화</a:t>
            </a:r>
            <a:endParaRPr lang="en-US" altLang="ko-KR" sz="1600" b="0" i="0" dirty="0">
              <a:effectLst/>
            </a:endParaRPr>
          </a:p>
          <a:p>
            <a:pPr>
              <a:lnSpc>
                <a:spcPct val="150000"/>
              </a:lnSpc>
            </a:pPr>
            <a:endParaRPr lang="ko-KR" altLang="en-US" sz="1600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sz="1600" b="0" i="0" dirty="0">
                <a:effectLst/>
              </a:rPr>
              <a:t>③ 평균기준결합방식 </a:t>
            </a:r>
            <a:r>
              <a:rPr lang="en-US" altLang="ko-KR" sz="1600" b="0" i="0" dirty="0">
                <a:effectLst/>
              </a:rPr>
              <a:t>: </a:t>
            </a:r>
            <a:r>
              <a:rPr lang="ko-KR" altLang="en-US" sz="1600" b="0" i="0" dirty="0">
                <a:effectLst/>
              </a:rPr>
              <a:t>한 군집 안에 속해 있는 모든 대상과 다른 군집에 </a:t>
            </a:r>
            <a:r>
              <a:rPr lang="ko-KR" altLang="en-US" sz="1600" b="0" i="0" dirty="0" err="1">
                <a:effectLst/>
              </a:rPr>
              <a:t>속해있는</a:t>
            </a:r>
            <a:r>
              <a:rPr lang="ko-KR" altLang="en-US" sz="1600" b="0" i="0" dirty="0">
                <a:effectLst/>
              </a:rPr>
              <a:t> 모든 대상의 쌍 집합에 대한 거리를 평균 계산하여 가장 가까운 것끼리 군집화</a:t>
            </a:r>
          </a:p>
        </p:txBody>
      </p:sp>
    </p:spTree>
    <p:extLst>
      <p:ext uri="{BB962C8B-B14F-4D97-AF65-F5344CB8AC3E}">
        <p14:creationId xmlns:p14="http://schemas.microsoft.com/office/powerpoint/2010/main" val="1838248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01BB364-02FE-45C3-95BC-9D419644C8DE}"/>
              </a:ext>
            </a:extLst>
          </p:cNvPr>
          <p:cNvGrpSpPr/>
          <p:nvPr/>
        </p:nvGrpSpPr>
        <p:grpSpPr>
          <a:xfrm>
            <a:off x="818113" y="547149"/>
            <a:ext cx="11014326" cy="5573738"/>
            <a:chOff x="643180" y="178982"/>
            <a:chExt cx="11014326" cy="557373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AF85132-99C1-45A1-98A9-024DF9836C15}"/>
                </a:ext>
              </a:extLst>
            </p:cNvPr>
            <p:cNvSpPr/>
            <p:nvPr/>
          </p:nvSpPr>
          <p:spPr>
            <a:xfrm>
              <a:off x="643180" y="200971"/>
              <a:ext cx="396320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000" b="1" i="0" dirty="0">
                  <a:effectLst/>
                  <a:latin typeface="+mj-ea"/>
                  <a:ea typeface="+mj-ea"/>
                </a:rPr>
                <a:t>3) </a:t>
              </a:r>
              <a:r>
                <a:rPr lang="ko-KR" altLang="en-US" sz="2000" b="1" i="0" dirty="0">
                  <a:effectLst/>
                  <a:latin typeface="+mj-ea"/>
                  <a:ea typeface="+mj-ea"/>
                </a:rPr>
                <a:t>비계층적 군집분석 </a:t>
              </a:r>
              <a:r>
                <a:rPr lang="en-US" altLang="ko-KR" sz="2000" b="1" i="0" dirty="0">
                  <a:effectLst/>
                  <a:latin typeface="+mj-ea"/>
                  <a:ea typeface="+mj-ea"/>
                </a:rPr>
                <a:t>(k-Means)</a:t>
              </a:r>
              <a:endParaRPr lang="ko-KR" altLang="en-US" sz="2000" b="0" i="0" dirty="0">
                <a:effectLst/>
                <a:latin typeface="+mj-ea"/>
                <a:ea typeface="+mj-ea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52D3336-84C2-4C8B-B099-FAB66D327A9E}"/>
                </a:ext>
              </a:extLst>
            </p:cNvPr>
            <p:cNvSpPr/>
            <p:nvPr/>
          </p:nvSpPr>
          <p:spPr>
            <a:xfrm>
              <a:off x="5561506" y="178982"/>
              <a:ext cx="6096000" cy="221451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ko-KR" sz="1600" dirty="0">
                  <a:latin typeface="+mn-ea"/>
                </a:rPr>
                <a:t>- </a:t>
              </a:r>
              <a:r>
                <a:rPr lang="ko-KR" altLang="en-US" sz="1600" dirty="0">
                  <a:latin typeface="+mn-ea"/>
                </a:rPr>
                <a:t>계층적 군집분석보다 속도 빠름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latin typeface="+mn-ea"/>
                </a:rPr>
                <a:t>- </a:t>
              </a:r>
              <a:r>
                <a:rPr lang="ko-KR" altLang="en-US" sz="1600" dirty="0">
                  <a:highlight>
                    <a:srgbClr val="FFFF00"/>
                  </a:highlight>
                  <a:latin typeface="+mn-ea"/>
                </a:rPr>
                <a:t>군집의 수를 알고 있는 경우 이용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latin typeface="+mn-ea"/>
                </a:rPr>
                <a:t>- k</a:t>
              </a:r>
              <a:r>
                <a:rPr lang="ko-KR" altLang="en-US" sz="1600" dirty="0">
                  <a:latin typeface="+mn-ea"/>
                </a:rPr>
                <a:t>는 미리 정하는 군집 수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latin typeface="+mn-ea"/>
                </a:rPr>
                <a:t>- </a:t>
              </a:r>
              <a:r>
                <a:rPr lang="ko-KR" altLang="en-US" sz="1600" dirty="0">
                  <a:latin typeface="+mn-ea"/>
                </a:rPr>
                <a:t>확인적 군집분석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latin typeface="+mn-ea"/>
                </a:rPr>
                <a:t>- </a:t>
              </a:r>
              <a:r>
                <a:rPr lang="ko-KR" altLang="en-US" sz="1600" dirty="0">
                  <a:latin typeface="+mn-ea"/>
                </a:rPr>
                <a:t>계층적 군집화의 결과에 의거하여 군집 수 결정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latin typeface="+mn-ea"/>
                </a:rPr>
                <a:t>- </a:t>
              </a:r>
              <a:r>
                <a:rPr lang="ko-KR" altLang="en-US" sz="1600" dirty="0">
                  <a:latin typeface="+mn-ea"/>
                </a:rPr>
                <a:t>변수보다 관측대상 군집화에 많이 이용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dirty="0">
                  <a:latin typeface="+mn-ea"/>
                </a:rPr>
                <a:t>- </a:t>
              </a:r>
              <a:r>
                <a:rPr lang="ko-KR" altLang="en-US" sz="1600" dirty="0">
                  <a:latin typeface="+mn-ea"/>
                </a:rPr>
                <a:t>군집의 중심</a:t>
              </a:r>
              <a:r>
                <a:rPr lang="en-US" altLang="ko-KR" sz="1600" dirty="0">
                  <a:latin typeface="+mn-ea"/>
                </a:rPr>
                <a:t>(Cluster Center)</a:t>
              </a:r>
              <a:r>
                <a:rPr lang="ko-KR" altLang="en-US" sz="1600" dirty="0">
                  <a:latin typeface="+mn-ea"/>
                </a:rPr>
                <a:t>은 사용자가 정함</a:t>
              </a:r>
              <a:endParaRPr lang="ko-KR" altLang="en-US" sz="1600" b="0" i="0" dirty="0">
                <a:effectLst/>
                <a:latin typeface="+mn-ea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D566C39-56C5-4B6A-9992-F5DDC823CCC8}"/>
                </a:ext>
              </a:extLst>
            </p:cNvPr>
            <p:cNvSpPr/>
            <p:nvPr/>
          </p:nvSpPr>
          <p:spPr>
            <a:xfrm>
              <a:off x="5561506" y="3615138"/>
              <a:ext cx="6096000" cy="19141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ko-KR" altLang="en-US" sz="1600" b="0" i="0" dirty="0">
                  <a:effectLst/>
                  <a:latin typeface="AppleSDGothicNeo"/>
                </a:rPr>
                <a:t>① </a:t>
              </a:r>
              <a:r>
                <a:rPr lang="en-US" altLang="ko-KR" sz="1600" b="0" i="0" dirty="0">
                  <a:effectLst/>
                  <a:latin typeface="AppleSDGothicNeo"/>
                </a:rPr>
                <a:t>k</a:t>
              </a:r>
              <a:r>
                <a:rPr lang="ko-KR" altLang="en-US" sz="1600" b="0" i="0" dirty="0">
                  <a:effectLst/>
                  <a:latin typeface="AppleSDGothicNeo"/>
                </a:rPr>
                <a:t>값을 초기값으로</a:t>
              </a:r>
              <a:r>
                <a:rPr lang="en-US" altLang="ko-KR" sz="1600" b="0" i="0" dirty="0">
                  <a:effectLst/>
                  <a:latin typeface="AppleSDGothicNeo"/>
                </a:rPr>
                <a:t>, k</a:t>
              </a:r>
              <a:r>
                <a:rPr lang="ko-KR" altLang="en-US" sz="1600" b="0" i="0" dirty="0">
                  <a:effectLst/>
                  <a:latin typeface="AppleSDGothicNeo"/>
                </a:rPr>
                <a:t>개의 </a:t>
              </a:r>
              <a:r>
                <a:rPr lang="en-US" altLang="ko-KR" sz="1600" b="0" i="0" dirty="0">
                  <a:effectLst/>
                  <a:latin typeface="AppleSDGothicNeo"/>
                </a:rPr>
                <a:t>centroid </a:t>
              </a:r>
              <a:r>
                <a:rPr lang="ko-KR" altLang="en-US" sz="1600" b="0" i="0" dirty="0">
                  <a:effectLst/>
                  <a:latin typeface="AppleSDGothicNeo"/>
                </a:rPr>
                <a:t>선정 </a:t>
              </a:r>
              <a:r>
                <a:rPr lang="en-US" altLang="ko-KR" sz="1600" b="0" i="0" dirty="0">
                  <a:effectLst/>
                  <a:latin typeface="AppleSDGothicNeo"/>
                </a:rPr>
                <a:t>(</a:t>
              </a:r>
              <a:r>
                <a:rPr lang="ko-KR" altLang="en-US" sz="1600" b="0" i="0" dirty="0">
                  <a:effectLst/>
                  <a:latin typeface="AppleSDGothicNeo"/>
                </a:rPr>
                <a:t>랜덤</a:t>
              </a:r>
              <a:r>
                <a:rPr lang="en-US" altLang="ko-KR" sz="1600" b="0" i="0" dirty="0">
                  <a:effectLst/>
                  <a:latin typeface="AppleSDGothicNeo"/>
                </a:rPr>
                <a:t>)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b="0" i="0" dirty="0">
                  <a:effectLst/>
                  <a:latin typeface="AppleSDGothicNeo"/>
                </a:rPr>
                <a:t>② </a:t>
              </a:r>
              <a:r>
                <a:rPr lang="ko-KR" altLang="en-US" sz="1600" b="0" i="0" dirty="0">
                  <a:effectLst/>
                  <a:latin typeface="AppleSDGothicNeo"/>
                </a:rPr>
                <a:t>각 데이터 포인터를 가장 가까운 </a:t>
              </a:r>
              <a:r>
                <a:rPr lang="en-US" altLang="ko-KR" sz="1600" b="0" i="0" dirty="0">
                  <a:effectLst/>
                  <a:latin typeface="AppleSDGothicNeo"/>
                </a:rPr>
                <a:t>centroid</a:t>
              </a:r>
              <a:r>
                <a:rPr lang="ko-KR" altLang="en-US" sz="1600" b="0" i="0" dirty="0">
                  <a:effectLst/>
                  <a:latin typeface="AppleSDGothicNeo"/>
                </a:rPr>
                <a:t>에 할당</a:t>
              </a:r>
            </a:p>
            <a:p>
              <a:pPr>
                <a:lnSpc>
                  <a:spcPct val="125000"/>
                </a:lnSpc>
              </a:pPr>
              <a:r>
                <a:rPr lang="ko-KR" altLang="en-US" sz="1600" b="0" i="0" dirty="0">
                  <a:effectLst/>
                  <a:latin typeface="AppleSDGothicNeo"/>
                </a:rPr>
                <a:t>③ </a:t>
              </a:r>
              <a:r>
                <a:rPr lang="en-US" altLang="ko-KR" sz="1600" b="0" i="0" dirty="0">
                  <a:effectLst/>
                  <a:latin typeface="AppleSDGothicNeo"/>
                </a:rPr>
                <a:t>centroid</a:t>
              </a:r>
              <a:r>
                <a:rPr lang="ko-KR" altLang="en-US" sz="1600" b="0" i="0" dirty="0">
                  <a:effectLst/>
                  <a:latin typeface="AppleSDGothicNeo"/>
                </a:rPr>
                <a:t>에 할당된 모든 데이터 포인트의 중심 위치 계산 </a:t>
              </a:r>
              <a:r>
                <a:rPr lang="en-US" altLang="ko-KR" sz="1600" b="0" i="0" dirty="0">
                  <a:effectLst/>
                  <a:latin typeface="AppleSDGothicNeo"/>
                </a:rPr>
                <a:t>(centroid </a:t>
              </a:r>
              <a:r>
                <a:rPr lang="ko-KR" altLang="en-US" sz="1600" b="0" i="0" dirty="0">
                  <a:effectLst/>
                  <a:latin typeface="AppleSDGothicNeo"/>
                </a:rPr>
                <a:t>재조정</a:t>
              </a:r>
              <a:r>
                <a:rPr lang="en-US" altLang="ko-KR" sz="1600" b="0" i="0" dirty="0">
                  <a:effectLst/>
                  <a:latin typeface="AppleSDGothicNeo"/>
                </a:rPr>
                <a:t>)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 b="0" i="0" dirty="0">
                  <a:effectLst/>
                  <a:latin typeface="AppleSDGothicNeo"/>
                </a:rPr>
                <a:t>④ </a:t>
              </a:r>
              <a:r>
                <a:rPr lang="ko-KR" altLang="en-US" sz="1600" b="0" i="0" dirty="0">
                  <a:effectLst/>
                  <a:latin typeface="AppleSDGothicNeo"/>
                </a:rPr>
                <a:t>재조정된 </a:t>
              </a:r>
              <a:r>
                <a:rPr lang="en-US" altLang="ko-KR" sz="1600" b="0" i="0" dirty="0">
                  <a:effectLst/>
                  <a:latin typeface="AppleSDGothicNeo"/>
                </a:rPr>
                <a:t>centroid</a:t>
              </a:r>
              <a:r>
                <a:rPr lang="ko-KR" altLang="en-US" sz="1600" b="0" i="0" dirty="0">
                  <a:effectLst/>
                  <a:latin typeface="AppleSDGothicNeo"/>
                </a:rPr>
                <a:t>와 가장 가까운 데이터 포인트 할당</a:t>
              </a:r>
            </a:p>
            <a:p>
              <a:pPr>
                <a:lnSpc>
                  <a:spcPct val="125000"/>
                </a:lnSpc>
              </a:pPr>
              <a:r>
                <a:rPr lang="ko-KR" altLang="en-US" sz="1600" b="0" i="0" dirty="0">
                  <a:effectLst/>
                  <a:latin typeface="AppleSDGothicNeo"/>
                </a:rPr>
                <a:t>⑤ </a:t>
              </a:r>
              <a:r>
                <a:rPr lang="en-US" altLang="ko-KR" sz="1600" b="0" i="0" dirty="0">
                  <a:effectLst/>
                  <a:latin typeface="AppleSDGothicNeo"/>
                </a:rPr>
                <a:t>centroid </a:t>
              </a:r>
              <a:r>
                <a:rPr lang="ko-KR" altLang="en-US" sz="1600" b="0" i="0" dirty="0">
                  <a:effectLst/>
                  <a:latin typeface="AppleSDGothicNeo"/>
                </a:rPr>
                <a:t>재조정이 발생되지 않을 때까지 ③</a:t>
              </a:r>
              <a:r>
                <a:rPr lang="en-US" altLang="ko-KR" sz="1600" b="0" i="0" dirty="0">
                  <a:effectLst/>
                  <a:latin typeface="AppleSDGothicNeo"/>
                </a:rPr>
                <a:t>, </a:t>
              </a:r>
              <a:r>
                <a:rPr lang="ko-KR" altLang="en-US" sz="1600" b="0" i="0" dirty="0">
                  <a:effectLst/>
                  <a:latin typeface="AppleSDGothicNeo"/>
                </a:rPr>
                <a:t>④단계 반복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FDE16FD-BAD6-4AAA-AB62-EEC3C766EAC8}"/>
                </a:ext>
              </a:extLst>
            </p:cNvPr>
            <p:cNvSpPr/>
            <p:nvPr/>
          </p:nvSpPr>
          <p:spPr>
            <a:xfrm>
              <a:off x="5561506" y="3084864"/>
              <a:ext cx="5467810" cy="4965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altLang="ko-KR" sz="2000" b="1" dirty="0"/>
                <a:t>k-</a:t>
              </a:r>
              <a:r>
                <a:rPr lang="ko-KR" altLang="en-US" sz="2000" b="1" dirty="0"/>
                <a:t>평균</a:t>
              </a:r>
              <a:r>
                <a:rPr lang="en-US" altLang="ko-KR" sz="2000" b="1" dirty="0"/>
                <a:t>(k-</a:t>
              </a:r>
              <a:r>
                <a:rPr lang="en-US" altLang="ko-KR" sz="2000" b="1" dirty="0" err="1"/>
                <a:t>Menas</a:t>
              </a:r>
              <a:r>
                <a:rPr lang="en-US" altLang="ko-KR" sz="2000" b="1" dirty="0"/>
                <a:t>) </a:t>
              </a:r>
              <a:r>
                <a:rPr lang="ko-KR" altLang="en-US" sz="2000" b="1" dirty="0"/>
                <a:t>군집분석 알고리즘</a:t>
              </a:r>
            </a:p>
          </p:txBody>
        </p:sp>
        <p:pic>
          <p:nvPicPr>
            <p:cNvPr id="4098" name="Picture 2" descr="https://blog.kakaocdn.net/dn/bNgqlx/btqzmjTSPV3/7ziYXBvPG6TEjAYukf7qVk/img.png">
              <a:extLst>
                <a:ext uri="{FF2B5EF4-FFF2-40B4-BE49-F238E27FC236}">
                  <a16:creationId xmlns:a16="http://schemas.microsoft.com/office/drawing/2014/main" id="{A15F8818-EE0C-4D76-AB47-5F78F72A71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180" y="1410100"/>
              <a:ext cx="4830801" cy="4342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78072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E2DE760-8E6F-4782-981D-4DE8023F4BEF}"/>
              </a:ext>
            </a:extLst>
          </p:cNvPr>
          <p:cNvSpPr/>
          <p:nvPr/>
        </p:nvSpPr>
        <p:spPr>
          <a:xfrm>
            <a:off x="749508" y="556869"/>
            <a:ext cx="10548076" cy="49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13131"/>
                </a:solidFill>
              </a:rPr>
              <a:t>군집분석의 평가 필요성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111848-23F4-47EB-8265-72D9CCB76017}"/>
              </a:ext>
            </a:extLst>
          </p:cNvPr>
          <p:cNvSpPr/>
          <p:nvPr/>
        </p:nvSpPr>
        <p:spPr>
          <a:xfrm>
            <a:off x="876300" y="1251038"/>
            <a:ext cx="6096000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b="0" i="0" dirty="0">
                <a:effectLst/>
              </a:rPr>
              <a:t>군집화</a:t>
            </a:r>
            <a:r>
              <a:rPr lang="en-US" altLang="ko-KR" b="0" i="0" dirty="0">
                <a:effectLst/>
              </a:rPr>
              <a:t>(</a:t>
            </a:r>
            <a:r>
              <a:rPr lang="ko-KR" altLang="en-US" b="0" i="0" dirty="0">
                <a:effectLst/>
              </a:rPr>
              <a:t>클러스터링</a:t>
            </a:r>
            <a:r>
              <a:rPr lang="en-US" altLang="ko-KR" b="0" i="0" dirty="0">
                <a:effectLst/>
              </a:rPr>
              <a:t>) </a:t>
            </a:r>
            <a:r>
              <a:rPr lang="ko-KR" altLang="en-US" b="0" i="0" dirty="0">
                <a:effectLst/>
              </a:rPr>
              <a:t>알고리즘의 성능 비교를 위해서</a:t>
            </a:r>
            <a:endParaRPr lang="en-US" altLang="ko-KR" b="0" i="0" dirty="0">
              <a:effectLst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클러스터 개수를 선정하기 위한 기준이 필요하기 때문</a:t>
            </a:r>
            <a:r>
              <a:rPr lang="en-US" altLang="ko-KR" dirty="0"/>
              <a:t>.</a:t>
            </a:r>
            <a:endParaRPr lang="ko-KR" altLang="en-US" b="0" i="0" dirty="0">
              <a:effectLst/>
            </a:endParaRPr>
          </a:p>
        </p:txBody>
      </p:sp>
      <p:pic>
        <p:nvPicPr>
          <p:cNvPr id="5122" name="Picture 2" descr="https://blog.kakaocdn.net/dn/BaUxH/btrz9ga6y8E/iWPjb9Y1BBmdEfkB5MdkKK/img.png">
            <a:extLst>
              <a:ext uri="{FF2B5EF4-FFF2-40B4-BE49-F238E27FC236}">
                <a16:creationId xmlns:a16="http://schemas.microsoft.com/office/drawing/2014/main" id="{A8E6AD3A-A713-4A70-93CB-BF904950B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374" y="2094992"/>
            <a:ext cx="5155210" cy="32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82559EF-ECA7-4E10-BD50-44249DC1A13B}"/>
              </a:ext>
            </a:extLst>
          </p:cNvPr>
          <p:cNvSpPr/>
          <p:nvPr/>
        </p:nvSpPr>
        <p:spPr>
          <a:xfrm>
            <a:off x="876300" y="2460400"/>
            <a:ext cx="4640330" cy="2630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하나의 클러스터링 알고리즘에는 보통 군집개수를 사전에 정의해야 함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그 개수를 몇 개로 할 것인지 문제가 됨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600" dirty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/>
              <a:t>여러 개 후보를 정하고 각 개수에 대해 결과 평가</a:t>
            </a:r>
            <a:r>
              <a:rPr lang="en-US" altLang="ko-KR" sz="1600" dirty="0"/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/>
              <a:t>평가에 대한 지표 최적화하는 개수 최종 선택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5878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CCE5B92-3F7D-47D0-AF0E-E9F2AE7F0B60}"/>
              </a:ext>
            </a:extLst>
          </p:cNvPr>
          <p:cNvSpPr/>
          <p:nvPr/>
        </p:nvSpPr>
        <p:spPr>
          <a:xfrm>
            <a:off x="749508" y="556869"/>
            <a:ext cx="10548076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13131"/>
                </a:solidFill>
              </a:rPr>
              <a:t>평가지표</a:t>
            </a:r>
            <a:r>
              <a:rPr lang="en-US" altLang="ko-KR" sz="2000" b="1" dirty="0">
                <a:solidFill>
                  <a:srgbClr val="313131"/>
                </a:solidFill>
              </a:rPr>
              <a:t>:</a:t>
            </a:r>
            <a:r>
              <a:rPr lang="ko-KR" altLang="en-US" sz="2000" b="1" dirty="0">
                <a:solidFill>
                  <a:srgbClr val="313131"/>
                </a:solidFill>
              </a:rPr>
              <a:t> </a:t>
            </a:r>
            <a:r>
              <a:rPr lang="ko-KR" altLang="en-US" sz="2000" b="1" dirty="0">
                <a:solidFill>
                  <a:srgbClr val="313131"/>
                </a:solidFill>
                <a:highlight>
                  <a:srgbClr val="FFFF00"/>
                </a:highlight>
              </a:rPr>
              <a:t>군집타당성지표</a:t>
            </a:r>
            <a:r>
              <a:rPr lang="en-US" altLang="ko-KR" sz="2000" b="1" dirty="0">
                <a:solidFill>
                  <a:srgbClr val="313131"/>
                </a:solidFill>
                <a:highlight>
                  <a:srgbClr val="FFFF00"/>
                </a:highlight>
              </a:rPr>
              <a:t>(Clustering Validity Index)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74CE3E-BD6A-4D90-BF9A-52CF010F3A70}"/>
              </a:ext>
            </a:extLst>
          </p:cNvPr>
          <p:cNvSpPr/>
          <p:nvPr/>
        </p:nvSpPr>
        <p:spPr>
          <a:xfrm>
            <a:off x="1162050" y="1510504"/>
            <a:ext cx="10135534" cy="119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군집 간 거리의 최소값</a:t>
            </a:r>
            <a:r>
              <a:rPr lang="en-US" altLang="ko-KR" sz="1600" dirty="0"/>
              <a:t>(</a:t>
            </a:r>
            <a:r>
              <a:rPr lang="ko-KR" altLang="en-US" sz="1600" dirty="0"/>
              <a:t>하단 좌측</a:t>
            </a:r>
            <a:r>
              <a:rPr lang="en-US" altLang="ko-KR" sz="1600" dirty="0"/>
              <a:t>)</a:t>
            </a:r>
            <a:r>
              <a:rPr lang="ko-KR" altLang="en-US" sz="1600" dirty="0"/>
              <a:t>을 분자</a:t>
            </a:r>
            <a:r>
              <a:rPr lang="en-US" altLang="ko-KR" sz="1600" dirty="0"/>
              <a:t>, </a:t>
            </a:r>
            <a:r>
              <a:rPr lang="ko-KR" altLang="en-US" sz="1600" dirty="0"/>
              <a:t>군집 내 요소 간 거리의 최대값</a:t>
            </a:r>
            <a:r>
              <a:rPr lang="en-US" altLang="ko-KR" sz="1600" dirty="0"/>
              <a:t>(</a:t>
            </a:r>
            <a:r>
              <a:rPr lang="ko-KR" altLang="en-US" sz="1600" dirty="0"/>
              <a:t>하단 우측</a:t>
            </a:r>
            <a:r>
              <a:rPr lang="en-US" altLang="ko-KR" sz="1600" dirty="0"/>
              <a:t>)</a:t>
            </a:r>
            <a:r>
              <a:rPr lang="ko-KR" altLang="en-US" sz="1600" dirty="0"/>
              <a:t>을 분모로 하는 지표</a:t>
            </a:r>
            <a:r>
              <a:rPr lang="en-US" altLang="ko-KR" sz="1600" dirty="0"/>
              <a:t>, </a:t>
            </a:r>
            <a:r>
              <a:rPr lang="en-US" altLang="ko-KR" sz="1600" b="0" i="0" dirty="0">
                <a:effectLst/>
                <a:latin typeface="PT Sans"/>
              </a:rPr>
              <a:t>(1) </a:t>
            </a:r>
            <a:r>
              <a:rPr lang="ko-KR" altLang="en-US" sz="1600" b="0" i="0" dirty="0">
                <a:effectLst/>
                <a:latin typeface="PT Sans"/>
              </a:rPr>
              <a:t>군집 간 거리 </a:t>
            </a:r>
            <a:r>
              <a:rPr lang="en-US" altLang="ko-KR" sz="1600" b="0" i="0" dirty="0">
                <a:effectLst/>
                <a:latin typeface="PT Sans"/>
              </a:rPr>
              <a:t>(2) </a:t>
            </a:r>
            <a:r>
              <a:rPr lang="ko-KR" altLang="en-US" sz="1600" b="0" i="0" dirty="0">
                <a:effectLst/>
                <a:latin typeface="PT Sans"/>
              </a:rPr>
              <a:t>군집의 지름 </a:t>
            </a:r>
            <a:r>
              <a:rPr lang="en-US" altLang="ko-KR" sz="1600" b="0" i="0" dirty="0">
                <a:effectLst/>
                <a:latin typeface="PT Sans"/>
              </a:rPr>
              <a:t>(3) </a:t>
            </a:r>
            <a:r>
              <a:rPr lang="ko-KR" altLang="en-US" sz="1600" b="0" i="0" dirty="0">
                <a:effectLst/>
                <a:latin typeface="PT Sans"/>
              </a:rPr>
              <a:t>군집의 분산 등을 고려</a:t>
            </a:r>
            <a:r>
              <a:rPr lang="en-US" altLang="ko-KR" sz="1600" b="0" i="0" dirty="0">
                <a:effectLst/>
                <a:latin typeface="PT Sans"/>
              </a:rPr>
              <a:t>.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군집 간 거리는 멀수록</a:t>
            </a:r>
            <a:r>
              <a:rPr lang="en-US" altLang="ko-KR" sz="1600" dirty="0"/>
              <a:t>, </a:t>
            </a:r>
            <a:r>
              <a:rPr lang="ko-KR" altLang="en-US" sz="1600" dirty="0"/>
              <a:t>군집 내 분산은 작을 수록 좋은 군집화 결과</a:t>
            </a:r>
            <a:endParaRPr lang="ko-KR" altLang="en-US" sz="1600" b="0" i="0" dirty="0">
              <a:effectLst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DDEBA5-2524-45DF-8F2A-5789C1939273}"/>
              </a:ext>
            </a:extLst>
          </p:cNvPr>
          <p:cNvSpPr/>
          <p:nvPr/>
        </p:nvSpPr>
        <p:spPr>
          <a:xfrm>
            <a:off x="1012057" y="1051363"/>
            <a:ext cx="1768433" cy="454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313131"/>
                </a:solidFill>
              </a:rPr>
              <a:t>1) Dunn Index</a:t>
            </a:r>
            <a:endParaRPr lang="ko-KR" altLang="en-US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FAD0671-C624-4166-8154-448187B95F6C}"/>
              </a:ext>
            </a:extLst>
          </p:cNvPr>
          <p:cNvGrpSpPr/>
          <p:nvPr/>
        </p:nvGrpSpPr>
        <p:grpSpPr>
          <a:xfrm>
            <a:off x="1988920" y="3251051"/>
            <a:ext cx="8069251" cy="2966054"/>
            <a:chOff x="1988215" y="3429000"/>
            <a:chExt cx="8069251" cy="2966054"/>
          </a:xfrm>
        </p:grpSpPr>
        <p:pic>
          <p:nvPicPr>
            <p:cNvPr id="9218" name="Picture 2" descr="http://i.imgur.com/dFliYHp.png">
              <a:extLst>
                <a:ext uri="{FF2B5EF4-FFF2-40B4-BE49-F238E27FC236}">
                  <a16:creationId xmlns:a16="http://schemas.microsoft.com/office/drawing/2014/main" id="{30613C58-8F84-42E8-89DA-3279985490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4533" y="3526770"/>
              <a:ext cx="7922933" cy="2868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3F30A8C-2486-405C-A4AC-B2584C92CD39}"/>
                </a:ext>
              </a:extLst>
            </p:cNvPr>
            <p:cNvSpPr/>
            <p:nvPr/>
          </p:nvSpPr>
          <p:spPr>
            <a:xfrm>
              <a:off x="1988215" y="3429000"/>
              <a:ext cx="5309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b="0" i="0" dirty="0">
                  <a:effectLst/>
                  <a:latin typeface="PT Sans"/>
                </a:rPr>
                <a:t>(1) </a:t>
              </a:r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8FB7A05-F5DC-4BDF-A114-F65FA15C09D6}"/>
                </a:ext>
              </a:extLst>
            </p:cNvPr>
            <p:cNvSpPr/>
            <p:nvPr/>
          </p:nvSpPr>
          <p:spPr>
            <a:xfrm>
              <a:off x="4922573" y="3429000"/>
              <a:ext cx="5309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b="0" i="0" dirty="0">
                  <a:effectLst/>
                  <a:latin typeface="PT Sans"/>
                </a:rPr>
                <a:t>(2) </a:t>
              </a:r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0CF3DF9-1F44-43BF-A194-60182ED7E870}"/>
                </a:ext>
              </a:extLst>
            </p:cNvPr>
            <p:cNvSpPr/>
            <p:nvPr/>
          </p:nvSpPr>
          <p:spPr>
            <a:xfrm>
              <a:off x="7326016" y="3429000"/>
              <a:ext cx="5309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b="0" i="0" dirty="0">
                  <a:effectLst/>
                  <a:latin typeface="PT Sans"/>
                </a:rPr>
                <a:t>(3) 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27627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CCE5B92-3F7D-47D0-AF0E-E9F2AE7F0B60}"/>
              </a:ext>
            </a:extLst>
          </p:cNvPr>
          <p:cNvSpPr/>
          <p:nvPr/>
        </p:nvSpPr>
        <p:spPr>
          <a:xfrm>
            <a:off x="749508" y="556869"/>
            <a:ext cx="10548076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13131"/>
                </a:solidFill>
              </a:rPr>
              <a:t>평가지표</a:t>
            </a:r>
            <a:r>
              <a:rPr lang="en-US" altLang="ko-KR" sz="2000" b="1" dirty="0">
                <a:solidFill>
                  <a:srgbClr val="313131"/>
                </a:solidFill>
              </a:rPr>
              <a:t>:</a:t>
            </a:r>
            <a:r>
              <a:rPr lang="ko-KR" altLang="en-US" sz="2000" b="1" dirty="0">
                <a:solidFill>
                  <a:srgbClr val="313131"/>
                </a:solidFill>
              </a:rPr>
              <a:t> </a:t>
            </a:r>
            <a:r>
              <a:rPr lang="ko-KR" altLang="en-US" sz="2000" b="1" dirty="0">
                <a:solidFill>
                  <a:srgbClr val="313131"/>
                </a:solidFill>
                <a:highlight>
                  <a:srgbClr val="FFFF00"/>
                </a:highlight>
              </a:rPr>
              <a:t>군집타당성지표</a:t>
            </a:r>
            <a:r>
              <a:rPr lang="en-US" altLang="ko-KR" sz="2000" b="1" dirty="0">
                <a:solidFill>
                  <a:srgbClr val="313131"/>
                </a:solidFill>
                <a:highlight>
                  <a:srgbClr val="FFFF00"/>
                </a:highlight>
              </a:rPr>
              <a:t>(Clustering Validity Index)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74CE3E-BD6A-4D90-BF9A-52CF010F3A70}"/>
              </a:ext>
            </a:extLst>
          </p:cNvPr>
          <p:cNvSpPr/>
          <p:nvPr/>
        </p:nvSpPr>
        <p:spPr>
          <a:xfrm>
            <a:off x="1039901" y="1888837"/>
            <a:ext cx="5186955" cy="4239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u="sng" dirty="0"/>
              <a:t>각 데이터 포인트</a:t>
            </a:r>
            <a:r>
              <a:rPr lang="ko-KR" altLang="en-US" sz="1600" dirty="0"/>
              <a:t>와 주위 데이터 </a:t>
            </a:r>
            <a:r>
              <a:rPr lang="ko-KR" altLang="en-US" sz="1600" dirty="0" err="1"/>
              <a:t>포인트들과의</a:t>
            </a:r>
            <a:r>
              <a:rPr lang="ko-KR" altLang="en-US" sz="1600" dirty="0"/>
              <a:t> 거리 계산을 통한</a:t>
            </a:r>
            <a:r>
              <a:rPr lang="en-US" altLang="ko-KR" sz="1600" dirty="0"/>
              <a:t> </a:t>
            </a:r>
            <a:r>
              <a:rPr lang="ko-KR" altLang="en-US" sz="1600" dirty="0"/>
              <a:t>값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한 군집의 모든 개체가 한치도 떨어져 있지 않고 붙어있는 경우</a:t>
            </a:r>
            <a:r>
              <a:rPr lang="en-US" altLang="ko-KR" sz="1600" dirty="0"/>
              <a:t>,</a:t>
            </a:r>
            <a:r>
              <a:rPr lang="ko-KR" altLang="en-US" sz="1600" dirty="0"/>
              <a:t>실루엣 지표 </a:t>
            </a:r>
            <a:r>
              <a:rPr lang="en-US" altLang="ko-KR" sz="1600" dirty="0"/>
              <a:t>1.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서로 다른 군집이 전혀 구분되지 않는 경우</a:t>
            </a:r>
            <a:r>
              <a:rPr lang="en-US" altLang="ko-KR" sz="1600" dirty="0"/>
              <a:t>,</a:t>
            </a:r>
            <a:r>
              <a:rPr lang="ko-KR" altLang="en-US" sz="1600" dirty="0"/>
              <a:t> 실루엣 지표는 </a:t>
            </a:r>
            <a:r>
              <a:rPr lang="en-US" altLang="ko-KR" sz="1600" dirty="0"/>
              <a:t>-1.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보통 실루엣 지표가 </a:t>
            </a:r>
            <a:r>
              <a:rPr lang="en-US" altLang="ko-KR" sz="1600" dirty="0"/>
              <a:t>0.5</a:t>
            </a:r>
            <a:r>
              <a:rPr lang="ko-KR" altLang="en-US" sz="1600" dirty="0"/>
              <a:t>보다 크면 군집 결과가 타당한 것으로 평가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* 만일 클러스터 안에 </a:t>
            </a:r>
            <a:r>
              <a:rPr lang="en-US" altLang="ko-KR" sz="1600" dirty="0"/>
              <a:t>1</a:t>
            </a:r>
            <a:r>
              <a:rPr lang="ko-KR" altLang="en-US" sz="1600" dirty="0"/>
              <a:t>개의 데이터 포인트만 존재하는 경우</a:t>
            </a:r>
            <a:r>
              <a:rPr lang="en-US" altLang="ko-KR" sz="1600" dirty="0"/>
              <a:t>, </a:t>
            </a:r>
            <a:r>
              <a:rPr lang="ko-KR" altLang="en-US" sz="1600" dirty="0"/>
              <a:t>해당 데이터 포인트의 실루엣 계수는 </a:t>
            </a:r>
            <a:r>
              <a:rPr lang="en-US" altLang="ko-KR" sz="1600" dirty="0"/>
              <a:t>0</a:t>
            </a:r>
            <a:r>
              <a:rPr lang="ko-KR" altLang="en-US" sz="1600" dirty="0"/>
              <a:t>으로 봄</a:t>
            </a:r>
            <a:r>
              <a:rPr lang="en-US" altLang="ko-KR" sz="1600" dirty="0"/>
              <a:t>.</a:t>
            </a:r>
            <a:endParaRPr lang="ko-KR" altLang="en-US" sz="1600" b="0" i="0" dirty="0">
              <a:effectLst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DDEBA5-2524-45DF-8F2A-5789C1939273}"/>
              </a:ext>
            </a:extLst>
          </p:cNvPr>
          <p:cNvSpPr/>
          <p:nvPr/>
        </p:nvSpPr>
        <p:spPr>
          <a:xfrm>
            <a:off x="1012057" y="1051363"/>
            <a:ext cx="1674433" cy="454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313131"/>
                </a:solidFill>
              </a:rPr>
              <a:t>2) Silhouette </a:t>
            </a:r>
            <a:endParaRPr lang="ko-KR" altLang="en-US" b="1" dirty="0"/>
          </a:p>
        </p:txBody>
      </p:sp>
      <p:pic>
        <p:nvPicPr>
          <p:cNvPr id="10242" name="Picture 2" descr="http://i.imgur.com/VfvGewn.png">
            <a:extLst>
              <a:ext uri="{FF2B5EF4-FFF2-40B4-BE49-F238E27FC236}">
                <a16:creationId xmlns:a16="http://schemas.microsoft.com/office/drawing/2014/main" id="{454276B7-DDD8-4BB0-9290-09EC0588C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091" y="1655682"/>
            <a:ext cx="5186955" cy="354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8C02EBA-2D53-4895-BA9A-C66F0EDE1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490" y="1107136"/>
            <a:ext cx="2573745" cy="72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55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EA051D1-5E54-400D-AECE-B8E659E49933}"/>
              </a:ext>
            </a:extLst>
          </p:cNvPr>
          <p:cNvSpPr/>
          <p:nvPr/>
        </p:nvSpPr>
        <p:spPr>
          <a:xfrm>
            <a:off x="626364" y="248559"/>
            <a:ext cx="10511027" cy="2814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ko-KR" altLang="en-US" b="1" i="0" dirty="0">
                <a:effectLst/>
                <a:latin typeface="+mj-ea"/>
                <a:ea typeface="+mj-ea"/>
              </a:rPr>
              <a:t>좋은 군집화가 되기 위한 기준 조건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effectLst/>
                <a:latin typeface="+mj-ea"/>
                <a:ea typeface="+mj-ea"/>
              </a:rPr>
              <a:t>전체 실루엣 계수의 평균값</a:t>
            </a:r>
            <a:r>
              <a:rPr lang="en-US" altLang="ko-KR" sz="1600" b="0" i="0" dirty="0">
                <a:effectLst/>
                <a:latin typeface="+mj-ea"/>
                <a:ea typeface="+mj-ea"/>
              </a:rPr>
              <a:t>, </a:t>
            </a:r>
            <a:r>
              <a:rPr lang="ko-KR" altLang="en-US" sz="1600" b="0" i="0" dirty="0">
                <a:effectLst/>
                <a:latin typeface="+mj-ea"/>
                <a:ea typeface="+mj-ea"/>
              </a:rPr>
              <a:t>즉 </a:t>
            </a:r>
            <a:r>
              <a:rPr lang="ko-KR" altLang="en-US" sz="1600" b="0" i="0" dirty="0" err="1">
                <a:effectLst/>
                <a:latin typeface="+mj-ea"/>
                <a:ea typeface="+mj-ea"/>
              </a:rPr>
              <a:t>사이킷런의</a:t>
            </a:r>
            <a:r>
              <a:rPr lang="ko-KR" altLang="en-US" sz="1600" b="0" i="0" dirty="0">
                <a:effectLst/>
                <a:latin typeface="+mj-ea"/>
                <a:ea typeface="+mj-ea"/>
              </a:rPr>
              <a:t> </a:t>
            </a:r>
            <a:r>
              <a:rPr lang="en-US" altLang="ko-KR" sz="1600" b="1" i="0" dirty="0" err="1">
                <a:effectLst/>
                <a:highlight>
                  <a:srgbClr val="FFFF00"/>
                </a:highlight>
                <a:latin typeface="+mj-ea"/>
                <a:ea typeface="+mj-ea"/>
              </a:rPr>
              <a:t>silhouette_score</a:t>
            </a:r>
            <a:r>
              <a:rPr lang="en-US" altLang="ko-KR" sz="1600" b="1" i="0" dirty="0">
                <a:effectLst/>
                <a:highlight>
                  <a:srgbClr val="FFFF00"/>
                </a:highlight>
                <a:latin typeface="+mj-ea"/>
                <a:ea typeface="+mj-ea"/>
              </a:rPr>
              <a:t>() </a:t>
            </a:r>
            <a:r>
              <a:rPr lang="ko-KR" altLang="en-US" sz="1600" b="1" i="0" dirty="0">
                <a:effectLst/>
                <a:highlight>
                  <a:srgbClr val="FFFF00"/>
                </a:highlight>
                <a:latin typeface="+mj-ea"/>
                <a:ea typeface="+mj-ea"/>
              </a:rPr>
              <a:t>값은 </a:t>
            </a:r>
            <a:r>
              <a:rPr lang="en-US" altLang="ko-KR" sz="1600" b="1" i="0" dirty="0">
                <a:effectLst/>
                <a:highlight>
                  <a:srgbClr val="FFFF00"/>
                </a:highlight>
                <a:latin typeface="+mj-ea"/>
                <a:ea typeface="+mj-ea"/>
              </a:rPr>
              <a:t>0~1 </a:t>
            </a:r>
            <a:r>
              <a:rPr lang="ko-KR" altLang="en-US" sz="1600" b="1" i="0" dirty="0">
                <a:effectLst/>
                <a:highlight>
                  <a:srgbClr val="FFFF00"/>
                </a:highlight>
                <a:latin typeface="+mj-ea"/>
                <a:ea typeface="+mj-ea"/>
              </a:rPr>
              <a:t>사이의 값</a:t>
            </a:r>
            <a:r>
              <a:rPr lang="ko-KR" altLang="en-US" sz="1600" b="0" i="0" dirty="0">
                <a:effectLst/>
                <a:latin typeface="+mj-ea"/>
                <a:ea typeface="+mj-ea"/>
              </a:rPr>
              <a:t>을 가지며</a:t>
            </a:r>
            <a:r>
              <a:rPr lang="en-US" altLang="ko-KR" sz="1600" b="0" i="0" dirty="0">
                <a:effectLst/>
                <a:latin typeface="+mj-ea"/>
                <a:ea typeface="+mj-ea"/>
              </a:rPr>
              <a:t>, </a:t>
            </a:r>
            <a:r>
              <a:rPr lang="en-US" altLang="ko-KR" sz="1600" b="1" i="0" dirty="0">
                <a:effectLst/>
                <a:latin typeface="+mj-ea"/>
                <a:ea typeface="+mj-ea"/>
              </a:rPr>
              <a:t>1</a:t>
            </a:r>
            <a:r>
              <a:rPr lang="ko-KR" altLang="en-US" sz="1600" b="1" i="0" dirty="0">
                <a:effectLst/>
                <a:latin typeface="+mj-ea"/>
                <a:ea typeface="+mj-ea"/>
              </a:rPr>
              <a:t>에 가까울수록 좋다</a:t>
            </a:r>
            <a:r>
              <a:rPr lang="en-US" altLang="ko-KR" sz="1600" b="1" i="0" dirty="0">
                <a:effectLst/>
                <a:latin typeface="+mj-ea"/>
                <a:ea typeface="+mj-ea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effectLst/>
                <a:latin typeface="+mj-ea"/>
                <a:ea typeface="+mj-ea"/>
              </a:rPr>
              <a:t>하지만 전체 실루엣 계수의 평균값과 더불어 </a:t>
            </a:r>
            <a:r>
              <a:rPr lang="ko-KR" altLang="en-US" sz="1600" b="1" i="0" dirty="0">
                <a:effectLst/>
                <a:latin typeface="+mj-ea"/>
                <a:ea typeface="+mj-ea"/>
              </a:rPr>
              <a:t>개별 군집의 평균값의 편차가 크지 않아야 한다</a:t>
            </a:r>
            <a:r>
              <a:rPr lang="en-US" altLang="ko-KR" sz="1600" b="1" i="0" dirty="0">
                <a:effectLst/>
                <a:latin typeface="+mj-ea"/>
                <a:ea typeface="+mj-ea"/>
              </a:rPr>
              <a:t>. </a:t>
            </a:r>
            <a:r>
              <a:rPr lang="ko-KR" altLang="en-US" sz="1600" b="0" i="0" dirty="0">
                <a:effectLst/>
                <a:latin typeface="+mj-ea"/>
                <a:ea typeface="+mj-ea"/>
              </a:rPr>
              <a:t>즉</a:t>
            </a:r>
            <a:r>
              <a:rPr lang="en-US" altLang="ko-KR" sz="1600" b="0" i="0" dirty="0">
                <a:effectLst/>
                <a:latin typeface="+mj-ea"/>
                <a:ea typeface="+mj-ea"/>
              </a:rPr>
              <a:t>, </a:t>
            </a:r>
            <a:r>
              <a:rPr lang="ko-KR" altLang="en-US" sz="1600" b="0" i="0" dirty="0">
                <a:effectLst/>
                <a:latin typeface="+mj-ea"/>
                <a:ea typeface="+mj-ea"/>
              </a:rPr>
              <a:t>개별 군집의 실루엣 계수 평균값이 전체 실루엣 계수의 평균값에서 크게 벗어나지 않는 것이 중요하다</a:t>
            </a:r>
            <a:r>
              <a:rPr lang="en-US" altLang="ko-KR" sz="1600" b="0" i="0" dirty="0">
                <a:effectLst/>
                <a:latin typeface="+mj-ea"/>
                <a:ea typeface="+mj-ea"/>
              </a:rPr>
              <a:t>. </a:t>
            </a:r>
            <a:r>
              <a:rPr lang="ko-KR" altLang="en-US" sz="1600" b="0" i="0" dirty="0">
                <a:effectLst/>
                <a:latin typeface="+mj-ea"/>
                <a:ea typeface="+mj-ea"/>
              </a:rPr>
              <a:t>만약 전체 실루엣 계수의 평균값은 높지만</a:t>
            </a:r>
            <a:r>
              <a:rPr lang="en-US" altLang="ko-KR" sz="1600" b="0" i="0" dirty="0">
                <a:effectLst/>
                <a:latin typeface="+mj-ea"/>
                <a:ea typeface="+mj-ea"/>
              </a:rPr>
              <a:t>, </a:t>
            </a:r>
            <a:r>
              <a:rPr lang="ko-KR" altLang="en-US" sz="1600" b="0" i="0" dirty="0">
                <a:effectLst/>
                <a:latin typeface="+mj-ea"/>
                <a:ea typeface="+mj-ea"/>
              </a:rPr>
              <a:t>특정 군집의 실루엣 계수 평균값만 유난히 높고 다른 군집들의 실루엣 계수 평균값은 낮으면 좋은 군집화 조건이 아니다</a:t>
            </a:r>
            <a:r>
              <a:rPr lang="en-US" altLang="ko-KR" sz="1600" b="0" i="0" dirty="0">
                <a:effectLst/>
                <a:latin typeface="+mj-ea"/>
                <a:ea typeface="+mj-ea"/>
              </a:rPr>
              <a:t>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DE27F91-6EF3-4967-8611-5B3281822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997" y="2756392"/>
            <a:ext cx="9390006" cy="17007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effectLst/>
                <a:latin typeface="+mj-ea"/>
                <a:ea typeface="+mj-ea"/>
              </a:rPr>
              <a:t>silhouette_samples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()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effectLst/>
                <a:latin typeface="+mj-ea"/>
                <a:ea typeface="+mj-ea"/>
              </a:rPr>
              <a:t>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 사용하면 개별 데이터의 실루엣 계수를 구할 수 있다.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effectLst/>
                <a:latin typeface="+mj-ea"/>
                <a:ea typeface="+mj-ea"/>
              </a:rPr>
              <a:t>silhouette_score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()는 전체 실루엣 계수의 평균으로 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effectLst/>
                <a:latin typeface="+mj-ea"/>
                <a:ea typeface="+mj-ea"/>
              </a:rPr>
              <a:t>silhouette_samples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()의 평균과 같다.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F0BBAE-5796-44CD-85A1-FB5E5EBE7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617" y="4705041"/>
            <a:ext cx="8723376" cy="174467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217455-AA9D-4471-9A39-8B560B2A6538}"/>
              </a:ext>
            </a:extLst>
          </p:cNvPr>
          <p:cNvSpPr/>
          <p:nvPr/>
        </p:nvSpPr>
        <p:spPr>
          <a:xfrm>
            <a:off x="4701106" y="4294208"/>
            <a:ext cx="19623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/>
              <a:t>[ </a:t>
            </a:r>
            <a:r>
              <a:rPr lang="ko-KR" altLang="en-US" sz="1600" dirty="0"/>
              <a:t>실루엣계수 변화 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8104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1DAF569-72B0-4D7A-A6E1-080B8932D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0" y="1598066"/>
            <a:ext cx="7126593" cy="1425318"/>
          </a:xfrm>
          <a:prstGeom prst="rect">
            <a:avLst/>
          </a:prstGeom>
        </p:spPr>
      </p:pic>
      <p:pic>
        <p:nvPicPr>
          <p:cNvPr id="13316" name="Picture 4" descr="https://blog.kakaocdn.net/dn/cbeXCZ/btq8QqqHP2R/Kz4jiezBD4fSFmrzmL5fRK/img.png">
            <a:extLst>
              <a:ext uri="{FF2B5EF4-FFF2-40B4-BE49-F238E27FC236}">
                <a16:creationId xmlns:a16="http://schemas.microsoft.com/office/drawing/2014/main" id="{3CC357DF-4094-435A-AE5B-3E1EB185E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511" y="3543204"/>
            <a:ext cx="4784164" cy="255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37F295D-AC60-45D5-B6DA-0747FFCC5504}"/>
              </a:ext>
            </a:extLst>
          </p:cNvPr>
          <p:cNvSpPr/>
          <p:nvPr/>
        </p:nvSpPr>
        <p:spPr>
          <a:xfrm>
            <a:off x="584454" y="266847"/>
            <a:ext cx="10511027" cy="1528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ko-KR" b="1" i="0" dirty="0">
                <a:effectLst/>
                <a:latin typeface="+mj-ea"/>
                <a:ea typeface="+mj-ea"/>
              </a:rPr>
              <a:t>Silhouette samples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effectLst/>
                <a:latin typeface="+mj-ea"/>
                <a:ea typeface="+mj-ea"/>
              </a:rPr>
              <a:t>평균만으로는 숨겨지는 부분들이 있어서 그 분포를 보다 정확하게 볼 수 있다</a:t>
            </a:r>
            <a:r>
              <a:rPr lang="en-US" altLang="ko-KR" sz="1200" b="0" i="0" dirty="0">
                <a:effectLst/>
                <a:latin typeface="+mj-ea"/>
                <a:ea typeface="+mj-ea"/>
              </a:rPr>
              <a:t>.</a:t>
            </a:r>
            <a:endParaRPr lang="en-US" altLang="ko-KR" sz="1200" dirty="0">
              <a:latin typeface="+mj-ea"/>
              <a:ea typeface="+mj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분포가 </a:t>
            </a:r>
            <a:r>
              <a:rPr lang="ko-KR" altLang="en-US" sz="1400" b="1" dirty="0"/>
              <a:t>중간에 급변하는 구간</a:t>
            </a:r>
            <a:r>
              <a:rPr lang="ko-KR" altLang="en-US" sz="1400" dirty="0"/>
              <a:t>이 생기며</a:t>
            </a:r>
            <a:r>
              <a:rPr lang="en-US" altLang="ko-KR" sz="1400" dirty="0"/>
              <a:t>, </a:t>
            </a:r>
            <a:r>
              <a:rPr lang="ko-KR" altLang="en-US" sz="1400" dirty="0"/>
              <a:t>실루엣 값이 작은 경우가 많은 것을 알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</a:t>
            </a:r>
            <a:r>
              <a:rPr lang="ko-KR" altLang="en-US" sz="1400" b="1" dirty="0"/>
              <a:t>이런 경우에는 </a:t>
            </a:r>
            <a:r>
              <a:rPr lang="en-US" altLang="ko-KR" sz="1400" b="1" dirty="0"/>
              <a:t>cluster</a:t>
            </a:r>
            <a:r>
              <a:rPr lang="ko-KR" altLang="en-US" sz="1400" b="1" dirty="0"/>
              <a:t>의 수가 적합하지 않음</a:t>
            </a:r>
            <a:r>
              <a:rPr lang="ko-KR" altLang="en-US" sz="1400" dirty="0"/>
              <a:t>을 도출해낼 수 있다</a:t>
            </a:r>
            <a:r>
              <a:rPr lang="en-US" altLang="ko-KR" sz="1400" dirty="0"/>
              <a:t>.</a:t>
            </a:r>
            <a:endParaRPr lang="en-US" altLang="ko-KR" sz="1200" b="0" i="0" dirty="0">
              <a:effectLst/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026FE7-0503-4C66-8320-459D36DBFE22}"/>
              </a:ext>
            </a:extLst>
          </p:cNvPr>
          <p:cNvSpPr/>
          <p:nvPr/>
        </p:nvSpPr>
        <p:spPr>
          <a:xfrm>
            <a:off x="837818" y="3493655"/>
            <a:ext cx="1000429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</a:rPr>
              <a:t>from </a:t>
            </a:r>
            <a:r>
              <a:rPr lang="en-US" altLang="ko-KR" sz="1600" dirty="0" err="1"/>
              <a:t>sklearn.cluster</a:t>
            </a:r>
            <a:r>
              <a:rPr lang="en-US" altLang="ko-KR" sz="1600" dirty="0"/>
              <a:t> </a:t>
            </a:r>
            <a:r>
              <a:rPr lang="en-US" altLang="ko-KR" sz="1600" dirty="0">
                <a:solidFill>
                  <a:srgbClr val="0000FF"/>
                </a:solidFill>
              </a:rPr>
              <a:t>import </a:t>
            </a:r>
            <a:r>
              <a:rPr lang="en-US" altLang="ko-KR" sz="1600" dirty="0" err="1"/>
              <a:t>KMeans</a:t>
            </a:r>
            <a:endParaRPr lang="en-US" altLang="ko-KR" sz="1600" b="0" i="0" dirty="0">
              <a:effectLst/>
            </a:endParaRPr>
          </a:p>
          <a:p>
            <a:r>
              <a:rPr lang="en-US" altLang="ko-KR" sz="1600" b="0" i="0" dirty="0">
                <a:solidFill>
                  <a:srgbClr val="0000FF"/>
                </a:solidFill>
                <a:effectLst/>
              </a:rPr>
              <a:t>from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</a:rPr>
              <a:t>yellowbrick.cluster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US" altLang="ko-KR" sz="1600" b="0" i="0" dirty="0">
                <a:solidFill>
                  <a:srgbClr val="0000FF"/>
                </a:solidFill>
                <a:effectLst/>
              </a:rPr>
              <a:t>import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</a:rPr>
              <a:t>SilhouetteVisualizer</a:t>
            </a:r>
            <a:endParaRPr lang="ko-KR" altLang="en-US" sz="16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3BC819-4FE8-472C-882D-7E0955C651E5}"/>
              </a:ext>
            </a:extLst>
          </p:cNvPr>
          <p:cNvSpPr/>
          <p:nvPr/>
        </p:nvSpPr>
        <p:spPr>
          <a:xfrm>
            <a:off x="584454" y="2724399"/>
            <a:ext cx="3637534" cy="5581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latin typeface="+mj-ea"/>
              </a:rPr>
              <a:t>실루엣계수 시각화 라이브러리</a:t>
            </a:r>
            <a:endParaRPr lang="en-US" altLang="ko-KR" b="1" dirty="0">
              <a:latin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5389AFF-74E7-476C-94AA-2AFFA33B6DD3}"/>
              </a:ext>
            </a:extLst>
          </p:cNvPr>
          <p:cNvSpPr/>
          <p:nvPr/>
        </p:nvSpPr>
        <p:spPr>
          <a:xfrm>
            <a:off x="837818" y="4212070"/>
            <a:ext cx="73403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solidFill>
                  <a:srgbClr val="008000"/>
                </a:solidFill>
                <a:effectLst/>
              </a:rPr>
              <a:t>#</a:t>
            </a:r>
            <a:r>
              <a:rPr lang="ko-KR" altLang="en-US" sz="1600" b="0" i="0" dirty="0">
                <a:solidFill>
                  <a:srgbClr val="008000"/>
                </a:solidFill>
                <a:effectLst/>
              </a:rPr>
              <a:t>클러스터링 모델 생성</a:t>
            </a:r>
            <a:r>
              <a:rPr lang="ko-KR" altLang="en-US" sz="1600" b="0" i="0" dirty="0">
                <a:solidFill>
                  <a:srgbClr val="000000"/>
                </a:solidFill>
                <a:effectLst/>
              </a:rPr>
              <a:t> </a:t>
            </a:r>
            <a:endParaRPr lang="en-US" altLang="ko-KR" sz="1600" b="0" i="0" dirty="0">
              <a:solidFill>
                <a:srgbClr val="000000"/>
              </a:solidFill>
              <a:effectLst/>
            </a:endParaRPr>
          </a:p>
          <a:p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kmeans_2 = 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</a:rPr>
              <a:t>KMeans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(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</a:rPr>
              <a:t>n_clusters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=2, 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</a:rPr>
              <a:t>random_state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=111,init=</a:t>
            </a:r>
            <a:r>
              <a:rPr lang="en-US" altLang="ko-KR" sz="1600" b="0" i="0" dirty="0">
                <a:solidFill>
                  <a:srgbClr val="A31515"/>
                </a:solidFill>
                <a:effectLst/>
              </a:rPr>
              <a:t>'random’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) </a:t>
            </a:r>
            <a:r>
              <a:rPr lang="en-US" altLang="ko-KR" sz="1600" b="0" i="0" dirty="0">
                <a:solidFill>
                  <a:srgbClr val="008000"/>
                </a:solidFill>
                <a:effectLst/>
              </a:rPr>
              <a:t>#visualizer </a:t>
            </a:r>
            <a:r>
              <a:rPr lang="ko-KR" altLang="en-US" sz="1600" b="0" i="0" dirty="0">
                <a:solidFill>
                  <a:srgbClr val="008000"/>
                </a:solidFill>
                <a:effectLst/>
              </a:rPr>
              <a:t>생성</a:t>
            </a:r>
            <a:endParaRPr lang="en-US" altLang="ko-KR" sz="1600" b="0" i="0" dirty="0">
              <a:solidFill>
                <a:srgbClr val="000000"/>
              </a:solidFill>
              <a:effectLst/>
            </a:endParaRPr>
          </a:p>
          <a:p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visualizer_2 = 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</a:rPr>
              <a:t>SilhouetteVisualizer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(kmeans_2, colors=</a:t>
            </a:r>
            <a:r>
              <a:rPr lang="en-US" altLang="ko-KR" sz="1600" b="0" i="0" dirty="0">
                <a:solidFill>
                  <a:srgbClr val="A31515"/>
                </a:solidFill>
                <a:effectLst/>
              </a:rPr>
              <a:t>'</a:t>
            </a:r>
            <a:r>
              <a:rPr lang="en-US" altLang="ko-KR" sz="1600" b="0" i="0" dirty="0" err="1">
                <a:solidFill>
                  <a:srgbClr val="A31515"/>
                </a:solidFill>
                <a:effectLst/>
              </a:rPr>
              <a:t>yellowbrick</a:t>
            </a:r>
            <a:r>
              <a:rPr lang="en-US" altLang="ko-KR" sz="1600" b="0" i="0" dirty="0">
                <a:solidFill>
                  <a:srgbClr val="A31515"/>
                </a:solidFill>
                <a:effectLst/>
              </a:rPr>
              <a:t>’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)</a:t>
            </a:r>
          </a:p>
          <a:p>
            <a:r>
              <a:rPr lang="en-US" altLang="ko-KR" sz="1600" b="0" i="0" dirty="0">
                <a:solidFill>
                  <a:srgbClr val="008000"/>
                </a:solidFill>
                <a:effectLst/>
              </a:rPr>
              <a:t>#</a:t>
            </a:r>
            <a:r>
              <a:rPr lang="ko-KR" altLang="en-US" sz="1600" b="0" i="0" dirty="0">
                <a:solidFill>
                  <a:srgbClr val="008000"/>
                </a:solidFill>
                <a:effectLst/>
              </a:rPr>
              <a:t>생성된 </a:t>
            </a:r>
            <a:r>
              <a:rPr lang="en-US" altLang="ko-KR" sz="1600" b="0" i="0" dirty="0">
                <a:solidFill>
                  <a:srgbClr val="008000"/>
                </a:solidFill>
                <a:effectLst/>
              </a:rPr>
              <a:t>visualizer</a:t>
            </a:r>
            <a:r>
              <a:rPr lang="ko-KR" altLang="en-US" sz="1600" b="0" i="0" dirty="0">
                <a:solidFill>
                  <a:srgbClr val="008000"/>
                </a:solidFill>
                <a:effectLst/>
              </a:rPr>
              <a:t>에 데이터 입력 </a:t>
            </a:r>
            <a:endParaRPr lang="en-US" altLang="ko-KR" sz="1600" b="0" i="0" dirty="0">
              <a:solidFill>
                <a:srgbClr val="008000"/>
              </a:solidFill>
              <a:effectLst/>
            </a:endParaRPr>
          </a:p>
          <a:p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visualizer_2.fit(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</a:rPr>
              <a:t>scaled_df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) visualizer_2.show()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3829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0085047-5FDC-4FCF-A554-0350846385D2}"/>
              </a:ext>
            </a:extLst>
          </p:cNvPr>
          <p:cNvGrpSpPr/>
          <p:nvPr/>
        </p:nvGrpSpPr>
        <p:grpSpPr>
          <a:xfrm>
            <a:off x="1080654" y="334619"/>
            <a:ext cx="10030691" cy="6188761"/>
            <a:chOff x="1157065" y="164469"/>
            <a:chExt cx="10030691" cy="618876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99CA8E9-1DDA-4B23-8B08-B9CE5B5618B3}"/>
                </a:ext>
              </a:extLst>
            </p:cNvPr>
            <p:cNvSpPr/>
            <p:nvPr/>
          </p:nvSpPr>
          <p:spPr>
            <a:xfrm>
              <a:off x="1157065" y="164469"/>
              <a:ext cx="10030691" cy="36978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sz="1600" b="1" i="0" dirty="0">
                  <a:effectLst/>
                </a:rPr>
                <a:t>실루엣 분석의 장점</a:t>
              </a:r>
              <a:r>
                <a:rPr lang="ko-KR" altLang="en-US" sz="1600" b="0" i="0" dirty="0">
                  <a:effectLst/>
                </a:rPr>
                <a:t> 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b="0" i="0" dirty="0">
                  <a:effectLst/>
                </a:rPr>
                <a:t>클러스터링이 수행된 후 실제 구분된 클러스터에 따라 실루엣 계수를 구하기 때문에</a:t>
              </a:r>
              <a:r>
                <a:rPr lang="en-US" altLang="ko-KR" sz="1400" b="0" i="0" dirty="0">
                  <a:effectLst/>
                </a:rPr>
                <a:t>, </a:t>
              </a:r>
              <a:r>
                <a:rPr lang="ko-KR" altLang="en-US" sz="1400" b="0" i="0" dirty="0">
                  <a:effectLst/>
                </a:rPr>
                <a:t>클러스터링 알고리즘에 영향을 받지 않는다</a:t>
              </a:r>
              <a:r>
                <a:rPr lang="en-US" altLang="ko-KR" sz="1400" b="0" i="0" dirty="0">
                  <a:effectLst/>
                </a:rPr>
                <a:t>. 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b="0" i="0" dirty="0">
                  <a:effectLst/>
                </a:rPr>
                <a:t>적절한 클러스터 개수를 정하거나 더 나은 클러스터링 기법을 선택하는 기준으로 삼을 수 있다</a:t>
              </a:r>
              <a:r>
                <a:rPr lang="en-US" altLang="ko-KR" sz="1400" b="0" i="0" dirty="0">
                  <a:effectLst/>
                </a:rPr>
                <a:t>. 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b="0" i="0" dirty="0">
                  <a:effectLst/>
                </a:rPr>
                <a:t>클러스터링 결과 값을 시각화 할 수 있다</a:t>
              </a:r>
              <a:r>
                <a:rPr lang="en-US" altLang="ko-KR" sz="1400" b="0" i="0" dirty="0">
                  <a:effectLst/>
                </a:rPr>
                <a:t>. </a:t>
              </a:r>
              <a:endParaRPr lang="en-US" altLang="ko-KR" sz="1600" b="0" i="0" dirty="0">
                <a:effectLst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sz="1600" b="1" i="0" dirty="0">
                  <a:effectLst/>
                </a:rPr>
                <a:t>실루엣 분석의 단점</a:t>
              </a:r>
              <a:endParaRPr lang="ko-KR" altLang="en-US" sz="1600" b="0" i="0" dirty="0">
                <a:effectLst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b="0" i="0" dirty="0">
                  <a:effectLst/>
                </a:rPr>
                <a:t>데이터 양이 많아질수록 수행 시간이 오래 걸린다</a:t>
              </a:r>
              <a:r>
                <a:rPr lang="en-US" altLang="ko-KR" sz="1400" b="0" i="0" dirty="0">
                  <a:effectLst/>
                </a:rPr>
                <a:t>.</a:t>
              </a:r>
              <a:br>
                <a:rPr lang="en-US" altLang="ko-KR" sz="1400" b="0" i="0" dirty="0">
                  <a:effectLst/>
                </a:rPr>
              </a:br>
              <a:r>
                <a:rPr lang="ko-KR" altLang="en-US" sz="1400" b="0" i="0" dirty="0">
                  <a:effectLst/>
                </a:rPr>
                <a:t>*만일 </a:t>
              </a:r>
              <a:r>
                <a:rPr lang="en-US" altLang="ko-KR" sz="1400" b="0" i="0" dirty="0">
                  <a:effectLst/>
                </a:rPr>
                <a:t>100</a:t>
              </a:r>
              <a:r>
                <a:rPr lang="ko-KR" altLang="en-US" sz="1400" b="0" i="0" dirty="0">
                  <a:effectLst/>
                </a:rPr>
                <a:t>개의 데이터 포인트가 있다면 </a:t>
              </a:r>
              <a:r>
                <a:rPr lang="en-US" altLang="ko-KR" sz="1400" b="0" i="0" dirty="0">
                  <a:effectLst/>
                </a:rPr>
                <a:t>99</a:t>
              </a:r>
              <a:r>
                <a:rPr lang="ko-KR" altLang="en-US" sz="1400" b="0" i="0" dirty="0">
                  <a:effectLst/>
                </a:rPr>
                <a:t>개의 다른 데이터 포인트들과 거리를 구해 실루엣 계수를 구해야 하고</a:t>
              </a:r>
              <a:r>
                <a:rPr lang="en-US" altLang="ko-KR" sz="1400" b="0" i="0" dirty="0">
                  <a:effectLst/>
                </a:rPr>
                <a:t>, </a:t>
              </a:r>
              <a:r>
                <a:rPr lang="ko-KR" altLang="en-US" sz="1400" b="0" i="0" dirty="0">
                  <a:effectLst/>
                </a:rPr>
                <a:t>이런 동일한 연산을 </a:t>
              </a:r>
              <a:r>
                <a:rPr lang="en-US" altLang="ko-KR" sz="1400" b="0" i="0" dirty="0">
                  <a:effectLst/>
                </a:rPr>
                <a:t>100</a:t>
              </a:r>
              <a:r>
                <a:rPr lang="ko-KR" altLang="en-US" sz="1400" b="0" i="0" dirty="0">
                  <a:effectLst/>
                </a:rPr>
                <a:t>번 수행해야 한다</a:t>
              </a:r>
              <a:r>
                <a:rPr lang="en-US" altLang="ko-KR" sz="1400" b="0" i="0" dirty="0">
                  <a:effectLst/>
                </a:rPr>
                <a:t>.</a:t>
              </a:r>
              <a:endParaRPr lang="ko-KR" altLang="en-US" sz="1400" b="0" i="0" dirty="0">
                <a:effectLst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b="0" i="0" dirty="0">
                  <a:effectLst/>
                </a:rPr>
                <a:t>전체 데이터 포인트의 실루엣 계수 평균값만으로 클러스터링 결과를 판단할 수 없으며 개별 클러스터의 평균값도 함께 고려해야 한다</a:t>
              </a:r>
              <a:r>
                <a:rPr lang="en-US" altLang="ko-KR" sz="1400" b="0" i="0" dirty="0">
                  <a:effectLst/>
                </a:rPr>
                <a:t>.</a:t>
              </a:r>
            </a:p>
          </p:txBody>
        </p:sp>
        <p:pic>
          <p:nvPicPr>
            <p:cNvPr id="5" name="Picture 2" descr="https://velog.velcdn.com/images%2Fsset2323%2Fpost%2F3db5d556-7e51-45ed-b92a-8a267d510aba%2Fimage.png">
              <a:extLst>
                <a:ext uri="{FF2B5EF4-FFF2-40B4-BE49-F238E27FC236}">
                  <a16:creationId xmlns:a16="http://schemas.microsoft.com/office/drawing/2014/main" id="{2DDBB70C-02CB-41EA-B5B6-59D2B244A1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3763" y="4353295"/>
              <a:ext cx="6197601" cy="19999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B81DBE7-E870-4A53-B8A1-23B74A195BAF}"/>
                </a:ext>
              </a:extLst>
            </p:cNvPr>
            <p:cNvSpPr/>
            <p:nvPr/>
          </p:nvSpPr>
          <p:spPr>
            <a:xfrm>
              <a:off x="3129029" y="3953929"/>
              <a:ext cx="300274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/>
                <a:t>[ </a:t>
              </a:r>
              <a:r>
                <a:rPr lang="ko-KR" altLang="en-US" sz="1400" dirty="0"/>
                <a:t>클러스터링 결과 값 시각화 예시 </a:t>
              </a:r>
              <a:r>
                <a:rPr lang="en-US" altLang="ko-KR" sz="1400" dirty="0"/>
                <a:t>]</a:t>
              </a:r>
              <a:endParaRPr lang="ko-KR" altLang="en-US" sz="1400" dirty="0"/>
            </a:p>
          </p:txBody>
        </p:sp>
      </p:grpSp>
      <p:pic>
        <p:nvPicPr>
          <p:cNvPr id="12290" name="Picture 2" descr="https://blog.kakaocdn.net/dn/o3WTw/btrAWz7GxOG/FiQsNPeRbf7Gy2YUfh9p31/img.png">
            <a:extLst>
              <a:ext uri="{FF2B5EF4-FFF2-40B4-BE49-F238E27FC236}">
                <a16:creationId xmlns:a16="http://schemas.microsoft.com/office/drawing/2014/main" id="{E63C4FF0-A0CF-4C6E-AB17-EDB518A6E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081" y="3906983"/>
            <a:ext cx="4178796" cy="273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691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993</Words>
  <Application>Microsoft Office PowerPoint</Application>
  <PresentationFormat>와이드스크린</PresentationFormat>
  <Paragraphs>98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AppleSDGothicNeo</vt:lpstr>
      <vt:lpstr>PT Sans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85</cp:revision>
  <dcterms:created xsi:type="dcterms:W3CDTF">2022-11-18T12:00:47Z</dcterms:created>
  <dcterms:modified xsi:type="dcterms:W3CDTF">2022-11-18T13:38:24Z</dcterms:modified>
</cp:coreProperties>
</file>