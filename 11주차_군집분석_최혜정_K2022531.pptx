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2" autoAdjust="0"/>
    <p:restoredTop sz="94660"/>
  </p:normalViewPr>
  <p:slideViewPr>
    <p:cSldViewPr snapToGrid="0">
      <p:cViewPr varScale="1">
        <p:scale>
          <a:sx n="42" d="100"/>
          <a:sy n="42" d="100"/>
        </p:scale>
        <p:origin x="62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48BA0-F678-4532-9946-0E342DDDA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B96ACE-49E7-4BB9-AED7-BC071640A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C33F6A-3214-47CD-A2FB-63CAEDA8F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9917E5-04AF-42F9-B934-C530470E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D613B-7ABC-428F-8272-C8337F26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58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D8B6B-0DA1-4407-914A-BBE8B87B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2C9546-8F25-4AC6-8F97-9A34853AC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BE5DEC-9428-4972-8CA5-31F4D685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E2A318-EDF4-4E38-874A-A59B5AF0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4A7636-0ABB-48FA-81F8-E735844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46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20910-BE7C-441E-B1BC-7CDA224A5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AF7921-CA0E-4312-8E4C-BE1657182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F27FE3-6CC2-4967-A409-E7AF1EFC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22E008-19EA-4C5C-87C2-AF32AE58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0462C8-960F-4BE7-A99C-90599589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89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ADB38-B44C-4838-8965-BFB212B0A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6AC78-7602-4B6E-B442-8539639B5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12DB84-1EB5-42C1-BA06-21D29AEC3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05DDBC-D4AE-4372-BD67-84D21294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0E858B-ADDD-4539-B61A-11FD2056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A7CBC-C1B6-4C46-9435-9357E56B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12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C4F0A-1F33-4E6C-97B7-7BC2E633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590324-1660-4C71-80F3-9189BA3D5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B236FE-0D6B-49F2-970C-AFFC6C196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3291AC-217B-46A7-A74E-52AF79CBD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CC6AF1-A7BE-4CBA-BD94-380E349C0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EDFD99-EC87-42C2-AE63-681AEFD3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D839A9-21D4-49F6-9B67-6BA03AE7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DFD367-DEF9-4CE9-9BC9-5EACAD79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83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5281A-B837-4E78-9979-A2B2F0F1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1CAAE-3866-40B7-8CB8-3A777C9AE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A75BD7-E229-46B7-B9B8-D21A4F71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E40B33-94E3-4D18-8DC1-171B0EDB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10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D9224C-7078-4BCE-9798-393CEC466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AE4FBC-371B-4D8E-97DF-50B27AB1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AE4CA0-EF76-4E14-9D92-CD82E90D3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66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64072-9A96-4658-A1CD-D31CFA8B8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F8D152-9A49-47F4-954B-1CD494FC0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BEBABA-500C-4DC0-A4CA-7A5EE0024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C04452-7F46-45AD-9182-49AF88FD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EB63F7-AE1A-45F7-8098-39B0CA94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140BF4-8CE2-43A5-87AD-DC6748E6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608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1EEA37-3915-45E7-BCDB-81793D3CC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E934A4-770B-4FC5-ACD1-75BF6EBA5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2514FF-FA85-4E33-B5B9-760A56B19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17EAA7-6E6F-48E7-959E-9570B13BF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3FF8E1-2136-4405-8546-B7CB8C14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9D2A38-18C6-4438-9EB3-773E202C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77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DCEFB-8B4D-4F0C-8753-3A700BE8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5C7794-76F8-4AF2-9665-EE8A9A600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EA2ADF-0643-49F7-A83A-15ACEBC6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91E4D2-D326-4F17-B489-6B37589F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0B5201-94D7-4D7B-9AD8-27795DD3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64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D39A9D-479E-4189-8980-C89FDCE65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43A8CB-0D68-4C4E-B76D-F64D80A58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A2C556-4DA3-4AD9-AF8A-95BF9049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8EC97-DDCC-4C94-81BF-F58FCF85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9FA8C8-E236-4753-A42E-F0668E04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13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8CC39A-3F21-4BFC-9B44-9C2A3849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F52125-93AB-4767-9AE6-D99B9321F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755C5-4185-48C6-AF00-E8C90B1AE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A4CBE-7572-4A80-9A34-A0030A3F411C}" type="datetimeFigureOut">
              <a:rPr lang="ko-KR" altLang="en-US" smtClean="0"/>
              <a:t>2022-11-25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C491BC-BD62-48DF-9A55-8FE1B90AA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1B4DA9-BFB1-4A4C-B99C-707C1C66C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7E8E1-2624-4922-AE42-053E0D611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04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ACAF6A-BD5C-4911-BD20-5809F31C9F22}"/>
              </a:ext>
            </a:extLst>
          </p:cNvPr>
          <p:cNvCxnSpPr>
            <a:cxnSpLocks/>
          </p:cNvCxnSpPr>
          <p:nvPr/>
        </p:nvCxnSpPr>
        <p:spPr>
          <a:xfrm>
            <a:off x="614597" y="479685"/>
            <a:ext cx="0" cy="5543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B0CBB64-5496-46C1-8AEB-BEC2564446A1}"/>
              </a:ext>
            </a:extLst>
          </p:cNvPr>
          <p:cNvSpPr txBox="1"/>
          <p:nvPr/>
        </p:nvSpPr>
        <p:spPr>
          <a:xfrm>
            <a:off x="749508" y="525772"/>
            <a:ext cx="263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군집 분석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5EA328-1CFA-43E2-BE20-34C4B979EF8E}"/>
              </a:ext>
            </a:extLst>
          </p:cNvPr>
          <p:cNvSpPr/>
          <p:nvPr/>
        </p:nvSpPr>
        <p:spPr>
          <a:xfrm>
            <a:off x="2463382" y="664271"/>
            <a:ext cx="92289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군집의 유형을 나누어 정의하고 특징을 요약하여 활용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6A501C-6273-4AF1-BC89-1E7C1CF91BE0}"/>
              </a:ext>
            </a:extLst>
          </p:cNvPr>
          <p:cNvSpPr/>
          <p:nvPr/>
        </p:nvSpPr>
        <p:spPr>
          <a:xfrm>
            <a:off x="749508" y="1266076"/>
            <a:ext cx="8504419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b="0" i="0" dirty="0">
                <a:effectLst/>
              </a:rPr>
              <a:t>대부분 군집화 </a:t>
            </a:r>
            <a:r>
              <a:rPr lang="en-US" altLang="ko-KR" sz="1600" b="0" i="0" dirty="0">
                <a:effectLst/>
              </a:rPr>
              <a:t>k-means </a:t>
            </a:r>
            <a:r>
              <a:rPr lang="ko-KR" altLang="en-US" sz="1600" b="0" i="0" dirty="0">
                <a:effectLst/>
              </a:rPr>
              <a:t>이용</a:t>
            </a:r>
            <a:endParaRPr lang="en-US" altLang="ko-KR" sz="1600" b="0" i="0" dirty="0">
              <a:effectLst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원본 데이터 먼저 분석 후 </a:t>
            </a:r>
            <a:r>
              <a:rPr lang="ko-KR" altLang="en-US" sz="1600" dirty="0" err="1"/>
              <a:t>전처리</a:t>
            </a:r>
            <a:r>
              <a:rPr lang="en-US" altLang="ko-KR" sz="1600" dirty="0"/>
              <a:t>, </a:t>
            </a:r>
            <a:r>
              <a:rPr lang="ko-KR" altLang="en-US" sz="1600" dirty="0"/>
              <a:t>정제 후 분석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군집화 설명을 위해서는 도메인이 중요함</a:t>
            </a:r>
            <a:r>
              <a:rPr lang="en-US" altLang="ko-KR" sz="1600" dirty="0"/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39BCC8-50E3-49CE-B0AB-596771860433}"/>
              </a:ext>
            </a:extLst>
          </p:cNvPr>
          <p:cNvSpPr/>
          <p:nvPr/>
        </p:nvSpPr>
        <p:spPr>
          <a:xfrm>
            <a:off x="749508" y="2797329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1" dirty="0"/>
              <a:t>K-means</a:t>
            </a:r>
            <a:endParaRPr lang="ko-KR" altLang="en-US" sz="20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3BEDC4-6F8C-458B-9EB2-5D371845B459}"/>
              </a:ext>
            </a:extLst>
          </p:cNvPr>
          <p:cNvSpPr/>
          <p:nvPr/>
        </p:nvSpPr>
        <p:spPr>
          <a:xfrm>
            <a:off x="749509" y="3322601"/>
            <a:ext cx="8979108" cy="3368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K </a:t>
            </a:r>
            <a:r>
              <a:rPr lang="ko-KR" altLang="en-US" sz="1600" dirty="0" err="1"/>
              <a:t>결정되어있는</a:t>
            </a:r>
            <a:r>
              <a:rPr lang="ko-KR" altLang="en-US" sz="1600" dirty="0"/>
              <a:t> 상황에서 주로 쓰고</a:t>
            </a:r>
            <a:r>
              <a:rPr lang="en-US" altLang="ko-KR" sz="1600" dirty="0"/>
              <a:t>, K</a:t>
            </a:r>
            <a:r>
              <a:rPr lang="ko-KR" altLang="en-US" sz="1600" dirty="0"/>
              <a:t>가 결정되지 않았을 때도 </a:t>
            </a:r>
            <a:r>
              <a:rPr lang="en-US" altLang="ko-KR" sz="1600" dirty="0"/>
              <a:t>2~20</a:t>
            </a:r>
            <a:r>
              <a:rPr lang="ko-KR" altLang="en-US" sz="1600" dirty="0"/>
              <a:t>개 정도 군집화해서 탐색 후 좋은 </a:t>
            </a:r>
            <a:r>
              <a:rPr lang="ko-KR" altLang="en-US" sz="1600" dirty="0" err="1"/>
              <a:t>군집수</a:t>
            </a:r>
            <a:r>
              <a:rPr lang="ko-KR" altLang="en-US" sz="1600" dirty="0"/>
              <a:t> 선택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Step 1: </a:t>
            </a:r>
            <a:r>
              <a:rPr lang="ko-KR" altLang="en-US" sz="1600" dirty="0"/>
              <a:t>군집화의 기준이 되는 중심을 구성하려는 군집 개수만큼 정함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Step 2: </a:t>
            </a:r>
            <a:r>
              <a:rPr lang="ko-KR" altLang="en-US" sz="1600" dirty="0"/>
              <a:t>각 데이터는 가장 가까운 곳에 위치한 중심점에 속함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Step 3: </a:t>
            </a:r>
            <a:r>
              <a:rPr lang="ko-KR" altLang="en-US" sz="1600" dirty="0"/>
              <a:t>소속이 결정되면 군집 중심점을 소속된 데이터의 평균 중심으로 이동함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Step 4: </a:t>
            </a:r>
            <a:r>
              <a:rPr lang="ko-KR" altLang="en-US" sz="1600" dirty="0"/>
              <a:t>기존에 속한 중심점보다 더 가까운 중심점이 있다면 해당 중심점으로 다시 소속 변경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Step 5: </a:t>
            </a:r>
            <a:r>
              <a:rPr lang="ko-KR" altLang="en-US" sz="1600" dirty="0"/>
              <a:t>다시 중심을 소속된 데이터의 평균 중심으로 이동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Step 6: </a:t>
            </a:r>
            <a:r>
              <a:rPr lang="ko-KR" altLang="en-US" sz="1600" dirty="0"/>
              <a:t>위 프로세스를 반복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데이터의 중심점 변경이 없으면 반복 중단 및 군집화 종료</a:t>
            </a:r>
          </a:p>
          <a:p>
            <a:pPr>
              <a:lnSpc>
                <a:spcPct val="150000"/>
              </a:lnSpc>
            </a:pP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79607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6A53B21-598E-495F-BCD4-21437AD518FC}"/>
              </a:ext>
            </a:extLst>
          </p:cNvPr>
          <p:cNvSpPr/>
          <p:nvPr/>
        </p:nvSpPr>
        <p:spPr>
          <a:xfrm>
            <a:off x="822660" y="1265942"/>
            <a:ext cx="8979108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일반적인 군집화에서 가장 많이 활용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알고리즘이 쉽고 간결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858F81-B1A0-4860-B95A-0656311F2B75}"/>
              </a:ext>
            </a:extLst>
          </p:cNvPr>
          <p:cNvSpPr/>
          <p:nvPr/>
        </p:nvSpPr>
        <p:spPr>
          <a:xfrm>
            <a:off x="822660" y="3429000"/>
            <a:ext cx="8979108" cy="1891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거리 기반 알고리즘이기 때문에 속성의 개수가 매우 많을 경우 군집화 정확도가 감소</a:t>
            </a:r>
            <a:r>
              <a:rPr lang="en-US" altLang="ko-KR" sz="1600" dirty="0"/>
              <a:t>(PCA </a:t>
            </a:r>
            <a:r>
              <a:rPr lang="ko-KR" altLang="en-US" sz="1600" dirty="0"/>
              <a:t>차원 축소가 필요할 수 있음 </a:t>
            </a:r>
            <a:r>
              <a:rPr lang="en-US" altLang="ko-KR" sz="1600" dirty="0"/>
              <a:t>- </a:t>
            </a:r>
            <a:r>
              <a:rPr lang="ko-KR" altLang="en-US" sz="1600" dirty="0"/>
              <a:t>축소된 컬럼의 의미를 알기는 어려움</a:t>
            </a:r>
            <a:r>
              <a:rPr lang="en-US" altLang="ko-KR" sz="1600" dirty="0"/>
              <a:t>, </a:t>
            </a:r>
            <a:r>
              <a:rPr lang="ko-KR" altLang="en-US" sz="1600" dirty="0"/>
              <a:t>하지만 데이터 분포 확인할 때 </a:t>
            </a:r>
            <a:r>
              <a:rPr lang="ko-KR" altLang="en-US" sz="1600" dirty="0" err="1"/>
              <a:t>주로많이</a:t>
            </a:r>
            <a:r>
              <a:rPr lang="ko-KR" altLang="en-US" sz="1600" dirty="0"/>
              <a:t> 이용함</a:t>
            </a:r>
            <a:r>
              <a:rPr lang="en-US" altLang="ko-KR" sz="1600" dirty="0"/>
              <a:t>. 2</a:t>
            </a:r>
            <a:r>
              <a:rPr lang="ko-KR" altLang="en-US" sz="1600" dirty="0"/>
              <a:t>차원으로 축소하여 알고리즘선택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반복 수행 횟수가 많아지면 수행 시간이 증가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몇 개의 군집을 </a:t>
            </a:r>
            <a:r>
              <a:rPr lang="ko-KR" altLang="en-US" sz="1600" dirty="0" err="1"/>
              <a:t>선택해야할지</a:t>
            </a:r>
            <a:r>
              <a:rPr lang="ko-KR" altLang="en-US" sz="1600" dirty="0"/>
              <a:t> 가이드가 어려움 *가장 큰 단점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67CF7A-8383-485C-8F60-0C36B354D9F4}"/>
              </a:ext>
            </a:extLst>
          </p:cNvPr>
          <p:cNvSpPr/>
          <p:nvPr/>
        </p:nvSpPr>
        <p:spPr>
          <a:xfrm>
            <a:off x="821264" y="639345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/>
              <a:t>장점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D24180-A07A-4ED9-9039-C97B5466C449}"/>
              </a:ext>
            </a:extLst>
          </p:cNvPr>
          <p:cNvSpPr/>
          <p:nvPr/>
        </p:nvSpPr>
        <p:spPr>
          <a:xfrm>
            <a:off x="821264" y="2876855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/>
              <a:t>단점</a:t>
            </a:r>
          </a:p>
        </p:txBody>
      </p:sp>
    </p:spTree>
    <p:extLst>
      <p:ext uri="{BB962C8B-B14F-4D97-AF65-F5344CB8AC3E}">
        <p14:creationId xmlns:p14="http://schemas.microsoft.com/office/powerpoint/2010/main" val="1437838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2853271-731A-4EA7-9FF4-562E0B6A64C3}"/>
              </a:ext>
            </a:extLst>
          </p:cNvPr>
          <p:cNvSpPr/>
          <p:nvPr/>
        </p:nvSpPr>
        <p:spPr>
          <a:xfrm>
            <a:off x="821264" y="456465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/>
              <a:t>예시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아이리쉬</a:t>
            </a:r>
            <a:r>
              <a:rPr lang="ko-KR" altLang="en-US" sz="2000" b="1" dirty="0"/>
              <a:t> 데이터 군집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B80FFD-6D7D-4CDB-9314-319FADC272FA}"/>
              </a:ext>
            </a:extLst>
          </p:cNvPr>
          <p:cNvSpPr/>
          <p:nvPr/>
        </p:nvSpPr>
        <p:spPr>
          <a:xfrm>
            <a:off x="4760873" y="574936"/>
            <a:ext cx="4235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666666"/>
                </a:solidFill>
                <a:latin typeface="Noto Sans KR"/>
              </a:rPr>
              <a:t>( </a:t>
            </a:r>
            <a:r>
              <a:rPr lang="en-US" altLang="ko-KR" dirty="0" err="1">
                <a:solidFill>
                  <a:srgbClr val="666666"/>
                </a:solidFill>
                <a:latin typeface="Noto Sans KR"/>
              </a:rPr>
              <a:t>sklearn</a:t>
            </a:r>
            <a:r>
              <a:rPr lang="ko-KR" altLang="en-US" dirty="0">
                <a:solidFill>
                  <a:srgbClr val="666666"/>
                </a:solidFill>
                <a:latin typeface="Noto Sans KR"/>
              </a:rPr>
              <a:t>에서 제공하는 </a:t>
            </a:r>
            <a:r>
              <a:rPr lang="en-US" altLang="ko-KR" b="1" dirty="0">
                <a:solidFill>
                  <a:srgbClr val="666666"/>
                </a:solidFill>
                <a:latin typeface="Noto Sans KR"/>
              </a:rPr>
              <a:t>iris(</a:t>
            </a:r>
            <a:r>
              <a:rPr lang="ko-KR" altLang="en-US" b="1" dirty="0">
                <a:solidFill>
                  <a:srgbClr val="666666"/>
                </a:solidFill>
                <a:latin typeface="Noto Sans KR"/>
              </a:rPr>
              <a:t>붓꽃</a:t>
            </a:r>
            <a:r>
              <a:rPr lang="en-US" altLang="ko-KR" b="1" dirty="0">
                <a:solidFill>
                  <a:srgbClr val="666666"/>
                </a:solidFill>
                <a:latin typeface="Noto Sans KR"/>
              </a:rPr>
              <a:t>) </a:t>
            </a:r>
            <a:r>
              <a:rPr lang="ko-KR" altLang="en-US" b="1" dirty="0">
                <a:solidFill>
                  <a:srgbClr val="666666"/>
                </a:solidFill>
                <a:latin typeface="Noto Sans KR"/>
              </a:rPr>
              <a:t>데이터 </a:t>
            </a:r>
            <a:r>
              <a:rPr lang="en-US" altLang="ko-KR" b="1" dirty="0">
                <a:solidFill>
                  <a:srgbClr val="666666"/>
                </a:solidFill>
                <a:latin typeface="Noto Sans KR"/>
              </a:rPr>
              <a:t>)</a:t>
            </a:r>
            <a:endParaRPr lang="ko-KR" altLang="en-US" dirty="0"/>
          </a:p>
        </p:txBody>
      </p:sp>
      <p:pic>
        <p:nvPicPr>
          <p:cNvPr id="1026" name="Picture 2" descr="https://blog.kakaocdn.net/dn/mMp2M/btrc1ThyCAt/eKfYbl3VWWCh8ZwgbKCkT1/img.png">
            <a:extLst>
              <a:ext uri="{FF2B5EF4-FFF2-40B4-BE49-F238E27FC236}">
                <a16:creationId xmlns:a16="http://schemas.microsoft.com/office/drawing/2014/main" id="{EC8AD851-9117-4536-B550-06738A1CE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712" y="1004038"/>
            <a:ext cx="4789712" cy="1457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492E7A2-5A6E-4091-88BA-B026E7555768}"/>
              </a:ext>
            </a:extLst>
          </p:cNvPr>
          <p:cNvSpPr/>
          <p:nvPr/>
        </p:nvSpPr>
        <p:spPr>
          <a:xfrm>
            <a:off x="821264" y="2638022"/>
            <a:ext cx="8979108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적절한 군집 수 찾기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05C60D-3EF2-4BDC-946E-5A4FF233672F}"/>
              </a:ext>
            </a:extLst>
          </p:cNvPr>
          <p:cNvSpPr/>
          <p:nvPr/>
        </p:nvSpPr>
        <p:spPr>
          <a:xfrm>
            <a:off x="1131274" y="3172507"/>
            <a:ext cx="41795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/>
              <a:t># Inertia(</a:t>
            </a:r>
            <a:r>
              <a:rPr lang="ko-KR" altLang="en-US" sz="1100" dirty="0"/>
              <a:t>군집 내 </a:t>
            </a:r>
            <a:r>
              <a:rPr lang="ko-KR" altLang="en-US" sz="1100" dirty="0" err="1"/>
              <a:t>거리제곱합의</a:t>
            </a:r>
            <a:r>
              <a:rPr lang="ko-KR" altLang="en-US" sz="1100" dirty="0"/>
              <a:t> 합</a:t>
            </a:r>
            <a:r>
              <a:rPr lang="en-US" altLang="ko-KR" sz="1100" dirty="0"/>
              <a:t>) value (</a:t>
            </a:r>
            <a:r>
              <a:rPr lang="ko-KR" altLang="en-US" sz="1100" dirty="0"/>
              <a:t>적정 </a:t>
            </a:r>
            <a:r>
              <a:rPr lang="ko-KR" altLang="en-US" sz="1100" dirty="0" err="1"/>
              <a:t>군집수</a:t>
            </a:r>
            <a:r>
              <a:rPr lang="en-US" altLang="ko-KR" sz="1100" dirty="0"/>
              <a:t>)</a:t>
            </a:r>
          </a:p>
          <a:p>
            <a:endParaRPr lang="en-US" altLang="ko-KR" sz="1100" dirty="0"/>
          </a:p>
          <a:p>
            <a:r>
              <a:rPr lang="en-US" altLang="ko-KR" sz="1100" dirty="0" err="1"/>
              <a:t>ks</a:t>
            </a:r>
            <a:r>
              <a:rPr lang="en-US" altLang="ko-KR" sz="1100" dirty="0"/>
              <a:t> = range(1,10)</a:t>
            </a:r>
          </a:p>
          <a:p>
            <a:r>
              <a:rPr lang="en-US" altLang="ko-KR" sz="1100" dirty="0"/>
              <a:t>inertias = []</a:t>
            </a:r>
          </a:p>
          <a:p>
            <a:endParaRPr lang="en-US" altLang="ko-KR" sz="1100" dirty="0"/>
          </a:p>
          <a:p>
            <a:r>
              <a:rPr lang="en-US" altLang="ko-KR" sz="1100" dirty="0"/>
              <a:t>for k in </a:t>
            </a:r>
            <a:r>
              <a:rPr lang="en-US" altLang="ko-KR" sz="1100" dirty="0" err="1"/>
              <a:t>ks</a:t>
            </a:r>
            <a:r>
              <a:rPr lang="en-US" altLang="ko-KR" sz="1100" dirty="0"/>
              <a:t>:</a:t>
            </a:r>
          </a:p>
          <a:p>
            <a:r>
              <a:rPr lang="en-US" altLang="ko-KR" sz="1100" dirty="0"/>
              <a:t>    model = </a:t>
            </a:r>
            <a:r>
              <a:rPr lang="en-US" altLang="ko-KR" sz="1100" dirty="0" err="1"/>
              <a:t>KMeans</a:t>
            </a:r>
            <a:r>
              <a:rPr lang="en-US" altLang="ko-KR" sz="1100" dirty="0"/>
              <a:t>(</a:t>
            </a:r>
            <a:r>
              <a:rPr lang="en-US" altLang="ko-KR" sz="1100" dirty="0" err="1"/>
              <a:t>n_clusters</a:t>
            </a:r>
            <a:r>
              <a:rPr lang="en-US" altLang="ko-KR" sz="1100" dirty="0"/>
              <a:t>=k)</a:t>
            </a:r>
          </a:p>
          <a:p>
            <a:r>
              <a:rPr lang="en-US" altLang="ko-KR" sz="1100" dirty="0"/>
              <a:t>    </a:t>
            </a:r>
            <a:r>
              <a:rPr lang="en-US" altLang="ko-KR" sz="1100" dirty="0" err="1"/>
              <a:t>model.fit</a:t>
            </a:r>
            <a:r>
              <a:rPr lang="en-US" altLang="ko-KR" sz="1100" dirty="0"/>
              <a:t>(</a:t>
            </a:r>
            <a:r>
              <a:rPr lang="en-US" altLang="ko-KR" sz="1100" dirty="0" err="1"/>
              <a:t>df_f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    </a:t>
            </a:r>
            <a:r>
              <a:rPr lang="en-US" altLang="ko-KR" sz="1100" dirty="0" err="1"/>
              <a:t>inertias.append</a:t>
            </a:r>
            <a:r>
              <a:rPr lang="en-US" altLang="ko-KR" sz="1100" dirty="0"/>
              <a:t>(</a:t>
            </a:r>
            <a:r>
              <a:rPr lang="en-US" altLang="ko-KR" sz="1100" dirty="0" err="1"/>
              <a:t>model.inertia</a:t>
            </a:r>
            <a:r>
              <a:rPr lang="en-US" altLang="ko-KR" sz="1100" dirty="0"/>
              <a:t>_)</a:t>
            </a:r>
          </a:p>
          <a:p>
            <a:endParaRPr lang="en-US" altLang="ko-KR" sz="1100" dirty="0"/>
          </a:p>
          <a:p>
            <a:r>
              <a:rPr lang="en-US" altLang="ko-KR" sz="1100" dirty="0"/>
              <a:t># Plot </a:t>
            </a:r>
            <a:r>
              <a:rPr lang="en-US" altLang="ko-KR" sz="1100" dirty="0" err="1"/>
              <a:t>ks</a:t>
            </a:r>
            <a:r>
              <a:rPr lang="en-US" altLang="ko-KR" sz="1100" dirty="0"/>
              <a:t> vs inertias</a:t>
            </a:r>
          </a:p>
          <a:p>
            <a:r>
              <a:rPr lang="en-US" altLang="ko-KR" sz="1100" dirty="0" err="1"/>
              <a:t>plt.figure</a:t>
            </a:r>
            <a:r>
              <a:rPr lang="en-US" altLang="ko-KR" sz="1100" dirty="0"/>
              <a:t>(</a:t>
            </a:r>
            <a:r>
              <a:rPr lang="en-US" altLang="ko-KR" sz="1100" dirty="0" err="1"/>
              <a:t>figsize</a:t>
            </a:r>
            <a:r>
              <a:rPr lang="en-US" altLang="ko-KR" sz="1100" dirty="0"/>
              <a:t>=(4, 4))</a:t>
            </a:r>
          </a:p>
          <a:p>
            <a:endParaRPr lang="en-US" altLang="ko-KR" sz="1100" dirty="0"/>
          </a:p>
          <a:p>
            <a:r>
              <a:rPr lang="en-US" altLang="ko-KR" sz="1100" dirty="0" err="1"/>
              <a:t>plt.plot</a:t>
            </a:r>
            <a:r>
              <a:rPr lang="en-US" altLang="ko-KR" sz="1100" dirty="0"/>
              <a:t>(</a:t>
            </a:r>
            <a:r>
              <a:rPr lang="en-US" altLang="ko-KR" sz="1100" dirty="0" err="1"/>
              <a:t>ks</a:t>
            </a:r>
            <a:r>
              <a:rPr lang="en-US" altLang="ko-KR" sz="1100" dirty="0"/>
              <a:t>, inertias, '-o')</a:t>
            </a:r>
          </a:p>
          <a:p>
            <a:r>
              <a:rPr lang="en-US" altLang="ko-KR" sz="1100" dirty="0" err="1"/>
              <a:t>plt.xlabel</a:t>
            </a:r>
            <a:r>
              <a:rPr lang="en-US" altLang="ko-KR" sz="1100" dirty="0"/>
              <a:t>('number of clusters, k')</a:t>
            </a:r>
          </a:p>
          <a:p>
            <a:r>
              <a:rPr lang="en-US" altLang="ko-KR" sz="1100" dirty="0" err="1"/>
              <a:t>plt.ylabel</a:t>
            </a:r>
            <a:r>
              <a:rPr lang="en-US" altLang="ko-KR" sz="1100" dirty="0"/>
              <a:t>('inertia')</a:t>
            </a:r>
          </a:p>
          <a:p>
            <a:r>
              <a:rPr lang="en-US" altLang="ko-KR" sz="1100" dirty="0" err="1"/>
              <a:t>plt.xticks</a:t>
            </a:r>
            <a:r>
              <a:rPr lang="en-US" altLang="ko-KR" sz="1100" dirty="0"/>
              <a:t>(</a:t>
            </a:r>
            <a:r>
              <a:rPr lang="en-US" altLang="ko-KR" sz="1100" dirty="0" err="1"/>
              <a:t>ks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 err="1"/>
              <a:t>plt.show</a:t>
            </a:r>
            <a:r>
              <a:rPr lang="en-US" altLang="ko-KR" sz="1100" dirty="0"/>
              <a:t>()</a:t>
            </a:r>
          </a:p>
        </p:txBody>
      </p:sp>
      <p:pic>
        <p:nvPicPr>
          <p:cNvPr id="1029" name="Picture 5" descr="https://blog.kakaocdn.net/dn/sX5bY/btrcOScXjih/QIpTG5kMx9UBVkiaI03RH0/img.png">
            <a:extLst>
              <a:ext uri="{FF2B5EF4-FFF2-40B4-BE49-F238E27FC236}">
                <a16:creationId xmlns:a16="http://schemas.microsoft.com/office/drawing/2014/main" id="{E6560AEC-6210-4FA6-9DD2-B22D01EC7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7388" y="3136853"/>
            <a:ext cx="3322423" cy="320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3E56CBB1-9162-4CBC-83C0-418B8EFCAA7F}"/>
              </a:ext>
            </a:extLst>
          </p:cNvPr>
          <p:cNvSpPr/>
          <p:nvPr/>
        </p:nvSpPr>
        <p:spPr>
          <a:xfrm>
            <a:off x="6096000" y="5365017"/>
            <a:ext cx="785184" cy="78518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711EC6-CD40-49A5-BD21-B06A36BDD5E9}"/>
              </a:ext>
            </a:extLst>
          </p:cNvPr>
          <p:cNvSpPr/>
          <p:nvPr/>
        </p:nvSpPr>
        <p:spPr>
          <a:xfrm>
            <a:off x="7931842" y="5158005"/>
            <a:ext cx="293018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 </a:t>
            </a:r>
            <a:r>
              <a:rPr lang="ko-KR" altLang="en-US" sz="1600" dirty="0" err="1"/>
              <a:t>군집수</a:t>
            </a:r>
            <a:r>
              <a:rPr lang="ko-KR" altLang="en-US" sz="1600" dirty="0"/>
              <a:t> </a:t>
            </a:r>
            <a:r>
              <a:rPr lang="en-US" altLang="ko-KR" sz="1600" dirty="0"/>
              <a:t>3</a:t>
            </a:r>
            <a:r>
              <a:rPr lang="ko-KR" altLang="en-US" sz="1600" dirty="0"/>
              <a:t>개로 결정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73007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61A7153-A5B9-407A-A83C-DC44EFA28A39}"/>
              </a:ext>
            </a:extLst>
          </p:cNvPr>
          <p:cNvSpPr/>
          <p:nvPr/>
        </p:nvSpPr>
        <p:spPr>
          <a:xfrm>
            <a:off x="821962" y="2021473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/>
              <a:t>군집분석 결과 시각화</a:t>
            </a:r>
          </a:p>
        </p:txBody>
      </p:sp>
      <p:pic>
        <p:nvPicPr>
          <p:cNvPr id="2050" name="Picture 2" descr="https://blog.kakaocdn.net/dn/E8ugd/btrcYbJuKEV/1GiktmruklHuKE33KAcK2k/img.png">
            <a:extLst>
              <a:ext uri="{FF2B5EF4-FFF2-40B4-BE49-F238E27FC236}">
                <a16:creationId xmlns:a16="http://schemas.microsoft.com/office/drawing/2014/main" id="{06AAC1ED-E56E-4699-B708-15E805EC3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456" y="2723565"/>
            <a:ext cx="9211056" cy="299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C4B8B2C-1154-4D07-AA03-C670EF7295E4}"/>
              </a:ext>
            </a:extLst>
          </p:cNvPr>
          <p:cNvSpPr/>
          <p:nvPr/>
        </p:nvSpPr>
        <p:spPr>
          <a:xfrm>
            <a:off x="1362456" y="5839394"/>
            <a:ext cx="658263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 분류 </a:t>
            </a:r>
            <a:r>
              <a:rPr lang="en-US" altLang="ko-KR" sz="1600" dirty="0"/>
              <a:t>3</a:t>
            </a:r>
            <a:r>
              <a:rPr lang="ko-KR" altLang="en-US" sz="1600" dirty="0"/>
              <a:t>개로 잘 된 것을 확인할 수 있음</a:t>
            </a:r>
            <a:r>
              <a:rPr lang="en-US" altLang="ko-KR" sz="1600" dirty="0"/>
              <a:t>..</a:t>
            </a:r>
            <a:endParaRPr lang="ko-KR" altLang="en-US" sz="16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120E6D-9C33-4592-A543-43D974A88322}"/>
              </a:ext>
            </a:extLst>
          </p:cNvPr>
          <p:cNvSpPr/>
          <p:nvPr/>
        </p:nvSpPr>
        <p:spPr>
          <a:xfrm>
            <a:off x="821962" y="356309"/>
            <a:ext cx="10548076" cy="496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/>
              <a:t>군집분석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69F7B5-B8D5-4D88-BE02-338D4501C1AB}"/>
              </a:ext>
            </a:extLst>
          </p:cNvPr>
          <p:cNvSpPr/>
          <p:nvPr/>
        </p:nvSpPr>
        <p:spPr>
          <a:xfrm>
            <a:off x="1380744" y="869910"/>
            <a:ext cx="10007582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 </a:t>
            </a:r>
            <a:r>
              <a:rPr lang="en-US" altLang="ko-KR" dirty="0"/>
              <a:t>from </a:t>
            </a:r>
            <a:r>
              <a:rPr lang="en-US" altLang="ko-KR" dirty="0" err="1"/>
              <a:t>sklearn.cluster</a:t>
            </a:r>
            <a:r>
              <a:rPr lang="en-US" altLang="ko-KR" dirty="0"/>
              <a:t> import </a:t>
            </a:r>
            <a:r>
              <a:rPr lang="en-US" altLang="ko-KR" dirty="0" err="1"/>
              <a:t>Kmeans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 err="1"/>
              <a:t>kmeans</a:t>
            </a:r>
            <a:r>
              <a:rPr lang="en-US" altLang="ko-KR" dirty="0"/>
              <a:t> = </a:t>
            </a:r>
            <a:r>
              <a:rPr lang="en-US" altLang="ko-KR" dirty="0" err="1"/>
              <a:t>KMeans</a:t>
            </a:r>
            <a:r>
              <a:rPr lang="en-US" altLang="ko-KR" dirty="0"/>
              <a:t>(</a:t>
            </a:r>
            <a:r>
              <a:rPr lang="en-US" altLang="ko-KR" dirty="0" err="1"/>
              <a:t>n_clusters</a:t>
            </a:r>
            <a:r>
              <a:rPr lang="en-US" altLang="ko-KR" dirty="0"/>
              <a:t>=3) # </a:t>
            </a:r>
            <a:r>
              <a:rPr lang="en-US" altLang="ko-KR" dirty="0" err="1"/>
              <a:t>n_clusters</a:t>
            </a:r>
            <a:r>
              <a:rPr lang="en-US" altLang="ko-KR" dirty="0"/>
              <a:t>=k : </a:t>
            </a:r>
            <a:r>
              <a:rPr lang="ko-KR" altLang="en-US" dirty="0"/>
              <a:t>군집의 개수</a:t>
            </a:r>
            <a:endParaRPr lang="ko-KR" altLang="en-US" sz="16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0F5A6B-B6B8-4761-92FD-833F17D5D474}"/>
              </a:ext>
            </a:extLst>
          </p:cNvPr>
          <p:cNvSpPr/>
          <p:nvPr/>
        </p:nvSpPr>
        <p:spPr>
          <a:xfrm>
            <a:off x="8366706" y="1109295"/>
            <a:ext cx="3337614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 </a:t>
            </a:r>
            <a:r>
              <a:rPr lang="en-US" altLang="ko-KR" sz="1600" dirty="0"/>
              <a:t>fit </a:t>
            </a:r>
            <a:r>
              <a:rPr lang="ko-KR" altLang="en-US" sz="1600" dirty="0"/>
              <a:t>후 </a:t>
            </a:r>
            <a:r>
              <a:rPr lang="en-US" altLang="ko-KR" sz="1600" dirty="0"/>
              <a:t>output : </a:t>
            </a:r>
            <a:r>
              <a:rPr lang="en-US" altLang="ko-KR" sz="1600" dirty="0" err="1"/>
              <a:t>kmeans.labels</a:t>
            </a:r>
            <a:r>
              <a:rPr lang="en-US" altLang="ko-KR" sz="1600" dirty="0"/>
              <a:t>_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1016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377</Words>
  <Application>Microsoft Office PowerPoint</Application>
  <PresentationFormat>와이드스크린</PresentationFormat>
  <Paragraphs>48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Noto Sans KR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97</cp:revision>
  <dcterms:created xsi:type="dcterms:W3CDTF">2022-11-18T12:00:47Z</dcterms:created>
  <dcterms:modified xsi:type="dcterms:W3CDTF">2022-11-25T11:04:08Z</dcterms:modified>
</cp:coreProperties>
</file>