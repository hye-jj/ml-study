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7" r:id="rId2"/>
    <p:sldId id="256" r:id="rId3"/>
    <p:sldId id="260" r:id="rId4"/>
    <p:sldId id="263" r:id="rId5"/>
    <p:sldId id="267" r:id="rId6"/>
    <p:sldId id="266" r:id="rId7"/>
    <p:sldId id="271" r:id="rId8"/>
    <p:sldId id="264" r:id="rId9"/>
    <p:sldId id="270" r:id="rId10"/>
    <p:sldId id="268" r:id="rId11"/>
    <p:sldId id="258" r:id="rId12"/>
    <p:sldId id="259" r:id="rId13"/>
    <p:sldId id="272" r:id="rId14"/>
    <p:sldId id="273" r:id="rId15"/>
    <p:sldId id="274" r:id="rId16"/>
    <p:sldId id="261" r:id="rId17"/>
    <p:sldId id="262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82" autoAdjust="0"/>
    <p:restoredTop sz="94625" autoAdjust="0"/>
  </p:normalViewPr>
  <p:slideViewPr>
    <p:cSldViewPr snapToGrid="0">
      <p:cViewPr varScale="1">
        <p:scale>
          <a:sx n="51" d="100"/>
          <a:sy n="51" d="100"/>
        </p:scale>
        <p:origin x="67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8F22F-E475-4507-8925-D9E85F48E24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F8EE6-A59A-4EBA-BA92-6F53693EC1E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2445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지도 학습은 두 가지 유형으로 나뉘는데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바로 분류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(classification)</a:t>
            </a:r>
            <a:r>
              <a:rPr lang="ko-KR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와 회귀</a:t>
            </a:r>
            <a:r>
              <a:rPr lang="en-US" altLang="ko-K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(regression)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6DF8EE6-A59A-4EBA-BA92-6F53693EC1E1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52915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FC67FA7-7975-4586-B4DD-263D2B5947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17D515F-0780-4F38-8A1F-9F8507699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6F5EFA-377C-46D7-A1B4-A326767AB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65A38A-D4AA-4252-B72F-2F02D965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1E7AF1B-9066-4718-A96C-3D265F53F0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63420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2A8F2A-386E-4CD6-9A83-AA84CD996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35B2F3E-BF81-4FB6-9ABF-8D1F79CEA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8590D55-9C4D-4D71-8E7F-432D1C18C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21231D-4B16-4EA8-9277-223FADE3A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B1201A-ED29-4261-A90B-281F355CA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53585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468E81-FB0A-4F11-9868-2C73BB9102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0D3CBA9-2B86-46DA-8B29-813BE89584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C9099C-D9EB-4D4A-AD36-C93503E699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1B88739-5479-4C49-8E5F-8CBBFC911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357A2F9-9F52-4D25-8454-D709D0369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5914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FD72A-EB24-4410-A579-350CB9E4C2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35FC1BA-EE6D-41F1-9F69-A2526F8313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899F8DF-1307-456F-AAF4-32D2B2A178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43C5CD0-DBC0-44DB-A3DF-C6F6313DA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8AB5B5-BEA0-46CB-A854-A62C0E6F3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CBCDDF-AD84-4BA2-A133-F3CDB22D7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704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CF194-88E1-4017-B7E2-702A2C339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53E92F-8D22-4359-BF2A-1BA3FFC9E0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1001AD-477E-4082-86EB-3897779C8B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DE572E3-8E2C-461E-93EC-F4A8ECA1E1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B261518-4FB9-4A6A-993F-16552FEC23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9A9B512-443A-4FAF-9DB4-AE516F999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43A4A16-C2D3-4CBF-B994-A92A69F657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9BBA49D-D38B-42C2-ABA3-FC6809E80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11299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76B077-5550-49AC-B186-DCE2E34584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68D17D0-8A18-4F13-928D-84E0EFD8AC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2CF1DA1-319F-42FF-A95C-125A29A891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E1E43B6-445D-433C-9BE0-E013573465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6215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D7FF5DA-4F0F-4BD9-AF05-1CCE9516C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55F7373-626C-4BC8-B172-F50A5C80A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C569883-ACE2-4E5E-8DD2-785E1C82F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1975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882AFA-99C3-423A-91B9-C106DF58C9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874D271-9E6B-4751-8B81-BE476BADEC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B0CBBBB-C9C7-431B-B5ED-CDEC06DE5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185E4C9-7FA2-4567-945B-448129710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194E83F-1E22-4916-A975-49C5F6C23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B041E29-ED4D-493F-B394-91D81A6213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6464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F2642D-DD22-450C-8238-519559CFF1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8B5FB2-C837-4989-8983-BD07DB7376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30C4325-6C7C-49F7-8721-61E92AFA2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2EF3FB8-3A1C-42EB-925A-615FFDC69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4D178E7-E7AE-4673-A1C3-7216CB393E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5F0D4BA-D49F-4296-A28B-5891E7E1A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4852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F62638-A547-4E1E-9286-3E62565AE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47C307-1F87-4955-837E-DEFFA8C17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226F5E9-76DE-4934-A822-4E0E666A1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741BF43-8414-4193-9EB3-A7E421116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D1AD2C1-DDD7-4827-A021-E28C9AE57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6288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76A79AB-CD89-46C8-827C-9A2E5AC8BC2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B9F08FD-6527-4FEC-89D5-FCCB29A7E4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D85483-E06C-450B-A490-F1BA28226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1E38F0-DE77-4F46-84F9-7A34752F2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E097455-E4B6-4083-9A1D-3D72E1BE50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284506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E547C22-9B11-4684-BD80-7B6797AB8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25F157-08D9-4909-BC9D-82211C8B1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1FEBE4-842C-48D4-805B-7D8F0A1B2B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9A54E9-AAE9-4D08-81E1-C8B83CB93C83}" type="datetimeFigureOut">
              <a:rPr lang="ko-KR" altLang="en-US" smtClean="0"/>
              <a:t>2022-11-04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B8E7F72-DE83-4B71-825A-21B07CC7F1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D8CE7E-EA27-4280-BA3C-521C1BBF5F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DC0775-0120-4005-99E9-0FA9332637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3785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회귀분석 - 01">
            <a:extLst>
              <a:ext uri="{FF2B5EF4-FFF2-40B4-BE49-F238E27FC236}">
                <a16:creationId xmlns:a16="http://schemas.microsoft.com/office/drawing/2014/main" id="{667EEE21-8FEE-4000-AADA-BAC8B74C23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70" y="411391"/>
            <a:ext cx="11187659" cy="60352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0562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8FFF212C-0A75-4FC2-91F1-2902715530F5}"/>
              </a:ext>
            </a:extLst>
          </p:cNvPr>
          <p:cNvSpPr/>
          <p:nvPr/>
        </p:nvSpPr>
        <p:spPr>
          <a:xfrm>
            <a:off x="640216" y="325673"/>
            <a:ext cx="345209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400" b="1" i="0" dirty="0">
                <a:solidFill>
                  <a:srgbClr val="000000"/>
                </a:solidFill>
                <a:effectLst/>
                <a:latin typeface="+mj-lt"/>
              </a:rPr>
              <a:t>회귀분석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B72B1ED8-DA74-40AF-819F-7867066C70A3}"/>
              </a:ext>
            </a:extLst>
          </p:cNvPr>
          <p:cNvSpPr/>
          <p:nvPr/>
        </p:nvSpPr>
        <p:spPr>
          <a:xfrm>
            <a:off x="640216" y="1025790"/>
            <a:ext cx="1073731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i="0" dirty="0">
                <a:solidFill>
                  <a:srgbClr val="000000"/>
                </a:solidFill>
                <a:effectLst/>
                <a:latin typeface="+mj-lt"/>
              </a:rPr>
              <a:t>선형 회귀 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+mj-lt"/>
              </a:rPr>
              <a:t>: </a:t>
            </a:r>
            <a:r>
              <a:rPr lang="ko-KR" altLang="en-US" dirty="0">
                <a:latin typeface="+mj-lt"/>
              </a:rPr>
              <a:t>우리가 찾아낼 수 있는 가장 직관적이고 간단한 모델은 </a:t>
            </a:r>
            <a:r>
              <a:rPr lang="ko-KR" altLang="en-US" b="1" dirty="0">
                <a:latin typeface="+mj-lt"/>
              </a:rPr>
              <a:t>선</a:t>
            </a:r>
            <a:r>
              <a:rPr lang="en-US" altLang="ko-KR" b="1" dirty="0">
                <a:latin typeface="+mj-lt"/>
              </a:rPr>
              <a:t>(line), </a:t>
            </a:r>
            <a:r>
              <a:rPr lang="ko-KR" altLang="en-US" dirty="0">
                <a:latin typeface="+mj-lt"/>
              </a:rPr>
              <a:t> 데이터를 놓고 그걸 가장 잘 설명할 수 있는 선을 찾는 분석하는 방법 </a:t>
            </a:r>
            <a:r>
              <a:rPr lang="en-US" altLang="ko-KR" dirty="0">
                <a:latin typeface="+mj-lt"/>
              </a:rPr>
              <a:t>“</a:t>
            </a:r>
            <a:r>
              <a:rPr lang="ko-KR" altLang="en-US" b="1" dirty="0">
                <a:latin typeface="+mj-lt"/>
              </a:rPr>
              <a:t>선형 회귀</a:t>
            </a:r>
            <a:r>
              <a:rPr lang="en-US" altLang="ko-KR" b="1" dirty="0">
                <a:latin typeface="+mj-lt"/>
              </a:rPr>
              <a:t>(Linear Regression)</a:t>
            </a:r>
            <a:r>
              <a:rPr lang="ko-KR" altLang="en-US" dirty="0">
                <a:latin typeface="+mj-lt"/>
              </a:rPr>
              <a:t> 분석</a:t>
            </a:r>
            <a:r>
              <a:rPr lang="en-US" altLang="ko-KR" dirty="0">
                <a:latin typeface="+mj-lt"/>
              </a:rPr>
              <a:t>”</a:t>
            </a:r>
            <a:r>
              <a:rPr lang="en-US" altLang="ko-KR" b="1" i="0" dirty="0">
                <a:solidFill>
                  <a:srgbClr val="000000"/>
                </a:solidFill>
                <a:effectLst/>
                <a:latin typeface="+mj-lt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ko-KR" altLang="en-US" b="1" i="0" dirty="0">
              <a:solidFill>
                <a:srgbClr val="000000"/>
              </a:solidFill>
              <a:effectLst/>
              <a:latin typeface="+mj-lt"/>
            </a:endParaRPr>
          </a:p>
        </p:txBody>
      </p:sp>
      <p:pic>
        <p:nvPicPr>
          <p:cNvPr id="1026" name="Picture 2" descr="https://hleecaster.com/wp-content/uploads/2019/12/linear01.jpg">
            <a:extLst>
              <a:ext uri="{FF2B5EF4-FFF2-40B4-BE49-F238E27FC236}">
                <a16:creationId xmlns:a16="http://schemas.microsoft.com/office/drawing/2014/main" id="{0E3C7516-48BF-4F25-A4D7-9D5F133250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97319" y="2902071"/>
            <a:ext cx="3288651" cy="2575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54D301A-3945-4E6C-BE0A-FAF2D0C05D59}"/>
              </a:ext>
            </a:extLst>
          </p:cNvPr>
          <p:cNvSpPr/>
          <p:nvPr/>
        </p:nvSpPr>
        <p:spPr>
          <a:xfrm>
            <a:off x="8460306" y="2297237"/>
            <a:ext cx="24272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3200" b="1" i="0" dirty="0">
                <a:solidFill>
                  <a:srgbClr val="404248"/>
                </a:solidFill>
                <a:effectLst/>
                <a:latin typeface="+mj-lt"/>
              </a:rPr>
              <a:t>y = mx + b</a:t>
            </a:r>
            <a:endParaRPr lang="ko-KR" altLang="en-US" sz="3200" dirty="0">
              <a:latin typeface="+mj-lt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DC5853C-85F6-4ABF-B332-44141CB05394}"/>
              </a:ext>
            </a:extLst>
          </p:cNvPr>
          <p:cNvSpPr/>
          <p:nvPr/>
        </p:nvSpPr>
        <p:spPr>
          <a:xfrm>
            <a:off x="8460306" y="2021435"/>
            <a:ext cx="242566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400" b="1" i="0" dirty="0">
                <a:solidFill>
                  <a:srgbClr val="404248"/>
                </a:solidFill>
                <a:effectLst/>
                <a:latin typeface="Graphik"/>
              </a:rPr>
              <a:t>기울기 </a:t>
            </a:r>
            <a:r>
              <a:rPr lang="en-US" altLang="ko-KR" sz="2400" b="1" i="0" dirty="0">
                <a:solidFill>
                  <a:srgbClr val="404248"/>
                </a:solidFill>
                <a:effectLst/>
                <a:latin typeface="Graphik"/>
              </a:rPr>
              <a:t>m, </a:t>
            </a:r>
            <a:r>
              <a:rPr lang="ko-KR" altLang="en-US" sz="2400" b="1" i="0" dirty="0">
                <a:solidFill>
                  <a:srgbClr val="404248"/>
                </a:solidFill>
                <a:effectLst/>
                <a:latin typeface="Graphik"/>
              </a:rPr>
              <a:t>절편 </a:t>
            </a:r>
            <a:r>
              <a:rPr lang="en-US" altLang="ko-KR" sz="2400" b="1" i="0" dirty="0">
                <a:solidFill>
                  <a:srgbClr val="404248"/>
                </a:solidFill>
                <a:effectLst/>
                <a:latin typeface="Graphik"/>
              </a:rPr>
              <a:t>b</a:t>
            </a:r>
            <a:endParaRPr lang="ko-KR" altLang="en-US" sz="24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B0B691D-A4AF-478B-92C2-A95FBF24F2A5}"/>
              </a:ext>
            </a:extLst>
          </p:cNvPr>
          <p:cNvSpPr/>
          <p:nvPr/>
        </p:nvSpPr>
        <p:spPr>
          <a:xfrm>
            <a:off x="973552" y="3503223"/>
            <a:ext cx="6185731" cy="172354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분류 </a:t>
            </a:r>
            <a:r>
              <a:rPr lang="en-US" altLang="ko-KR" dirty="0"/>
              <a:t>: </a:t>
            </a:r>
            <a:r>
              <a:rPr lang="ko-KR" altLang="en-US" dirty="0"/>
              <a:t>미리 정의된</a:t>
            </a:r>
            <a:r>
              <a:rPr lang="en-US" altLang="ko-KR" dirty="0"/>
              <a:t>, </a:t>
            </a:r>
            <a:r>
              <a:rPr lang="ko-KR" altLang="en-US" dirty="0"/>
              <a:t>가능성 있는 여러 </a:t>
            </a:r>
            <a:r>
              <a:rPr lang="ko-KR" altLang="en-US" b="1" dirty="0"/>
              <a:t>클래스 레이블</a:t>
            </a:r>
            <a:r>
              <a:rPr lang="ko-KR" altLang="en-US" dirty="0"/>
              <a:t> 중                     </a:t>
            </a:r>
            <a:endParaRPr lang="en-US" altLang="ko-KR" dirty="0"/>
          </a:p>
          <a:p>
            <a:r>
              <a:rPr lang="en-US" altLang="ko-KR" dirty="0"/>
              <a:t>            </a:t>
            </a:r>
            <a:r>
              <a:rPr lang="ko-KR" altLang="en-US" dirty="0"/>
              <a:t>하나를 예측</a:t>
            </a:r>
            <a:endParaRPr lang="en-US" altLang="ko-KR" dirty="0"/>
          </a:p>
          <a:p>
            <a:r>
              <a:rPr lang="en-US" altLang="ko-KR" sz="500" dirty="0"/>
              <a:t> </a:t>
            </a:r>
          </a:p>
          <a:p>
            <a:endParaRPr lang="en-US" altLang="ko-KR" sz="1100" b="0" i="0" dirty="0">
              <a:effectLst/>
              <a:latin typeface="Noto Sans KR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b="0" i="0" dirty="0">
                <a:effectLst/>
                <a:latin typeface="Noto Sans KR"/>
              </a:rPr>
              <a:t>회귀 </a:t>
            </a:r>
            <a:r>
              <a:rPr lang="en-US" altLang="ko-KR" b="0" i="0" dirty="0">
                <a:effectLst/>
                <a:latin typeface="Noto Sans KR"/>
              </a:rPr>
              <a:t>: </a:t>
            </a:r>
            <a:r>
              <a:rPr lang="ko-KR" altLang="en-US" b="0" i="0" dirty="0">
                <a:effectLst/>
                <a:latin typeface="Noto Sans KR"/>
              </a:rPr>
              <a:t>연속적인 숫자</a:t>
            </a:r>
            <a:r>
              <a:rPr lang="en-US" altLang="ko-KR" b="0" i="0" dirty="0">
                <a:effectLst/>
                <a:latin typeface="Noto Sans KR"/>
              </a:rPr>
              <a:t>, float</a:t>
            </a:r>
            <a:r>
              <a:rPr lang="ko-KR" altLang="en-US" b="0" i="0" dirty="0">
                <a:effectLst/>
                <a:latin typeface="Noto Sans KR"/>
              </a:rPr>
              <a:t>를 예측하는 것</a:t>
            </a:r>
            <a:r>
              <a:rPr lang="en-US" altLang="ko-KR" b="0" i="0" dirty="0">
                <a:effectLst/>
                <a:latin typeface="Noto Sans KR"/>
              </a:rPr>
              <a:t>.</a:t>
            </a:r>
          </a:p>
          <a:p>
            <a:r>
              <a:rPr lang="ko-KR" altLang="en-US" dirty="0"/>
              <a:t>    예</a:t>
            </a:r>
            <a:r>
              <a:rPr lang="en-US" altLang="ko-KR" dirty="0"/>
              <a:t>) </a:t>
            </a:r>
            <a:r>
              <a:rPr lang="ko-KR" altLang="en-US" dirty="0"/>
              <a:t>어떤 사람의 교육 수준</a:t>
            </a:r>
            <a:r>
              <a:rPr lang="en-US" altLang="ko-KR" dirty="0"/>
              <a:t>, </a:t>
            </a:r>
            <a:r>
              <a:rPr lang="ko-KR" altLang="en-US" dirty="0"/>
              <a:t>나이</a:t>
            </a:r>
            <a:r>
              <a:rPr lang="en-US" altLang="ko-KR" dirty="0"/>
              <a:t>, </a:t>
            </a:r>
            <a:r>
              <a:rPr lang="ko-KR" altLang="en-US" dirty="0"/>
              <a:t>주거지를 바탕으로 </a:t>
            </a:r>
            <a:endParaRPr lang="en-US" altLang="ko-KR" dirty="0"/>
          </a:p>
          <a:p>
            <a:r>
              <a:rPr lang="en-US" altLang="ko-KR" dirty="0"/>
              <a:t>        </a:t>
            </a:r>
            <a:r>
              <a:rPr lang="ko-KR" altLang="en-US" dirty="0"/>
              <a:t>연간 소득 예측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37564B9D-D0D2-4E33-B7E0-5D516E66F1FA}"/>
              </a:ext>
            </a:extLst>
          </p:cNvPr>
          <p:cNvSpPr/>
          <p:nvPr/>
        </p:nvSpPr>
        <p:spPr>
          <a:xfrm>
            <a:off x="973552" y="1804794"/>
            <a:ext cx="551905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i="0" dirty="0">
                <a:effectLst/>
                <a:latin typeface="Noto Sans KR"/>
              </a:rPr>
              <a:t>회귀와 분류 구별</a:t>
            </a:r>
            <a:r>
              <a:rPr lang="en-US" altLang="ko-KR" sz="1600" i="0" dirty="0">
                <a:effectLst/>
                <a:latin typeface="Noto Sans KR"/>
              </a:rPr>
              <a:t>:  </a:t>
            </a:r>
            <a:r>
              <a:rPr lang="en-US" altLang="ko-KR" sz="1600" b="1" i="0" dirty="0">
                <a:effectLst/>
                <a:latin typeface="Noto Sans KR"/>
              </a:rPr>
              <a:t>’</a:t>
            </a:r>
            <a:r>
              <a:rPr lang="ko-KR" altLang="en-US" sz="1600" b="1" i="0" dirty="0">
                <a:effectLst/>
                <a:latin typeface="Noto Sans KR"/>
              </a:rPr>
              <a:t>출력 값에 연속성이 있는가</a:t>
            </a:r>
            <a:r>
              <a:rPr lang="en-US" altLang="ko-KR" sz="1600" b="1" i="0" dirty="0">
                <a:effectLst/>
                <a:latin typeface="Noto Sans KR"/>
              </a:rPr>
              <a:t>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1600" b="1" i="0" dirty="0">
              <a:effectLst/>
              <a:latin typeface="Noto Sans KR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연속성이 없다 → 분류</a:t>
            </a:r>
            <a:endParaRPr lang="en-US" altLang="ko-KR" sz="16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1600" dirty="0"/>
              <a:t>연속성이 있다 → 회귀 </a:t>
            </a:r>
            <a:endParaRPr lang="en-US" altLang="ko-KR" sz="1600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E1FEEADE-BAA7-430D-AC95-59C52B790549}"/>
              </a:ext>
            </a:extLst>
          </p:cNvPr>
          <p:cNvSpPr/>
          <p:nvPr/>
        </p:nvSpPr>
        <p:spPr>
          <a:xfrm>
            <a:off x="1561476" y="5667318"/>
            <a:ext cx="90690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2000" b="0" i="0" dirty="0">
                <a:solidFill>
                  <a:srgbClr val="404248"/>
                </a:solidFill>
                <a:effectLst/>
                <a:latin typeface="Graphik"/>
              </a:rPr>
              <a:t> </a:t>
            </a:r>
            <a:r>
              <a:rPr lang="en-US" altLang="ko-KR" sz="2000" b="0" i="0" dirty="0">
                <a:solidFill>
                  <a:srgbClr val="404248"/>
                </a:solidFill>
                <a:effectLst/>
                <a:latin typeface="Graphik"/>
              </a:rPr>
              <a:t>=&gt; </a:t>
            </a:r>
            <a:r>
              <a:rPr lang="ko-KR" altLang="en-US" sz="2000" b="0" i="0" dirty="0">
                <a:solidFill>
                  <a:srgbClr val="404248"/>
                </a:solidFill>
                <a:effectLst/>
                <a:latin typeface="Graphik"/>
              </a:rPr>
              <a:t>선형 회귀 분석의 목적</a:t>
            </a:r>
            <a:r>
              <a:rPr lang="en-US" altLang="ko-KR" sz="2000" b="0" i="0" dirty="0">
                <a:solidFill>
                  <a:srgbClr val="404248"/>
                </a:solidFill>
                <a:effectLst/>
                <a:latin typeface="Graphik"/>
              </a:rPr>
              <a:t>: </a:t>
            </a:r>
            <a:r>
              <a:rPr lang="ko-KR" altLang="en-US" sz="2000" b="0" i="0" dirty="0">
                <a:solidFill>
                  <a:srgbClr val="404248"/>
                </a:solidFill>
                <a:effectLst/>
                <a:latin typeface="Graphik"/>
              </a:rPr>
              <a:t> </a:t>
            </a:r>
            <a:r>
              <a:rPr lang="ko-KR" altLang="en-US" sz="2000" b="1" i="0" dirty="0">
                <a:solidFill>
                  <a:srgbClr val="404248"/>
                </a:solidFill>
                <a:effectLst/>
                <a:highlight>
                  <a:srgbClr val="FFFF00"/>
                </a:highlight>
                <a:latin typeface="Graphik"/>
              </a:rPr>
              <a:t>우리가 가진 데이터를 가장 잘 설명할 수 있는</a:t>
            </a:r>
            <a:r>
              <a:rPr lang="en-US" altLang="ko-KR" sz="2000" b="1" i="0" dirty="0">
                <a:solidFill>
                  <a:srgbClr val="404248"/>
                </a:solidFill>
                <a:effectLst/>
                <a:highlight>
                  <a:srgbClr val="FFFF00"/>
                </a:highlight>
                <a:latin typeface="Graphik"/>
              </a:rPr>
              <a:t> </a:t>
            </a:r>
            <a:r>
              <a:rPr lang="ko-KR" altLang="en-US" sz="2000" b="1" dirty="0">
                <a:solidFill>
                  <a:srgbClr val="404248"/>
                </a:solidFill>
                <a:highlight>
                  <a:srgbClr val="FFFF00"/>
                </a:highlight>
                <a:latin typeface="Graphik"/>
              </a:rPr>
              <a:t>기울기</a:t>
            </a:r>
            <a:r>
              <a:rPr lang="en-US" altLang="ko-KR" sz="2000" b="1" dirty="0">
                <a:solidFill>
                  <a:srgbClr val="404248"/>
                </a:solidFill>
                <a:highlight>
                  <a:srgbClr val="FFFF00"/>
                </a:highlight>
                <a:latin typeface="Graphik"/>
              </a:rPr>
              <a:t>(m)</a:t>
            </a:r>
            <a:r>
              <a:rPr lang="ko-KR" altLang="en-US" sz="2000" b="1" dirty="0">
                <a:solidFill>
                  <a:srgbClr val="404248"/>
                </a:solidFill>
                <a:highlight>
                  <a:srgbClr val="FFFF00"/>
                </a:highlight>
                <a:latin typeface="Graphik"/>
              </a:rPr>
              <a:t>와</a:t>
            </a:r>
            <a:r>
              <a:rPr lang="ko-KR" altLang="en-US" sz="2000" b="1" i="0" dirty="0">
                <a:solidFill>
                  <a:srgbClr val="404248"/>
                </a:solidFill>
                <a:effectLst/>
                <a:highlight>
                  <a:srgbClr val="FFFF00"/>
                </a:highlight>
                <a:latin typeface="Graphik"/>
              </a:rPr>
              <a:t> </a:t>
            </a:r>
            <a:r>
              <a:rPr lang="ko-KR" altLang="en-US" sz="2000" b="1" dirty="0">
                <a:solidFill>
                  <a:srgbClr val="404248"/>
                </a:solidFill>
                <a:highlight>
                  <a:srgbClr val="FFFF00"/>
                </a:highlight>
                <a:latin typeface="Graphik"/>
              </a:rPr>
              <a:t>절편</a:t>
            </a:r>
            <a:r>
              <a:rPr lang="en-US" altLang="ko-KR" sz="2000" b="1" dirty="0">
                <a:solidFill>
                  <a:srgbClr val="404248"/>
                </a:solidFill>
                <a:highlight>
                  <a:srgbClr val="FFFF00"/>
                </a:highlight>
                <a:latin typeface="Graphik"/>
              </a:rPr>
              <a:t>(</a:t>
            </a:r>
            <a:r>
              <a:rPr lang="en-US" altLang="ko-KR" sz="2000" b="1" i="0" dirty="0">
                <a:solidFill>
                  <a:srgbClr val="404248"/>
                </a:solidFill>
                <a:effectLst/>
                <a:highlight>
                  <a:srgbClr val="FFFF00"/>
                </a:highlight>
                <a:latin typeface="Graphik"/>
              </a:rPr>
              <a:t>b)</a:t>
            </a:r>
            <a:r>
              <a:rPr lang="ko-KR" altLang="en-US" sz="2000" b="1" i="0" dirty="0">
                <a:solidFill>
                  <a:srgbClr val="404248"/>
                </a:solidFill>
                <a:effectLst/>
                <a:highlight>
                  <a:srgbClr val="FFFF00"/>
                </a:highlight>
                <a:latin typeface="Graphik"/>
              </a:rPr>
              <a:t>를 얻는 것</a:t>
            </a:r>
            <a:r>
              <a:rPr lang="en-US" altLang="ko-KR" sz="2000" b="1" i="0" dirty="0">
                <a:solidFill>
                  <a:srgbClr val="404248"/>
                </a:solidFill>
                <a:effectLst/>
                <a:highlight>
                  <a:srgbClr val="FFFF00"/>
                </a:highlight>
                <a:latin typeface="Graphik"/>
              </a:rPr>
              <a:t>.</a:t>
            </a:r>
            <a:endParaRPr lang="ko-KR" altLang="en-US" sz="2000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259557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8B44A138-7B3B-491C-A3E6-65FC32845296}"/>
              </a:ext>
            </a:extLst>
          </p:cNvPr>
          <p:cNvSpPr/>
          <p:nvPr/>
        </p:nvSpPr>
        <p:spPr>
          <a:xfrm>
            <a:off x="724527" y="434459"/>
            <a:ext cx="10548076" cy="958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2000" b="1" i="0" dirty="0">
                <a:solidFill>
                  <a:srgbClr val="313131"/>
                </a:solidFill>
                <a:effectLst/>
                <a:highlight>
                  <a:srgbClr val="FFFF00"/>
                </a:highlight>
                <a:latin typeface="PT Sans"/>
              </a:rPr>
              <a:t>선형회귀의 계수</a:t>
            </a:r>
            <a:r>
              <a:rPr lang="en-US" altLang="ko-KR" sz="2000" b="1" i="0" dirty="0">
                <a:solidFill>
                  <a:srgbClr val="313131"/>
                </a:solidFill>
                <a:effectLst/>
                <a:highlight>
                  <a:srgbClr val="FFFF00"/>
                </a:highlight>
                <a:latin typeface="PT Sans"/>
              </a:rPr>
              <a:t>(</a:t>
            </a:r>
            <a:r>
              <a:rPr lang="ko-KR" altLang="en-US" sz="2000" b="1" i="0" dirty="0">
                <a:solidFill>
                  <a:srgbClr val="313131"/>
                </a:solidFill>
                <a:effectLst/>
                <a:highlight>
                  <a:srgbClr val="FFFF00"/>
                </a:highlight>
                <a:latin typeface="PT Sans"/>
              </a:rPr>
              <a:t>회귀선의 기울기</a:t>
            </a:r>
            <a:r>
              <a:rPr lang="en-US" altLang="ko-KR" sz="2000" b="1" i="0" dirty="0">
                <a:solidFill>
                  <a:srgbClr val="313131"/>
                </a:solidFill>
                <a:effectLst/>
                <a:highlight>
                  <a:srgbClr val="FFFF00"/>
                </a:highlight>
                <a:latin typeface="PT Sans"/>
              </a:rPr>
              <a:t>)</a:t>
            </a:r>
            <a:r>
              <a:rPr lang="ko-KR" altLang="en-US" sz="2000" b="0" i="0" dirty="0">
                <a:solidFill>
                  <a:srgbClr val="313131"/>
                </a:solidFill>
                <a:effectLst/>
                <a:latin typeface="PT Sans"/>
              </a:rPr>
              <a:t>들은 </a:t>
            </a:r>
            <a:r>
              <a:rPr lang="ko-KR" altLang="en-US" sz="2000" b="0" i="0" u="sng" dirty="0" err="1">
                <a:solidFill>
                  <a:srgbClr val="313131"/>
                </a:solidFill>
                <a:effectLst/>
                <a:latin typeface="PT Sans"/>
              </a:rPr>
              <a:t>실제값과</a:t>
            </a:r>
            <a:r>
              <a:rPr lang="ko-KR" altLang="en-US" sz="2000" b="0" i="0" u="sng" dirty="0">
                <a:solidFill>
                  <a:srgbClr val="313131"/>
                </a:solidFill>
                <a:effectLst/>
                <a:latin typeface="PT Sans"/>
              </a:rPr>
              <a:t> 모델 </a:t>
            </a:r>
            <a:r>
              <a:rPr lang="ko-KR" altLang="en-US" sz="2000" b="0" i="0" u="sng" dirty="0" err="1">
                <a:solidFill>
                  <a:srgbClr val="313131"/>
                </a:solidFill>
                <a:effectLst/>
                <a:latin typeface="PT Sans"/>
              </a:rPr>
              <a:t>예측값의</a:t>
            </a:r>
            <a:r>
              <a:rPr lang="ko-KR" altLang="en-US" sz="2000" b="0" i="0" u="sng" dirty="0">
                <a:solidFill>
                  <a:srgbClr val="313131"/>
                </a:solidFill>
                <a:effectLst/>
                <a:latin typeface="PT Sans"/>
              </a:rPr>
              <a:t> 차이</a:t>
            </a:r>
            <a:r>
              <a:rPr lang="en-US" altLang="ko-KR" sz="2000" u="sng" dirty="0">
                <a:solidFill>
                  <a:srgbClr val="313131"/>
                </a:solidFill>
                <a:latin typeface="PT Sans"/>
              </a:rPr>
              <a:t>,</a:t>
            </a:r>
            <a:r>
              <a:rPr lang="ko-KR" altLang="en-US" sz="2000" b="0" i="0" u="sng" dirty="0">
                <a:solidFill>
                  <a:srgbClr val="313131"/>
                </a:solidFill>
                <a:effectLst/>
                <a:latin typeface="PT Sans"/>
              </a:rPr>
              <a:t> </a:t>
            </a:r>
            <a:r>
              <a:rPr lang="ko-KR" altLang="en-US" sz="2000" b="1" i="0" u="sng" dirty="0" err="1">
                <a:solidFill>
                  <a:srgbClr val="303030"/>
                </a:solidFill>
                <a:effectLst/>
                <a:latin typeface="PT Sans"/>
              </a:rPr>
              <a:t>오차제곱합</a:t>
            </a:r>
            <a:r>
              <a:rPr lang="en-US" altLang="ko-KR" sz="2000" b="1" i="0" dirty="0">
                <a:solidFill>
                  <a:srgbClr val="303030"/>
                </a:solidFill>
                <a:effectLst/>
                <a:latin typeface="PT Sans"/>
              </a:rPr>
              <a:t>(error sum of squares)</a:t>
            </a:r>
            <a:r>
              <a:rPr lang="ko-KR" altLang="en-US" sz="2000" b="1" i="0" dirty="0">
                <a:solidFill>
                  <a:srgbClr val="313131"/>
                </a:solidFill>
                <a:effectLst/>
                <a:latin typeface="PT Sans"/>
              </a:rPr>
              <a:t>을 최소로 하는 값</a:t>
            </a:r>
            <a:endParaRPr lang="ko-KR" altLang="en-US" sz="2000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FE6640-8A64-4E62-8E82-B733C10831C4}"/>
              </a:ext>
            </a:extLst>
          </p:cNvPr>
          <p:cNvSpPr/>
          <p:nvPr/>
        </p:nvSpPr>
        <p:spPr>
          <a:xfrm>
            <a:off x="1084290" y="1463795"/>
            <a:ext cx="1002342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 err="1"/>
              <a:t>잔차제곱합을</a:t>
            </a:r>
            <a:r>
              <a:rPr lang="ko-KR" altLang="en-US" b="1" dirty="0"/>
              <a:t> 최소로 하는 회귀계수의 값을 찾는 최적화의 목표</a:t>
            </a:r>
            <a:r>
              <a:rPr lang="ko-KR" altLang="en-US" dirty="0"/>
              <a:t>로 </a:t>
            </a:r>
            <a:r>
              <a:rPr lang="ko-KR" altLang="en-US" b="1" dirty="0" err="1"/>
              <a:t>잔차제곱합이</a:t>
            </a:r>
            <a:r>
              <a:rPr lang="ko-KR" altLang="en-US" b="1" dirty="0"/>
              <a:t> 제시될 때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최적의 계수들은 회귀계수에 대해 미분한 식을 0으로 놓고 풀면 아래와 같이 명시적인 해를 구할 수 있음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우리에게 주어진 </a:t>
            </a:r>
            <a:r>
              <a:rPr lang="en-US" altLang="ko-KR" dirty="0"/>
              <a:t>X, Y </a:t>
            </a:r>
            <a:r>
              <a:rPr lang="ko-KR" altLang="en-US" dirty="0"/>
              <a:t>데이터만 가지고 계수를 단번에 추정할 수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7173" name="Picture 5" descr="Linear Regression Explained with Python Examples - Data Analytics">
            <a:extLst>
              <a:ext uri="{FF2B5EF4-FFF2-40B4-BE49-F238E27FC236}">
                <a16:creationId xmlns:a16="http://schemas.microsoft.com/office/drawing/2014/main" id="{D7F98755-9183-4E2D-B2C8-46A417934A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527" y="2915131"/>
            <a:ext cx="5056682" cy="3597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9" name="Picture 11" descr="How to check for a good regression model by R-squared? - Sanchita Paul -  Medium">
            <a:extLst>
              <a:ext uri="{FF2B5EF4-FFF2-40B4-BE49-F238E27FC236}">
                <a16:creationId xmlns:a16="http://schemas.microsoft.com/office/drawing/2014/main" id="{E1D6756F-A763-4166-94C7-5D5165474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3563912"/>
            <a:ext cx="5353050" cy="2028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376229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0237B1D5-6CB2-4486-955B-8308C7227677}"/>
              </a:ext>
            </a:extLst>
          </p:cNvPr>
          <p:cNvSpPr/>
          <p:nvPr/>
        </p:nvSpPr>
        <p:spPr>
          <a:xfrm>
            <a:off x="724527" y="530715"/>
            <a:ext cx="50145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i="0" dirty="0">
                <a:solidFill>
                  <a:srgbClr val="313131"/>
                </a:solidFill>
                <a:effectLst/>
                <a:latin typeface="PT Sans"/>
              </a:rPr>
              <a:t>선형회귀 계수를 구하는 법 </a:t>
            </a:r>
            <a:r>
              <a:rPr lang="en-US" altLang="ko-KR" sz="2000" b="1" i="0" dirty="0">
                <a:solidFill>
                  <a:srgbClr val="313131"/>
                </a:solidFill>
                <a:effectLst/>
                <a:latin typeface="PT Sans"/>
              </a:rPr>
              <a:t>- </a:t>
            </a:r>
            <a:r>
              <a:rPr lang="ko-KR" altLang="en-US" sz="2000" b="1" i="0" dirty="0" err="1">
                <a:solidFill>
                  <a:srgbClr val="313131"/>
                </a:solidFill>
                <a:effectLst/>
                <a:highlight>
                  <a:srgbClr val="FFFF00"/>
                </a:highlight>
                <a:latin typeface="PT Sans"/>
              </a:rPr>
              <a:t>경사하강법</a:t>
            </a:r>
            <a:endParaRPr lang="ko-KR" altLang="en-US" sz="2000" b="1" dirty="0">
              <a:highlight>
                <a:srgbClr val="FFFF00"/>
              </a:highlight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46A14CC-07D9-4680-BD48-BA7EFD6C2AE9}"/>
              </a:ext>
            </a:extLst>
          </p:cNvPr>
          <p:cNvSpPr/>
          <p:nvPr/>
        </p:nvSpPr>
        <p:spPr>
          <a:xfrm>
            <a:off x="1084290" y="1035756"/>
            <a:ext cx="97535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13131"/>
                </a:solidFill>
                <a:effectLst/>
                <a:latin typeface="PT Sans"/>
              </a:rPr>
              <a:t>어떤 </a:t>
            </a:r>
            <a:r>
              <a:rPr lang="ko-KR" altLang="en-US" b="0" i="0" dirty="0" err="1">
                <a:solidFill>
                  <a:srgbClr val="313131"/>
                </a:solidFill>
                <a:effectLst/>
                <a:latin typeface="PT Sans"/>
              </a:rPr>
              <a:t>함수값을</a:t>
            </a:r>
            <a:r>
              <a:rPr lang="ko-KR" altLang="en-US" b="0" i="0" dirty="0">
                <a:solidFill>
                  <a:srgbClr val="313131"/>
                </a:solidFill>
                <a:effectLst/>
                <a:latin typeface="PT Sans"/>
              </a:rPr>
              <a:t> 최소화하기 위해 임의의 시작점을 잡은 후 해당 지점에서의 </a:t>
            </a:r>
            <a:r>
              <a:rPr lang="ko-KR" altLang="en-US" b="0" i="0" dirty="0" err="1">
                <a:solidFill>
                  <a:srgbClr val="313131"/>
                </a:solidFill>
                <a:effectLst/>
                <a:latin typeface="PT Sans"/>
              </a:rPr>
              <a:t>그래디언트</a:t>
            </a: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(</a:t>
            </a:r>
            <a:r>
              <a:rPr lang="ko-KR" altLang="en-US" b="0" i="0" dirty="0">
                <a:solidFill>
                  <a:srgbClr val="313131"/>
                </a:solidFill>
                <a:effectLst/>
                <a:latin typeface="PT Sans"/>
              </a:rPr>
              <a:t>경사</a:t>
            </a: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)</a:t>
            </a:r>
            <a:r>
              <a:rPr lang="ko-KR" altLang="en-US" b="0" i="0" dirty="0">
                <a:solidFill>
                  <a:srgbClr val="313131"/>
                </a:solidFill>
                <a:effectLst/>
                <a:latin typeface="PT Sans"/>
              </a:rPr>
              <a:t>를 구하고</a:t>
            </a: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, </a:t>
            </a:r>
            <a:r>
              <a:rPr lang="ko-KR" altLang="en-US" b="0" i="0" dirty="0" err="1">
                <a:solidFill>
                  <a:srgbClr val="313131"/>
                </a:solidFill>
                <a:effectLst/>
                <a:latin typeface="PT Sans"/>
              </a:rPr>
              <a:t>그래디언트의</a:t>
            </a:r>
            <a:r>
              <a:rPr lang="ko-KR" altLang="en-US" b="0" i="0" dirty="0">
                <a:solidFill>
                  <a:srgbClr val="313131"/>
                </a:solidFill>
                <a:effectLst/>
                <a:latin typeface="PT Sans"/>
              </a:rPr>
              <a:t> 반대 방향으로 조금씩 이동하는 과정을 여러 번 반복하는 것</a:t>
            </a: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.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7B87A383-9D74-465D-8812-F63B5C547693}"/>
              </a:ext>
            </a:extLst>
          </p:cNvPr>
          <p:cNvGrpSpPr/>
          <p:nvPr/>
        </p:nvGrpSpPr>
        <p:grpSpPr>
          <a:xfrm>
            <a:off x="1602806" y="1851324"/>
            <a:ext cx="9235083" cy="2839875"/>
            <a:chOff x="724527" y="1930407"/>
            <a:chExt cx="10245788" cy="3566795"/>
          </a:xfrm>
        </p:grpSpPr>
        <p:pic>
          <p:nvPicPr>
            <p:cNvPr id="8198" name="Picture 6" descr="05-03. 비용 최소화하기 - 경사 하강법(Gradient Descent) 소개">
              <a:extLst>
                <a:ext uri="{FF2B5EF4-FFF2-40B4-BE49-F238E27FC236}">
                  <a16:creationId xmlns:a16="http://schemas.microsoft.com/office/drawing/2014/main" id="{86D293E9-B252-43FD-83FF-C59373580F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4571" y="2350537"/>
              <a:ext cx="3195744" cy="30350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13">
              <a:hlinkClick r:id="" action="ppaction://media"/>
              <a:extLst>
                <a:ext uri="{FF2B5EF4-FFF2-40B4-BE49-F238E27FC236}">
                  <a16:creationId xmlns:a16="http://schemas.microsoft.com/office/drawing/2014/main" id="{919EE606-ACCD-401D-903A-5A27AD9A5B1A}"/>
                </a:ext>
              </a:extLst>
            </p:cNvPr>
            <p:cNvPicPr>
              <a:picLocks noChangeAspect="1"/>
            </p:cNvPicPr>
            <p:nvPr>
              <a:videoFile r:link="rId2"/>
              <p:extLst>
                <p:ext uri="{DAA4B4D4-6D71-4841-9C94-3DE7FCFB9230}">
                  <p14:media xmlns:p14="http://schemas.microsoft.com/office/powerpoint/2010/main" r:embed="rId1"/>
                </p:ext>
              </p:extLst>
            </p:nvPr>
          </p:nvPicPr>
          <p:blipFill>
            <a:blip r:embed="rId5"/>
            <a:stretch>
              <a:fillRect/>
            </a:stretch>
          </p:blipFill>
          <p:spPr>
            <a:xfrm>
              <a:off x="724527" y="2400909"/>
              <a:ext cx="6815525" cy="3096293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D36A0CB-B8AA-4BA6-895E-251E24A07A90}"/>
                </a:ext>
              </a:extLst>
            </p:cNvPr>
            <p:cNvSpPr/>
            <p:nvPr/>
          </p:nvSpPr>
          <p:spPr>
            <a:xfrm>
              <a:off x="1172991" y="1930407"/>
              <a:ext cx="7402500" cy="3865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400" b="0" i="0" dirty="0">
                  <a:solidFill>
                    <a:srgbClr val="222222"/>
                  </a:solidFill>
                  <a:effectLst/>
                  <a:latin typeface="-apple-system"/>
                </a:rPr>
                <a:t>&lt; </a:t>
              </a:r>
              <a:r>
                <a:rPr lang="ko-KR" altLang="en-US" sz="1400" b="0" i="0" dirty="0" err="1">
                  <a:solidFill>
                    <a:srgbClr val="222222"/>
                  </a:solidFill>
                  <a:effectLst/>
                  <a:latin typeface="-apple-system"/>
                </a:rPr>
                <a:t>경사하강법</a:t>
              </a:r>
              <a:r>
                <a:rPr lang="en-US" altLang="ko-KR" sz="1400" b="0" i="0" dirty="0">
                  <a:solidFill>
                    <a:srgbClr val="222222"/>
                  </a:solidFill>
                  <a:effectLst/>
                  <a:latin typeface="-apple-system"/>
                </a:rPr>
                <a:t>(gradient descent)</a:t>
              </a:r>
              <a:r>
                <a:rPr lang="ko-KR" altLang="en-US" sz="1400" b="0" i="0" dirty="0">
                  <a:solidFill>
                    <a:srgbClr val="222222"/>
                  </a:solidFill>
                  <a:effectLst/>
                  <a:latin typeface="-apple-system"/>
                </a:rPr>
                <a:t>을 이용해 비용함수의 최솟값을 찾는 과정 </a:t>
              </a:r>
              <a:r>
                <a:rPr lang="en-US" altLang="ko-KR" sz="1400" b="0" i="0" dirty="0">
                  <a:solidFill>
                    <a:srgbClr val="222222"/>
                  </a:solidFill>
                  <a:effectLst/>
                  <a:latin typeface="-apple-system"/>
                </a:rPr>
                <a:t>&gt;</a:t>
              </a:r>
              <a:endParaRPr lang="ko-KR" altLang="en-US" sz="1400" dirty="0"/>
            </a:p>
          </p:txBody>
        </p:sp>
      </p:grp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72A9B63-A69B-4F8F-9F35-81C8DC4A7B0E}"/>
              </a:ext>
            </a:extLst>
          </p:cNvPr>
          <p:cNvSpPr/>
          <p:nvPr/>
        </p:nvSpPr>
        <p:spPr>
          <a:xfrm>
            <a:off x="1126189" y="5038610"/>
            <a:ext cx="99396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step size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가 큰 경우 한 번 이동하는 거리가 커지므로 빠르게 수렴할 수 있다는 장점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. step size</a:t>
            </a:r>
            <a:r>
              <a:rPr lang="ko-KR" altLang="en-US" b="0" i="0" dirty="0">
                <a:solidFill>
                  <a:srgbClr val="222222"/>
                </a:solidFill>
                <a:effectLst/>
                <a:latin typeface="-apple-system"/>
              </a:rPr>
              <a:t>를 너무 크게 설정해버리면 최소값을 계산하도록 수렴하지 못하고 함수 값이 계속 커지는 방향으로 최적화가 진행될 수 있음</a:t>
            </a:r>
            <a:r>
              <a:rPr lang="en-US" altLang="ko-KR" b="0" i="0" dirty="0">
                <a:solidFill>
                  <a:srgbClr val="222222"/>
                </a:solidFill>
                <a:effectLst/>
                <a:latin typeface="-apple-system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step size</a:t>
            </a:r>
            <a:r>
              <a:rPr lang="ko-KR" altLang="en-US" dirty="0"/>
              <a:t>가 너무 작은 경우 발산하지는 않을 수 있지만 최적의 </a:t>
            </a:r>
            <a:r>
              <a:rPr lang="en-US" altLang="ko-KR" dirty="0"/>
              <a:t>x</a:t>
            </a:r>
            <a:r>
              <a:rPr lang="ko-KR" altLang="en-US" dirty="0"/>
              <a:t>를 구하는데 소요되는 시간이 오래 걸린다는 단점이 있음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35669744"/>
      </p:ext>
    </p:extLst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:a16="http://schemas.microsoft.com/office/drawing/2014/main" id="{B6532B1A-CDAA-4867-9002-A9C3D785ED85}"/>
              </a:ext>
            </a:extLst>
          </p:cNvPr>
          <p:cNvGrpSpPr/>
          <p:nvPr/>
        </p:nvGrpSpPr>
        <p:grpSpPr>
          <a:xfrm>
            <a:off x="1036775" y="273397"/>
            <a:ext cx="9601247" cy="3053015"/>
            <a:chOff x="1036775" y="375985"/>
            <a:chExt cx="9601247" cy="3053015"/>
          </a:xfrm>
        </p:grpSpPr>
        <p:pic>
          <p:nvPicPr>
            <p:cNvPr id="11266" name="Picture 2" descr="https://raw.githubusercontent.com/angeloyeo/angeloyeo.github.io/master/pics/2020-08-16-gradient_descent/pic4.png">
              <a:extLst>
                <a:ext uri="{FF2B5EF4-FFF2-40B4-BE49-F238E27FC236}">
                  <a16:creationId xmlns:a16="http://schemas.microsoft.com/office/drawing/2014/main" id="{B68CA818-C50F-4B72-AB73-1CB163567C1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98232" y="693494"/>
              <a:ext cx="7939790" cy="273550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BA8A95C9-4A20-4AA6-9012-C06FCDE48F4A}"/>
                </a:ext>
              </a:extLst>
            </p:cNvPr>
            <p:cNvSpPr/>
            <p:nvPr/>
          </p:nvSpPr>
          <p:spPr>
            <a:xfrm>
              <a:off x="2609515" y="375985"/>
              <a:ext cx="706036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b="0" i="0" dirty="0">
                  <a:solidFill>
                    <a:srgbClr val="222222"/>
                  </a:solidFill>
                  <a:effectLst/>
                  <a:latin typeface="-apple-system"/>
                </a:rPr>
                <a:t>&lt; step size</a:t>
              </a:r>
              <a:r>
                <a:rPr lang="ko-KR" altLang="en-US" b="0" i="0" dirty="0">
                  <a:solidFill>
                    <a:srgbClr val="222222"/>
                  </a:solidFill>
                  <a:effectLst/>
                  <a:latin typeface="-apple-system"/>
                </a:rPr>
                <a:t>를 선택하지 못하는 경우 수렴하지 않거나 발산하는 경우 </a:t>
              </a:r>
              <a:r>
                <a:rPr lang="en-US" altLang="ko-KR" b="0" i="0" dirty="0">
                  <a:solidFill>
                    <a:srgbClr val="222222"/>
                  </a:solidFill>
                  <a:effectLst/>
                  <a:latin typeface="-apple-system"/>
                </a:rPr>
                <a:t>&gt;</a:t>
              </a:r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BF80E3A1-4609-4983-BCEB-0F06A8EA3592}"/>
                </a:ext>
              </a:extLst>
            </p:cNvPr>
            <p:cNvSpPr/>
            <p:nvPr/>
          </p:nvSpPr>
          <p:spPr>
            <a:xfrm>
              <a:off x="1036775" y="1876581"/>
              <a:ext cx="152727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b="1" dirty="0">
                  <a:solidFill>
                    <a:srgbClr val="000000"/>
                  </a:solidFill>
                  <a:latin typeface="-apple-system"/>
                </a:rPr>
                <a:t>Step</a:t>
              </a:r>
              <a:r>
                <a:rPr lang="ko-KR" altLang="en-US" b="1" dirty="0">
                  <a:solidFill>
                    <a:srgbClr val="000000"/>
                  </a:solidFill>
                  <a:latin typeface="-apple-system"/>
                </a:rPr>
                <a:t> </a:t>
              </a:r>
              <a:r>
                <a:rPr lang="en-US" altLang="ko-KR" b="1" dirty="0">
                  <a:solidFill>
                    <a:srgbClr val="000000"/>
                  </a:solidFill>
                  <a:latin typeface="-apple-system"/>
                </a:rPr>
                <a:t>size</a:t>
              </a:r>
              <a:r>
                <a:rPr lang="ko-KR" altLang="en-US" b="1" dirty="0">
                  <a:solidFill>
                    <a:srgbClr val="000000"/>
                  </a:solidFill>
                  <a:latin typeface="-apple-system"/>
                </a:rPr>
                <a:t> </a:t>
              </a:r>
              <a:r>
                <a:rPr lang="ko-KR" altLang="en-US" b="1" i="0" dirty="0">
                  <a:solidFill>
                    <a:srgbClr val="000000"/>
                  </a:solidFill>
                  <a:effectLst/>
                  <a:latin typeface="-apple-system"/>
                </a:rPr>
                <a:t>문제</a:t>
              </a: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:a16="http://schemas.microsoft.com/office/drawing/2014/main" id="{2F3162E6-F2E4-47CF-8BB4-2B101D508A21}"/>
              </a:ext>
            </a:extLst>
          </p:cNvPr>
          <p:cNvGrpSpPr/>
          <p:nvPr/>
        </p:nvGrpSpPr>
        <p:grpSpPr>
          <a:xfrm>
            <a:off x="1036775" y="3643921"/>
            <a:ext cx="10409774" cy="2900704"/>
            <a:chOff x="1036775" y="3694007"/>
            <a:chExt cx="10409774" cy="2900704"/>
          </a:xfrm>
        </p:grpSpPr>
        <p:pic>
          <p:nvPicPr>
            <p:cNvPr id="11268" name="Picture 4" descr="https://raw.githubusercontent.com/angeloyeo/angeloyeo.github.io/master/pics/2020-08-16-gradient_descent/pic5.png">
              <a:extLst>
                <a:ext uri="{FF2B5EF4-FFF2-40B4-BE49-F238E27FC236}">
                  <a16:creationId xmlns:a16="http://schemas.microsoft.com/office/drawing/2014/main" id="{207E5A3F-72AD-41F8-8AF6-30DB26E62C9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96715" y="4013509"/>
              <a:ext cx="2999285" cy="25812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3872092-516C-4072-A4F2-7E21B3BEEBC6}"/>
                </a:ext>
              </a:extLst>
            </p:cNvPr>
            <p:cNvSpPr/>
            <p:nvPr/>
          </p:nvSpPr>
          <p:spPr>
            <a:xfrm>
              <a:off x="1036775" y="4612088"/>
              <a:ext cx="1920975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ko-KR" b="1" i="0" dirty="0">
                  <a:solidFill>
                    <a:srgbClr val="000000"/>
                  </a:solidFill>
                  <a:effectLst/>
                  <a:latin typeface="-apple-system"/>
                </a:rPr>
                <a:t>local minima </a:t>
              </a:r>
              <a:r>
                <a:rPr lang="ko-KR" altLang="en-US" b="1" i="0" dirty="0">
                  <a:solidFill>
                    <a:srgbClr val="000000"/>
                  </a:solidFill>
                  <a:effectLst/>
                  <a:latin typeface="-apple-system"/>
                </a:rPr>
                <a:t>문제</a:t>
              </a: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5EAE926D-B2A7-4A91-85BB-A379E4F1ED0E}"/>
                </a:ext>
              </a:extLst>
            </p:cNvPr>
            <p:cNvSpPr/>
            <p:nvPr/>
          </p:nvSpPr>
          <p:spPr>
            <a:xfrm>
              <a:off x="6234965" y="4420435"/>
              <a:ext cx="5211584" cy="14773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ko-KR" altLang="en-US" b="0" i="0" dirty="0">
                  <a:solidFill>
                    <a:srgbClr val="222222"/>
                  </a:solidFill>
                  <a:effectLst/>
                  <a:latin typeface="-apple-system"/>
                </a:rPr>
                <a:t>실제로 우리가 찾고 싶은 것은 </a:t>
              </a:r>
              <a:r>
                <a:rPr lang="ko-KR" altLang="en-US" b="0" i="0" dirty="0" err="1">
                  <a:solidFill>
                    <a:srgbClr val="222222"/>
                  </a:solidFill>
                  <a:effectLst/>
                  <a:latin typeface="-apple-system"/>
                </a:rPr>
                <a:t>빨간점이</a:t>
              </a:r>
              <a:r>
                <a:rPr lang="ko-KR" altLang="en-US" b="0" i="0" dirty="0">
                  <a:solidFill>
                    <a:srgbClr val="222222"/>
                  </a:solidFill>
                  <a:effectLst/>
                  <a:latin typeface="-apple-system"/>
                </a:rPr>
                <a:t> 표시하는 </a:t>
              </a:r>
              <a:r>
                <a:rPr lang="en-US" altLang="ko-KR" b="0" i="0" dirty="0">
                  <a:solidFill>
                    <a:srgbClr val="222222"/>
                  </a:solidFill>
                  <a:effectLst/>
                  <a:latin typeface="-apple-system"/>
                </a:rPr>
                <a:t>global minimum</a:t>
              </a:r>
              <a:r>
                <a:rPr lang="ko-KR" altLang="en-US" b="0" i="0" dirty="0">
                  <a:solidFill>
                    <a:srgbClr val="222222"/>
                  </a:solidFill>
                  <a:effectLst/>
                  <a:latin typeface="-apple-system"/>
                </a:rPr>
                <a:t>이지만</a:t>
              </a:r>
              <a:r>
                <a:rPr lang="en-US" altLang="ko-KR" b="0" i="0" dirty="0">
                  <a:solidFill>
                    <a:srgbClr val="222222"/>
                  </a:solidFill>
                  <a:effectLst/>
                  <a:latin typeface="-apple-system"/>
                </a:rPr>
                <a:t>, gradient descent </a:t>
              </a:r>
              <a:r>
                <a:rPr lang="ko-KR" altLang="en-US" b="0" i="0" dirty="0">
                  <a:solidFill>
                    <a:srgbClr val="222222"/>
                  </a:solidFill>
                  <a:effectLst/>
                  <a:latin typeface="-apple-system"/>
                </a:rPr>
                <a:t>알고리즘을 시작하는 위치는 매번 랜덤하기 때문에 어떤 경우에는 </a:t>
              </a:r>
              <a:r>
                <a:rPr lang="en-US" altLang="ko-KR" b="0" i="0" dirty="0">
                  <a:solidFill>
                    <a:srgbClr val="222222"/>
                  </a:solidFill>
                  <a:effectLst/>
                  <a:latin typeface="-apple-system"/>
                </a:rPr>
                <a:t>local minima</a:t>
              </a:r>
              <a:r>
                <a:rPr lang="ko-KR" altLang="en-US" b="0" i="0" dirty="0">
                  <a:solidFill>
                    <a:srgbClr val="222222"/>
                  </a:solidFill>
                  <a:effectLst/>
                  <a:latin typeface="-apple-system"/>
                </a:rPr>
                <a:t>에 빠져 계속 헤어나오지 못하는 경우도</a:t>
              </a:r>
              <a:r>
                <a:rPr lang="en-US" altLang="ko-KR" b="0" i="0" dirty="0">
                  <a:solidFill>
                    <a:srgbClr val="222222"/>
                  </a:solidFill>
                  <a:effectLst/>
                  <a:latin typeface="-apple-system"/>
                </a:rPr>
                <a:t> </a:t>
              </a:r>
              <a:r>
                <a:rPr lang="ko-KR" altLang="en-US" b="0" i="0" dirty="0">
                  <a:solidFill>
                    <a:srgbClr val="222222"/>
                  </a:solidFill>
                  <a:effectLst/>
                  <a:latin typeface="-apple-system"/>
                </a:rPr>
                <a:t>생</a:t>
              </a:r>
              <a:r>
                <a:rPr lang="ko-KR" altLang="en-US" dirty="0">
                  <a:solidFill>
                    <a:srgbClr val="222222"/>
                  </a:solidFill>
                  <a:latin typeface="-apple-system"/>
                </a:rPr>
                <a:t>길 수 있음</a:t>
              </a:r>
              <a:r>
                <a:rPr lang="en-US" altLang="ko-KR" dirty="0">
                  <a:solidFill>
                    <a:srgbClr val="222222"/>
                  </a:solidFill>
                  <a:latin typeface="-apple-system"/>
                </a:rPr>
                <a:t>.</a:t>
              </a:r>
              <a:endParaRPr lang="ko-KR" altLang="en-US" b="0" i="0" dirty="0">
                <a:solidFill>
                  <a:srgbClr val="222222"/>
                </a:solidFill>
                <a:effectLst/>
                <a:latin typeface="-apple-system"/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D3EF4AD4-A127-4BAF-BF50-2A825D81816D}"/>
                </a:ext>
              </a:extLst>
            </p:cNvPr>
            <p:cNvSpPr/>
            <p:nvPr/>
          </p:nvSpPr>
          <p:spPr>
            <a:xfrm>
              <a:off x="2092528" y="3694007"/>
              <a:ext cx="8284873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b="0" i="0" dirty="0">
                  <a:solidFill>
                    <a:srgbClr val="222222"/>
                  </a:solidFill>
                  <a:effectLst/>
                  <a:latin typeface="-apple-system"/>
                </a:rPr>
                <a:t>&lt; </a:t>
              </a:r>
              <a:r>
                <a:rPr lang="ko-KR" altLang="en-US" b="0" i="0" dirty="0">
                  <a:solidFill>
                    <a:srgbClr val="222222"/>
                  </a:solidFill>
                  <a:effectLst/>
                  <a:latin typeface="-apple-system"/>
                </a:rPr>
                <a:t>실제로 얻고 싶은 값과 다르게 잘못 되면 </a:t>
              </a:r>
              <a:r>
                <a:rPr lang="en-US" altLang="ko-KR" b="0" i="0" dirty="0">
                  <a:solidFill>
                    <a:srgbClr val="222222"/>
                  </a:solidFill>
                  <a:effectLst/>
                  <a:latin typeface="-apple-system"/>
                </a:rPr>
                <a:t>local minima(</a:t>
              </a:r>
              <a:r>
                <a:rPr lang="ko-KR" altLang="en-US" b="0" i="0" dirty="0">
                  <a:solidFill>
                    <a:srgbClr val="222222"/>
                  </a:solidFill>
                  <a:effectLst/>
                  <a:latin typeface="-apple-system"/>
                </a:rPr>
                <a:t>노란색</a:t>
              </a:r>
              <a:r>
                <a:rPr lang="en-US" altLang="ko-KR" b="0" i="0" dirty="0">
                  <a:solidFill>
                    <a:srgbClr val="222222"/>
                  </a:solidFill>
                  <a:effectLst/>
                  <a:latin typeface="-apple-system"/>
                </a:rPr>
                <a:t>)</a:t>
              </a:r>
              <a:r>
                <a:rPr lang="ko-KR" altLang="en-US" b="0" i="0" dirty="0">
                  <a:solidFill>
                    <a:srgbClr val="222222"/>
                  </a:solidFill>
                  <a:effectLst/>
                  <a:latin typeface="-apple-system"/>
                </a:rPr>
                <a:t>에 빠지기도 함 </a:t>
              </a:r>
              <a:r>
                <a:rPr lang="en-US" altLang="ko-KR" b="0" i="0" dirty="0">
                  <a:solidFill>
                    <a:srgbClr val="222222"/>
                  </a:solidFill>
                  <a:effectLst/>
                  <a:latin typeface="-apple-system"/>
                </a:rPr>
                <a:t>&gt;</a:t>
              </a:r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832424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C7F441D4-B239-45C5-9FBC-28BADE62E610}"/>
              </a:ext>
            </a:extLst>
          </p:cNvPr>
          <p:cNvSpPr/>
          <p:nvPr/>
        </p:nvSpPr>
        <p:spPr>
          <a:xfrm>
            <a:off x="724527" y="545705"/>
            <a:ext cx="636744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i="0" dirty="0">
                <a:solidFill>
                  <a:srgbClr val="313131"/>
                </a:solidFill>
                <a:effectLst/>
                <a:latin typeface="PT Sans"/>
              </a:rPr>
              <a:t>회귀식이 얼마나 정확한지 나타내는 숫자 </a:t>
            </a:r>
            <a:r>
              <a:rPr lang="en-US" altLang="ko-KR" sz="2000" b="1" i="0" dirty="0">
                <a:solidFill>
                  <a:srgbClr val="313131"/>
                </a:solidFill>
                <a:effectLst/>
                <a:latin typeface="PT Sans"/>
              </a:rPr>
              <a:t>- </a:t>
            </a:r>
            <a:r>
              <a:rPr lang="ko-KR" altLang="en-US" sz="2000" b="1" i="0" dirty="0">
                <a:solidFill>
                  <a:srgbClr val="313131"/>
                </a:solidFill>
                <a:effectLst/>
                <a:highlight>
                  <a:srgbClr val="FFFF00"/>
                </a:highlight>
                <a:latin typeface="PT Sans"/>
              </a:rPr>
              <a:t>결정계수</a:t>
            </a:r>
            <a:endParaRPr lang="ko-KR" altLang="en-US" sz="2000" b="1" dirty="0">
              <a:highlight>
                <a:srgbClr val="FFFF00"/>
              </a:highlight>
            </a:endParaRPr>
          </a:p>
        </p:txBody>
      </p:sp>
      <p:pic>
        <p:nvPicPr>
          <p:cNvPr id="10242" name="Picture 2" descr="Statistics - Simple &amp; Clear Engineer Note">
            <a:extLst>
              <a:ext uri="{FF2B5EF4-FFF2-40B4-BE49-F238E27FC236}">
                <a16:creationId xmlns:a16="http://schemas.microsoft.com/office/drawing/2014/main" id="{6438AA47-BF0B-4D08-B527-0D99FD9226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0133" y="2100291"/>
            <a:ext cx="3048000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결정계수란?">
            <a:extLst>
              <a:ext uri="{FF2B5EF4-FFF2-40B4-BE49-F238E27FC236}">
                <a16:creationId xmlns:a16="http://schemas.microsoft.com/office/drawing/2014/main" id="{9187E61B-C08B-4D61-A6DA-E9CDDF38F7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55819" y="1271615"/>
            <a:ext cx="6896100" cy="2771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D82A176D-5311-457A-B50C-38B6EC8AB0CB}"/>
              </a:ext>
            </a:extLst>
          </p:cNvPr>
          <p:cNvSpPr/>
          <p:nvPr/>
        </p:nvSpPr>
        <p:spPr>
          <a:xfrm>
            <a:off x="1084291" y="4573485"/>
            <a:ext cx="100384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i="0" dirty="0">
                <a:solidFill>
                  <a:srgbClr val="202124"/>
                </a:solidFill>
                <a:effectLst/>
                <a:latin typeface="Apple SD Gothic Neo"/>
              </a:rPr>
              <a:t>회귀 모델에서 독립변수가 종속변수를 얼마만큼 설명해 주는지를 가리키는 지표</a:t>
            </a:r>
            <a:endParaRPr lang="en-US" altLang="ko-KR" i="0" dirty="0">
              <a:solidFill>
                <a:srgbClr val="202124"/>
              </a:solidFill>
              <a:effectLst/>
              <a:latin typeface="Apple SD Gothic Neo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회귀직선의 적합도</a:t>
            </a:r>
            <a:r>
              <a:rPr lang="en-US" altLang="ko-KR" dirty="0"/>
              <a:t>(goodness-of-fit)</a:t>
            </a:r>
            <a:r>
              <a:rPr lang="ko-KR" altLang="en-US" dirty="0"/>
              <a:t>를 평가하거나 종속변수에 대한 설명변수들의 설명력을 알고자 할 때 이용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X</a:t>
            </a:r>
            <a:r>
              <a:rPr lang="ko-KR" altLang="en-US" dirty="0"/>
              <a:t>와 </a:t>
            </a:r>
            <a:r>
              <a:rPr lang="en-US" altLang="ko-KR" dirty="0"/>
              <a:t>Y</a:t>
            </a:r>
            <a:r>
              <a:rPr lang="ko-KR" altLang="en-US" dirty="0"/>
              <a:t>간의 상관관계가 클수록 </a:t>
            </a:r>
            <a:r>
              <a:rPr lang="en-US" altLang="ko-KR" dirty="0"/>
              <a:t>R2</a:t>
            </a:r>
            <a:r>
              <a:rPr lang="ko-KR" altLang="en-US" dirty="0"/>
              <a:t>의 값은 </a:t>
            </a:r>
            <a:r>
              <a:rPr lang="en-US" altLang="ko-KR" dirty="0"/>
              <a:t>1</a:t>
            </a:r>
            <a:r>
              <a:rPr lang="ko-KR" altLang="en-US" dirty="0"/>
              <a:t>에 가까워 짐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R2=0.40</a:t>
            </a:r>
            <a:r>
              <a:rPr lang="ko-KR" altLang="en-US" dirty="0"/>
              <a:t>인 경우 종속변수</a:t>
            </a:r>
            <a:r>
              <a:rPr lang="en-US" altLang="ko-KR" dirty="0"/>
              <a:t>(Y)</a:t>
            </a:r>
            <a:r>
              <a:rPr lang="ko-KR" altLang="en-US" dirty="0"/>
              <a:t>의 변동은 독립변수</a:t>
            </a:r>
            <a:r>
              <a:rPr lang="en-US" altLang="ko-KR" dirty="0"/>
              <a:t>(X)</a:t>
            </a:r>
            <a:r>
              <a:rPr lang="ko-KR" altLang="en-US" dirty="0"/>
              <a:t>의 변동에 의해 </a:t>
            </a:r>
            <a:r>
              <a:rPr lang="en-US" altLang="ko-KR" dirty="0"/>
              <a:t>40%</a:t>
            </a:r>
            <a:r>
              <a:rPr lang="ko-KR" altLang="en-US" dirty="0"/>
              <a:t>정도 설명된다고 해석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91644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4FB5A35-82E1-47FE-A6F1-6D3FE45ED0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341278"/>
              </p:ext>
            </p:extLst>
          </p:nvPr>
        </p:nvGraphicFramePr>
        <p:xfrm>
          <a:off x="1212044" y="1825228"/>
          <a:ext cx="9767912" cy="2468880"/>
        </p:xfrm>
        <a:graphic>
          <a:graphicData uri="http://schemas.openxmlformats.org/drawingml/2006/table">
            <a:tbl>
              <a:tblPr/>
              <a:tblGrid>
                <a:gridCol w="1308263">
                  <a:extLst>
                    <a:ext uri="{9D8B030D-6E8A-4147-A177-3AD203B41FA5}">
                      <a16:colId xmlns:a16="http://schemas.microsoft.com/office/drawing/2014/main" val="1006195850"/>
                    </a:ext>
                  </a:extLst>
                </a:gridCol>
                <a:gridCol w="3998915">
                  <a:extLst>
                    <a:ext uri="{9D8B030D-6E8A-4147-A177-3AD203B41FA5}">
                      <a16:colId xmlns:a16="http://schemas.microsoft.com/office/drawing/2014/main" val="1268336170"/>
                    </a:ext>
                  </a:extLst>
                </a:gridCol>
                <a:gridCol w="2480721">
                  <a:extLst>
                    <a:ext uri="{9D8B030D-6E8A-4147-A177-3AD203B41FA5}">
                      <a16:colId xmlns:a16="http://schemas.microsoft.com/office/drawing/2014/main" val="650304629"/>
                    </a:ext>
                  </a:extLst>
                </a:gridCol>
                <a:gridCol w="1980013">
                  <a:extLst>
                    <a:ext uri="{9D8B030D-6E8A-4147-A177-3AD203B41FA5}">
                      <a16:colId xmlns:a16="http://schemas.microsoft.com/office/drawing/2014/main" val="31312537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effectLst/>
                        </a:rPr>
                        <a:t>방법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Full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 err="1">
                          <a:effectLst/>
                        </a:rPr>
                        <a:t>잔차</a:t>
                      </a:r>
                      <a:r>
                        <a:rPr lang="ko-KR" altLang="en-US" dirty="0">
                          <a:effectLst/>
                        </a:rPr>
                        <a:t> 계산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dirty="0">
                          <a:effectLst/>
                        </a:rPr>
                        <a:t>이상치 영향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40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MAE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Mean Absolute Error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Absolute Value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6742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MSE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Mean Squared Error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Square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432573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RMSE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Root Mean Squared Error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Square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No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533468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MAPE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>
                          <a:effectLst/>
                        </a:rPr>
                        <a:t>Mean Absolute Percentage Error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Absolute Value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Yes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442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US">
                          <a:effectLst/>
                        </a:rPr>
                        <a:t>MPE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Mean Percentage Error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effectLst/>
                        </a:rPr>
                        <a:t>N/A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effectLst/>
                        </a:rPr>
                        <a:t>Yes</a:t>
                      </a:r>
                    </a:p>
                  </a:txBody>
                  <a:tcPr marT="53340" marB="83820" anchor="ctr">
                    <a:lnL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E6E6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53918963"/>
                  </a:ext>
                </a:extLst>
              </a:tr>
            </a:tbl>
          </a:graphicData>
        </a:graphic>
      </p:graphicFrame>
      <p:sp>
        <p:nvSpPr>
          <p:cNvPr id="5" name="직사각형 4">
            <a:extLst>
              <a:ext uri="{FF2B5EF4-FFF2-40B4-BE49-F238E27FC236}">
                <a16:creationId xmlns:a16="http://schemas.microsoft.com/office/drawing/2014/main" id="{4458F5EE-17CB-4843-B698-08B888C7240E}"/>
              </a:ext>
            </a:extLst>
          </p:cNvPr>
          <p:cNvSpPr/>
          <p:nvPr/>
        </p:nvSpPr>
        <p:spPr>
          <a:xfrm>
            <a:off x="2088629" y="4596574"/>
            <a:ext cx="8014742" cy="12868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Lato"/>
              </a:rPr>
              <a:t>회귀문제에서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Lato"/>
              </a:rPr>
              <a:t>RMSE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Lato"/>
              </a:rPr>
              <a:t>가 일반적으로 선호되는 방법이지만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Lato"/>
              </a:rPr>
              <a:t>, 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Lato"/>
              </a:rPr>
              <a:t>상황에 맞는 다른 방식을 사용해야 함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Lato"/>
              </a:rPr>
              <a:t>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b="0" i="0" dirty="0">
                <a:solidFill>
                  <a:srgbClr val="000000"/>
                </a:solidFill>
                <a:effectLst/>
                <a:latin typeface="Lato"/>
              </a:rPr>
              <a:t>특이 값이 많은 경우에는 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Lato"/>
              </a:rPr>
              <a:t>MAE</a:t>
            </a:r>
            <a:r>
              <a:rPr lang="ko-KR" altLang="en-US" b="0" i="0" dirty="0">
                <a:solidFill>
                  <a:srgbClr val="000000"/>
                </a:solidFill>
                <a:effectLst/>
                <a:latin typeface="Lato"/>
              </a:rPr>
              <a:t>를 사용하는게 좋음</a:t>
            </a:r>
            <a:r>
              <a:rPr lang="en-US" altLang="ko-KR" b="0" i="0" dirty="0">
                <a:solidFill>
                  <a:srgbClr val="000000"/>
                </a:solidFill>
                <a:effectLst/>
                <a:latin typeface="Lato"/>
              </a:rPr>
              <a:t>.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6D859B3-E936-4C0F-90F8-E6429DD4E16D}"/>
              </a:ext>
            </a:extLst>
          </p:cNvPr>
          <p:cNvSpPr/>
          <p:nvPr/>
        </p:nvSpPr>
        <p:spPr>
          <a:xfrm>
            <a:off x="724527" y="545705"/>
            <a:ext cx="208262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평가지표 정리</a:t>
            </a:r>
            <a:endParaRPr lang="ko-KR" altLang="en-US" sz="2000" b="1" dirty="0">
              <a:highlight>
                <a:srgbClr val="FFFF00"/>
              </a:highlight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AC5D0D-3147-47CA-B97E-5F5120C62085}"/>
              </a:ext>
            </a:extLst>
          </p:cNvPr>
          <p:cNvSpPr/>
          <p:nvPr/>
        </p:nvSpPr>
        <p:spPr>
          <a:xfrm>
            <a:off x="1212044" y="1150089"/>
            <a:ext cx="9490933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실제 데이터 표본과 예측데이터의 차이를 표현해 성능을 검토하기 위한 지표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44044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60E67BE-0AE8-45F0-818C-2EE47EAC7961}"/>
              </a:ext>
            </a:extLst>
          </p:cNvPr>
          <p:cNvSpPr/>
          <p:nvPr/>
        </p:nvSpPr>
        <p:spPr>
          <a:xfrm>
            <a:off x="724527" y="545705"/>
            <a:ext cx="29931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회귀의 성능 평가 지표</a:t>
            </a:r>
            <a:endParaRPr lang="ko-KR" altLang="en-US" sz="2000" b="1" dirty="0">
              <a:highlight>
                <a:srgbClr val="FFFF00"/>
              </a:highlight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68EF4D-8BEE-4BA7-A7BA-48D33DA9A116}"/>
              </a:ext>
            </a:extLst>
          </p:cNvPr>
          <p:cNvSpPr/>
          <p:nvPr/>
        </p:nvSpPr>
        <p:spPr>
          <a:xfrm>
            <a:off x="1084290" y="1035756"/>
            <a:ext cx="9753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MAE(Mean Absolute Error) : </a:t>
            </a:r>
            <a:r>
              <a:rPr lang="ko-KR" altLang="en-US" dirty="0"/>
              <a:t>실제 값과 </a:t>
            </a:r>
            <a:r>
              <a:rPr lang="ko-KR" altLang="en-US" dirty="0" err="1"/>
              <a:t>예측값의</a:t>
            </a:r>
            <a:r>
              <a:rPr lang="ko-KR" altLang="en-US" dirty="0"/>
              <a:t> 차이를 절댓값으로 변환해 평균한 것</a:t>
            </a: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 </a:t>
            </a:r>
            <a:endParaRPr lang="ko-KR" altLang="en-US" dirty="0"/>
          </a:p>
        </p:txBody>
      </p:sp>
      <p:pic>
        <p:nvPicPr>
          <p:cNvPr id="9218" name="Picture 2" descr="https://k.kakaocdn.net/dn/cmangf/btqKSgcfl8X/XO7q4FXg82JK605LltQRok/img.jpg">
            <a:extLst>
              <a:ext uri="{FF2B5EF4-FFF2-40B4-BE49-F238E27FC236}">
                <a16:creationId xmlns:a16="http://schemas.microsoft.com/office/drawing/2014/main" id="{D6B4C385-26C4-4A42-97A8-C0A6D8163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6449" y="1589936"/>
            <a:ext cx="3619734" cy="16290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0" name="Picture 4" descr="https://k.kakaocdn.net/dn/A0vg2/btqKJ21prg3/qW1DU9ABDuAa7FYhialdtK/img.jpg">
            <a:extLst>
              <a:ext uri="{FF2B5EF4-FFF2-40B4-BE49-F238E27FC236}">
                <a16:creationId xmlns:a16="http://schemas.microsoft.com/office/drawing/2014/main" id="{49D564DB-ADBE-4B67-AF1E-36A4155C53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4632" y="1495028"/>
            <a:ext cx="3052473" cy="22893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0D4CFB-7F85-47E3-B652-4930359371E6}"/>
              </a:ext>
            </a:extLst>
          </p:cNvPr>
          <p:cNvSpPr/>
          <p:nvPr/>
        </p:nvSpPr>
        <p:spPr>
          <a:xfrm>
            <a:off x="1084289" y="3880902"/>
            <a:ext cx="9753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13131"/>
                </a:solidFill>
                <a:latin typeface="PT Sans"/>
              </a:rPr>
              <a:t>MSE (Mean Squared Log Error)</a:t>
            </a: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: </a:t>
            </a:r>
            <a:r>
              <a:rPr lang="ko-KR" altLang="en-US" dirty="0"/>
              <a:t>실제 값과 </a:t>
            </a:r>
            <a:r>
              <a:rPr lang="ko-KR" altLang="en-US" dirty="0" err="1"/>
              <a:t>예측값의</a:t>
            </a:r>
            <a:r>
              <a:rPr lang="ko-KR" altLang="en-US" dirty="0"/>
              <a:t> 차이를 제곱해 평균한 것</a:t>
            </a: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 </a:t>
            </a:r>
            <a:endParaRPr lang="ko-KR" altLang="en-US" dirty="0"/>
          </a:p>
        </p:txBody>
      </p:sp>
      <p:pic>
        <p:nvPicPr>
          <p:cNvPr id="9222" name="Picture 6" descr="https://k.kakaocdn.net/dn/KL3ou/btqKLE0cVyS/kF1HWy1n030tnX7nBKTblk/img.png">
            <a:extLst>
              <a:ext uri="{FF2B5EF4-FFF2-40B4-BE49-F238E27FC236}">
                <a16:creationId xmlns:a16="http://schemas.microsoft.com/office/drawing/2014/main" id="{F924EBBD-D4F5-4BB8-9DDB-CAC8781E50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25491" y="4490948"/>
            <a:ext cx="2796017" cy="1118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4" name="Picture 8" descr="https://k.kakaocdn.net/dn/bcc0Uc/btqKRtpDJao/hMAy23iipYRCXkEhZXjDVk/img.png">
            <a:extLst>
              <a:ext uri="{FF2B5EF4-FFF2-40B4-BE49-F238E27FC236}">
                <a16:creationId xmlns:a16="http://schemas.microsoft.com/office/drawing/2014/main" id="{27B62971-E69B-4F15-8E88-857F28FD4F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88" y="4340175"/>
            <a:ext cx="2796017" cy="2160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11837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https://k.kakaocdn.net/dn/CmKgn/btqPYSLBLub/6oSuG6bvsuxnkwGuCrFMm0/img.jpg">
            <a:extLst>
              <a:ext uri="{FF2B5EF4-FFF2-40B4-BE49-F238E27FC236}">
                <a16:creationId xmlns:a16="http://schemas.microsoft.com/office/drawing/2014/main" id="{D2B36B87-70CB-4AA8-8048-79C400BA7C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9950" y="4195242"/>
            <a:ext cx="3198292" cy="23987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160E67BE-0AE8-45F0-818C-2EE47EAC7961}"/>
              </a:ext>
            </a:extLst>
          </p:cNvPr>
          <p:cNvSpPr/>
          <p:nvPr/>
        </p:nvSpPr>
        <p:spPr>
          <a:xfrm>
            <a:off x="724527" y="545705"/>
            <a:ext cx="29931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회귀의 성능 평가 지표</a:t>
            </a:r>
            <a:endParaRPr lang="ko-KR" altLang="en-US" sz="2000" b="1" dirty="0">
              <a:highlight>
                <a:srgbClr val="FFFF00"/>
              </a:highlight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68EF4D-8BEE-4BA7-A7BA-48D33DA9A116}"/>
              </a:ext>
            </a:extLst>
          </p:cNvPr>
          <p:cNvSpPr/>
          <p:nvPr/>
        </p:nvSpPr>
        <p:spPr>
          <a:xfrm>
            <a:off x="1084290" y="1035756"/>
            <a:ext cx="9753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MAPE (Mean Absolute Percentage Error)</a:t>
            </a: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: </a:t>
            </a:r>
            <a:r>
              <a:rPr lang="en-US" altLang="ko-KR" dirty="0"/>
              <a:t>MAE</a:t>
            </a:r>
            <a:r>
              <a:rPr lang="ko-KR" altLang="en-US" dirty="0"/>
              <a:t>를 퍼센트로 변환</a:t>
            </a:r>
            <a:r>
              <a:rPr lang="en-US" altLang="ko-KR" dirty="0"/>
              <a:t>, </a:t>
            </a:r>
            <a:r>
              <a:rPr lang="ko-KR" altLang="en-US" dirty="0"/>
              <a:t>모델에 대한 편향이 존재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0D4CFB-7F85-47E3-B652-4930359371E6}"/>
              </a:ext>
            </a:extLst>
          </p:cNvPr>
          <p:cNvSpPr/>
          <p:nvPr/>
        </p:nvSpPr>
        <p:spPr>
          <a:xfrm>
            <a:off x="1084289" y="3880902"/>
            <a:ext cx="97535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13131"/>
                </a:solidFill>
                <a:latin typeface="PT Sans"/>
              </a:rPr>
              <a:t>MPE (Mean Percentage Error): </a:t>
            </a:r>
            <a:r>
              <a:rPr lang="en-US" altLang="ko-KR" dirty="0"/>
              <a:t>MAPE</a:t>
            </a:r>
            <a:r>
              <a:rPr lang="ko-KR" altLang="en-US" dirty="0"/>
              <a:t>에서 절대값을 제외한 지표</a:t>
            </a:r>
            <a:r>
              <a:rPr lang="en-US" altLang="ko-KR" dirty="0">
                <a:solidFill>
                  <a:srgbClr val="313131"/>
                </a:solidFill>
                <a:latin typeface="PT Sans"/>
              </a:rPr>
              <a:t>: </a:t>
            </a:r>
            <a:endParaRPr lang="ko-KR" altLang="en-US" dirty="0"/>
          </a:p>
        </p:txBody>
      </p:sp>
      <p:pic>
        <p:nvPicPr>
          <p:cNvPr id="13314" name="Picture 2" descr="https://k.kakaocdn.net/dn/bT9d4i/btqPTDBKfSs/NJYQp4VNSiPKqmzBz2Bds0/img.jpg">
            <a:extLst>
              <a:ext uri="{FF2B5EF4-FFF2-40B4-BE49-F238E27FC236}">
                <a16:creationId xmlns:a16="http://schemas.microsoft.com/office/drawing/2014/main" id="{03220C3B-F256-40BB-B314-24C5B175C4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0933" y="1463398"/>
            <a:ext cx="3198292" cy="2185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18" name="Picture 6" descr="MPE Equation">
            <a:extLst>
              <a:ext uri="{FF2B5EF4-FFF2-40B4-BE49-F238E27FC236}">
                <a16:creationId xmlns:a16="http://schemas.microsoft.com/office/drawing/2014/main" id="{5ED74256-CEA7-4000-BC4F-3C21913BF2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916" y="4977856"/>
            <a:ext cx="2998034" cy="6353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0" name="Picture 8" descr="MAPE Equation">
            <a:extLst>
              <a:ext uri="{FF2B5EF4-FFF2-40B4-BE49-F238E27FC236}">
                <a16:creationId xmlns:a16="http://schemas.microsoft.com/office/drawing/2014/main" id="{465E1B3A-EFB4-4DEA-947A-7F0A4A9F13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3909" y="2054124"/>
            <a:ext cx="2796014" cy="1003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322" name="Picture 10" descr="MAPE Bad">
            <a:extLst>
              <a:ext uri="{FF2B5EF4-FFF2-40B4-BE49-F238E27FC236}">
                <a16:creationId xmlns:a16="http://schemas.microsoft.com/office/drawing/2014/main" id="{E43D000A-2289-4218-935F-16A62A0C9D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/>
        </p:blipFill>
        <p:spPr bwMode="auto">
          <a:xfrm>
            <a:off x="7734925" y="2166865"/>
            <a:ext cx="3861313" cy="949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6100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160E67BE-0AE8-45F0-818C-2EE47EAC7961}"/>
              </a:ext>
            </a:extLst>
          </p:cNvPr>
          <p:cNvSpPr/>
          <p:nvPr/>
        </p:nvSpPr>
        <p:spPr>
          <a:xfrm>
            <a:off x="724527" y="545705"/>
            <a:ext cx="299312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회귀의 성능 평가 지표</a:t>
            </a:r>
            <a:endParaRPr lang="ko-KR" altLang="en-US" sz="2000" b="1" dirty="0">
              <a:highlight>
                <a:srgbClr val="FFFF00"/>
              </a:highlight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2C68EF4D-8BEE-4BA7-A7BA-48D33DA9A116}"/>
              </a:ext>
            </a:extLst>
          </p:cNvPr>
          <p:cNvSpPr/>
          <p:nvPr/>
        </p:nvSpPr>
        <p:spPr>
          <a:xfrm>
            <a:off x="1084290" y="1035756"/>
            <a:ext cx="975359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13131"/>
                </a:solidFill>
                <a:latin typeface="PT Sans"/>
              </a:rPr>
              <a:t>RMSE (Root Mean Squared </a:t>
            </a:r>
            <a:r>
              <a:rPr lang="en-US" altLang="ko-KR" dirty="0" err="1">
                <a:solidFill>
                  <a:srgbClr val="313131"/>
                </a:solidFill>
                <a:latin typeface="PT Sans"/>
              </a:rPr>
              <a:t>Eerror</a:t>
            </a:r>
            <a:r>
              <a:rPr lang="en-US" altLang="ko-KR" dirty="0">
                <a:solidFill>
                  <a:srgbClr val="313131"/>
                </a:solidFill>
                <a:latin typeface="PT Sans"/>
              </a:rPr>
              <a:t>)</a:t>
            </a: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: </a:t>
            </a:r>
            <a:r>
              <a:rPr lang="en-US" altLang="ko-KR" dirty="0"/>
              <a:t>MSE </a:t>
            </a:r>
            <a:r>
              <a:rPr lang="ko-KR" altLang="en-US" dirty="0"/>
              <a:t>같은 오류의 제곱을 </a:t>
            </a:r>
            <a:r>
              <a:rPr lang="ko-KR" altLang="en-US" dirty="0" err="1"/>
              <a:t>구할때</a:t>
            </a:r>
            <a:r>
              <a:rPr lang="ko-KR" altLang="en-US" dirty="0"/>
              <a:t> 실제 오류 평균보다 더 커지는 특성이 있으므로 </a:t>
            </a:r>
            <a:r>
              <a:rPr lang="en-US" altLang="ko-KR" dirty="0"/>
              <a:t>MSE</a:t>
            </a:r>
            <a:r>
              <a:rPr lang="ko-KR" altLang="en-US" dirty="0"/>
              <a:t>에 루트를 씌운 것</a:t>
            </a:r>
            <a:r>
              <a:rPr lang="en-US" altLang="ko-KR" dirty="0"/>
              <a:t>.</a:t>
            </a: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 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80D4CFB-7F85-47E3-B652-4930359371E6}"/>
              </a:ext>
            </a:extLst>
          </p:cNvPr>
          <p:cNvSpPr/>
          <p:nvPr/>
        </p:nvSpPr>
        <p:spPr>
          <a:xfrm>
            <a:off x="923535" y="4375159"/>
            <a:ext cx="465694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13131"/>
                </a:solidFill>
                <a:latin typeface="PT Sans"/>
              </a:rPr>
              <a:t>R </a:t>
            </a:r>
            <a:r>
              <a:rPr lang="ko-KR" altLang="en-US" dirty="0">
                <a:solidFill>
                  <a:srgbClr val="313131"/>
                </a:solidFill>
                <a:latin typeface="PT Sans"/>
              </a:rPr>
              <a:t>제곱</a:t>
            </a:r>
            <a:r>
              <a:rPr lang="en-US" altLang="ko-KR" b="0" i="0" dirty="0">
                <a:solidFill>
                  <a:srgbClr val="313131"/>
                </a:solidFill>
                <a:effectLst/>
                <a:latin typeface="PT Sans"/>
              </a:rPr>
              <a:t>: </a:t>
            </a:r>
            <a:r>
              <a:rPr lang="ko-KR" altLang="en-US" dirty="0"/>
              <a:t>분산 기반으로 예측 성능을 평가</a:t>
            </a:r>
            <a:r>
              <a:rPr lang="en-US" altLang="ko-KR" dirty="0"/>
              <a:t>, </a:t>
            </a:r>
            <a:r>
              <a:rPr lang="ko-KR" altLang="en-US" dirty="0"/>
              <a:t>분산 대비 </a:t>
            </a:r>
            <a:r>
              <a:rPr lang="ko-KR" altLang="en-US" dirty="0" err="1"/>
              <a:t>예측값의</a:t>
            </a:r>
            <a:r>
              <a:rPr lang="ko-KR" altLang="en-US" dirty="0"/>
              <a:t> 분산 비율을 지표로 하며</a:t>
            </a:r>
            <a:r>
              <a:rPr lang="en-US" altLang="ko-KR" dirty="0"/>
              <a:t>, 1</a:t>
            </a:r>
            <a:r>
              <a:rPr lang="ko-KR" altLang="en-US" dirty="0"/>
              <a:t>에 가까울 수록 예측 정확도가 높다</a:t>
            </a:r>
            <a:r>
              <a:rPr lang="en-US" altLang="ko-KR" dirty="0"/>
              <a:t>. </a:t>
            </a:r>
            <a:endParaRPr lang="ko-KR" altLang="en-US" dirty="0"/>
          </a:p>
        </p:txBody>
      </p:sp>
      <p:pic>
        <p:nvPicPr>
          <p:cNvPr id="12290" name="Picture 2" descr="https://k.kakaocdn.net/dn/bU39A9/btqKIpPZ50F/s4OhjS93HwDIPbiMTJC7tk/img.png">
            <a:extLst>
              <a:ext uri="{FF2B5EF4-FFF2-40B4-BE49-F238E27FC236}">
                <a16:creationId xmlns:a16="http://schemas.microsoft.com/office/drawing/2014/main" id="{D0227239-202E-4ACC-8828-CF4E71DBCD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2626" y="1985049"/>
            <a:ext cx="3078761" cy="9573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296" name="Picture 8" descr="https://k.kakaocdn.net/dn/dlvZnQ/btqPW0ckxwH/LQpmq75Q8F6WaHgIoOjtI1/img.png">
            <a:extLst>
              <a:ext uri="{FF2B5EF4-FFF2-40B4-BE49-F238E27FC236}">
                <a16:creationId xmlns:a16="http://schemas.microsoft.com/office/drawing/2014/main" id="{D2C02658-3578-405E-8557-F23FD4BC56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1089" y="1880118"/>
            <a:ext cx="5381625" cy="46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직사각형 13">
            <a:extLst>
              <a:ext uri="{FF2B5EF4-FFF2-40B4-BE49-F238E27FC236}">
                <a16:creationId xmlns:a16="http://schemas.microsoft.com/office/drawing/2014/main" id="{67E6BBC7-CF30-46F4-8E31-AD6C414CF624}"/>
              </a:ext>
            </a:extLst>
          </p:cNvPr>
          <p:cNvSpPr/>
          <p:nvPr/>
        </p:nvSpPr>
        <p:spPr>
          <a:xfrm>
            <a:off x="923536" y="3305622"/>
            <a:ext cx="48027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>
                <a:solidFill>
                  <a:srgbClr val="313131"/>
                </a:solidFill>
                <a:latin typeface="PT Sans"/>
              </a:rPr>
              <a:t>MSLE (Mean Squared Log Error): </a:t>
            </a:r>
            <a:r>
              <a:rPr lang="en-US" altLang="ko-KR" dirty="0"/>
              <a:t>MSE</a:t>
            </a:r>
            <a:r>
              <a:rPr lang="ko-KR" altLang="en-US" dirty="0"/>
              <a:t>에 로그를 적용해준 지표</a:t>
            </a:r>
          </a:p>
        </p:txBody>
      </p:sp>
    </p:spTree>
    <p:extLst>
      <p:ext uri="{BB962C8B-B14F-4D97-AF65-F5344CB8AC3E}">
        <p14:creationId xmlns:p14="http://schemas.microsoft.com/office/powerpoint/2010/main" val="4192640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45353F35-5483-4C38-83E6-D59DBD1895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706108"/>
              </p:ext>
            </p:extLst>
          </p:nvPr>
        </p:nvGraphicFramePr>
        <p:xfrm>
          <a:off x="687035" y="390465"/>
          <a:ext cx="10817930" cy="5867206"/>
        </p:xfrm>
        <a:graphic>
          <a:graphicData uri="http://schemas.openxmlformats.org/drawingml/2006/table">
            <a:tbl>
              <a:tblPr/>
              <a:tblGrid>
                <a:gridCol w="2923039">
                  <a:extLst>
                    <a:ext uri="{9D8B030D-6E8A-4147-A177-3AD203B41FA5}">
                      <a16:colId xmlns:a16="http://schemas.microsoft.com/office/drawing/2014/main" val="2677897705"/>
                    </a:ext>
                  </a:extLst>
                </a:gridCol>
                <a:gridCol w="7894891">
                  <a:extLst>
                    <a:ext uri="{9D8B030D-6E8A-4147-A177-3AD203B41FA5}">
                      <a16:colId xmlns:a16="http://schemas.microsoft.com/office/drawing/2014/main" val="3047946659"/>
                    </a:ext>
                  </a:extLst>
                </a:gridCol>
              </a:tblGrid>
              <a:tr h="417080"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ko-KR" altLang="en-US" sz="2400" b="1" dirty="0">
                          <a:effectLst/>
                          <a:latin typeface="+mn-lt"/>
                        </a:rPr>
                        <a:t>회귀의 유형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28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ko-KR" altLang="en-US" sz="1800" b="1">
                          <a:effectLst/>
                          <a:latin typeface="+mn-lt"/>
                        </a:rPr>
                        <a:t>조건</a:t>
                      </a:r>
                    </a:p>
                  </a:txBody>
                  <a:tcPr marL="39921" marR="39921" marT="19960" marB="199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28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395284"/>
                  </a:ext>
                </a:extLst>
              </a:tr>
              <a:tr h="441670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 dirty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 dirty="0" err="1">
                          <a:effectLst/>
                          <a:latin typeface="+mn-lt"/>
                        </a:rPr>
                        <a:t>일변량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Univariate)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228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 dirty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오직 하나의 양적 독립변수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설명변수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2286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1082559"/>
                  </a:ext>
                </a:extLst>
              </a:tr>
              <a:tr h="441670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다변량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(</a:t>
                      </a:r>
                      <a:r>
                        <a:rPr lang="en-US" sz="1800" b="0">
                          <a:effectLst/>
                          <a:latin typeface="+mn-lt"/>
                        </a:rPr>
                        <a:t>Multivariate)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두 개 이상의 양적 독립변수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설명변수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9697377"/>
                  </a:ext>
                </a:extLst>
              </a:tr>
              <a:tr h="441670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단순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(</a:t>
                      </a:r>
                      <a:r>
                        <a:rPr lang="en-US" sz="1800" b="0">
                          <a:effectLst/>
                          <a:latin typeface="+mn-lt"/>
                        </a:rPr>
                        <a:t>Simple)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오직 하나의 종속변수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반응변수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49087"/>
                  </a:ext>
                </a:extLst>
              </a:tr>
              <a:tr h="441670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다중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(</a:t>
                      </a:r>
                      <a:r>
                        <a:rPr lang="en-US" sz="1800" b="0">
                          <a:effectLst/>
                          <a:latin typeface="+mn-lt"/>
                        </a:rPr>
                        <a:t>Multiple)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두 개 이상의 종속변수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반응변수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637010"/>
                  </a:ext>
                </a:extLst>
              </a:tr>
              <a:tr h="640118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 dirty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선형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Linear)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800" b="0" dirty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데이터에 대하여 가능한 변환을 취한 후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, 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모든 계수들이 방정식에 선형적으로 삽입되어 있음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066820"/>
                  </a:ext>
                </a:extLst>
              </a:tr>
              <a:tr h="1257309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 dirty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비선형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en-US" sz="1800" b="0" dirty="0">
                          <a:effectLst/>
                          <a:latin typeface="+mn-lt"/>
                        </a:rPr>
                        <a:t>Nonlinear)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00000"/>
                        </a:lnSpc>
                      </a:pPr>
                      <a:r>
                        <a:rPr lang="en-US" altLang="ko-KR" sz="1800" b="0" dirty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종속변수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반응변수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)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와 일부 독립변수들의 관계가 비선형이거나 일부 계수들이 비선형적으로 나타남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. 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계수들을 선형적으로 나타나게 하는 어떤 변환도 가능하지 않음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4290494"/>
                  </a:ext>
                </a:extLst>
              </a:tr>
              <a:tr h="441670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분산분석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(</a:t>
                      </a:r>
                      <a:r>
                        <a:rPr lang="en-US" sz="1800" b="0">
                          <a:effectLst/>
                          <a:latin typeface="+mn-lt"/>
                        </a:rPr>
                        <a:t>ANOVA)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모든 독립변수들이 질적 변수임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8798537"/>
                  </a:ext>
                </a:extLst>
              </a:tr>
              <a:tr h="650295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공분산분석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(</a:t>
                      </a:r>
                      <a:r>
                        <a:rPr lang="en-US" sz="1800" b="0">
                          <a:effectLst/>
                          <a:latin typeface="+mn-lt"/>
                        </a:rPr>
                        <a:t>ANCOVA)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어떤 독립변수들은 양적변수이고 다른 독립변수들은 질적변수임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6089692"/>
                  </a:ext>
                </a:extLst>
              </a:tr>
              <a:tr h="441670"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>
                          <a:effectLst/>
                          <a:latin typeface="+mn-lt"/>
                        </a:rPr>
                        <a:t>로지스틱</a:t>
                      </a:r>
                      <a:r>
                        <a:rPr lang="en-US" altLang="ko-KR" sz="1800" b="0">
                          <a:effectLst/>
                          <a:latin typeface="+mn-lt"/>
                        </a:rPr>
                        <a:t>(</a:t>
                      </a:r>
                      <a:r>
                        <a:rPr lang="en-US" sz="1800" b="0">
                          <a:effectLst/>
                          <a:latin typeface="+mn-lt"/>
                        </a:rPr>
                        <a:t>Logistic)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altLang="ko-KR" sz="1800" b="0" dirty="0">
                          <a:effectLst/>
                          <a:latin typeface="+mn-lt"/>
                        </a:rPr>
                        <a:t>- 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종속변수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(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반응변수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)</a:t>
                      </a:r>
                      <a:r>
                        <a:rPr lang="ko-KR" altLang="en-US" sz="1800" b="0" dirty="0">
                          <a:effectLst/>
                          <a:latin typeface="+mn-lt"/>
                        </a:rPr>
                        <a:t>가 질적변수임</a:t>
                      </a:r>
                      <a:r>
                        <a:rPr lang="en-US" altLang="ko-KR" sz="1800" b="0" dirty="0">
                          <a:effectLst/>
                          <a:latin typeface="+mn-lt"/>
                        </a:rPr>
                        <a:t>.</a:t>
                      </a:r>
                    </a:p>
                  </a:txBody>
                  <a:tcPr marL="39921" marR="39921" marT="33267" marB="33267" anchor="ctr">
                    <a:lnL>
                      <a:noFill/>
                    </a:lnL>
                    <a:lnR>
                      <a:noFill/>
                    </a:lnR>
                    <a:lnT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65546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498853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그룹 21">
            <a:extLst>
              <a:ext uri="{FF2B5EF4-FFF2-40B4-BE49-F238E27FC236}">
                <a16:creationId xmlns:a16="http://schemas.microsoft.com/office/drawing/2014/main" id="{0CF6CC35-7EC0-49F7-8E22-A88866D834B6}"/>
              </a:ext>
            </a:extLst>
          </p:cNvPr>
          <p:cNvGrpSpPr/>
          <p:nvPr/>
        </p:nvGrpSpPr>
        <p:grpSpPr>
          <a:xfrm>
            <a:off x="686268" y="381994"/>
            <a:ext cx="7273509" cy="1089484"/>
            <a:chOff x="686268" y="142151"/>
            <a:chExt cx="7273509" cy="10894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EA1BC041-1C49-4044-92D9-B7CC2AB66CFC}"/>
                </a:ext>
              </a:extLst>
            </p:cNvPr>
            <p:cNvSpPr/>
            <p:nvPr/>
          </p:nvSpPr>
          <p:spPr>
            <a:xfrm>
              <a:off x="686268" y="142151"/>
              <a:ext cx="36308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fontAlgn="base">
                <a:buFont typeface="Wingdings" panose="05000000000000000000" pitchFamily="2" charset="2"/>
                <a:buChar char="l"/>
              </a:pPr>
              <a:r>
                <a:rPr lang="ko-KR" altLang="en-US" b="1" i="0" dirty="0">
                  <a:effectLst/>
                  <a:latin typeface="NanumSquareRound"/>
                </a:rPr>
                <a:t>일반 선형 회귀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56359FAA-E487-4C82-A67F-BA5CCBEB22B3}"/>
                </a:ext>
              </a:extLst>
            </p:cNvPr>
            <p:cNvSpPr/>
            <p:nvPr/>
          </p:nvSpPr>
          <p:spPr>
            <a:xfrm>
              <a:off x="1084288" y="585304"/>
              <a:ext cx="6875489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b="0" i="0" dirty="0" err="1">
                  <a:solidFill>
                    <a:srgbClr val="555555"/>
                  </a:solidFill>
                  <a:effectLst/>
                  <a:latin typeface="NanumSquareRound"/>
                </a:rPr>
                <a:t>예측값과</a:t>
              </a:r>
              <a:r>
                <a:rPr lang="ko-KR" altLang="en-US" b="0" i="0" dirty="0">
                  <a:solidFill>
                    <a:srgbClr val="555555"/>
                  </a:solidFill>
                  <a:effectLst/>
                  <a:latin typeface="NanumSquareRound"/>
                </a:rPr>
                <a:t> </a:t>
              </a:r>
              <a:r>
                <a:rPr lang="ko-KR" altLang="en-US" b="0" i="0" dirty="0" err="1">
                  <a:solidFill>
                    <a:srgbClr val="555555"/>
                  </a:solidFill>
                  <a:effectLst/>
                  <a:latin typeface="NanumSquareRound"/>
                </a:rPr>
                <a:t>실제값의</a:t>
              </a:r>
              <a:r>
                <a:rPr lang="ko-KR" altLang="en-US" b="0" i="0" dirty="0">
                  <a:solidFill>
                    <a:srgbClr val="555555"/>
                  </a:solidFill>
                  <a:effectLst/>
                  <a:latin typeface="NanumSquareRound"/>
                </a:rPr>
                <a:t> </a:t>
              </a:r>
              <a:r>
                <a:rPr lang="ko-KR" altLang="en-US" b="0" i="0" dirty="0" err="1">
                  <a:solidFill>
                    <a:srgbClr val="555555"/>
                  </a:solidFill>
                  <a:effectLst/>
                  <a:latin typeface="NanumSquareRound"/>
                </a:rPr>
                <a:t>잔차</a:t>
              </a:r>
              <a:r>
                <a:rPr lang="ko-KR" altLang="en-US" b="0" i="0" dirty="0">
                  <a:solidFill>
                    <a:srgbClr val="555555"/>
                  </a:solidFill>
                  <a:effectLst/>
                  <a:latin typeface="NanumSquareRound"/>
                </a:rPr>
                <a:t> 제곱합을 최소화할 수 있도록 회귀 계수를 최적화하며</a:t>
              </a:r>
              <a:r>
                <a:rPr lang="en-US" altLang="ko-KR" b="0" i="0" dirty="0">
                  <a:solidFill>
                    <a:srgbClr val="555555"/>
                  </a:solidFill>
                  <a:effectLst/>
                  <a:latin typeface="NanumSquareRound"/>
                </a:rPr>
                <a:t>, </a:t>
              </a:r>
              <a:r>
                <a:rPr lang="ko-KR" altLang="en-US" b="0" i="0" dirty="0">
                  <a:solidFill>
                    <a:srgbClr val="555555"/>
                  </a:solidFill>
                  <a:effectLst/>
                  <a:latin typeface="NanumSquareRound"/>
                </a:rPr>
                <a:t>규제</a:t>
              </a:r>
              <a:r>
                <a:rPr lang="en-US" altLang="ko-KR" b="0" i="0" dirty="0">
                  <a:solidFill>
                    <a:srgbClr val="555555"/>
                  </a:solidFill>
                  <a:effectLst/>
                  <a:latin typeface="NanumSquareRound"/>
                </a:rPr>
                <a:t>(Regularization)</a:t>
              </a:r>
              <a:r>
                <a:rPr lang="ko-KR" altLang="en-US" b="0" i="0" dirty="0">
                  <a:solidFill>
                    <a:srgbClr val="555555"/>
                  </a:solidFill>
                  <a:effectLst/>
                  <a:latin typeface="NanumSquareRound"/>
                </a:rPr>
                <a:t>를 적용하지 않은 모델</a:t>
              </a:r>
              <a:endParaRPr lang="ko-KR" altLang="en-US" dirty="0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88A8DE60-994C-4DC6-BD96-95175CEC44CA}"/>
              </a:ext>
            </a:extLst>
          </p:cNvPr>
          <p:cNvGrpSpPr/>
          <p:nvPr/>
        </p:nvGrpSpPr>
        <p:grpSpPr>
          <a:xfrm>
            <a:off x="686268" y="1728926"/>
            <a:ext cx="10331502" cy="1089480"/>
            <a:chOff x="686268" y="5626368"/>
            <a:chExt cx="10331502" cy="1089480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53086CE0-47C1-4278-BCED-997A0BF56648}"/>
                </a:ext>
              </a:extLst>
            </p:cNvPr>
            <p:cNvSpPr/>
            <p:nvPr/>
          </p:nvSpPr>
          <p:spPr>
            <a:xfrm>
              <a:off x="686268" y="5626368"/>
              <a:ext cx="3630897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457200" indent="-457200" fontAlgn="base">
                <a:buFont typeface="Wingdings" panose="05000000000000000000" pitchFamily="2" charset="2"/>
                <a:buChar char="l"/>
              </a:pPr>
              <a:r>
                <a:rPr lang="ko-KR" altLang="en-US" b="1" dirty="0">
                  <a:latin typeface="NanumSquareRound"/>
                </a:rPr>
                <a:t>로지스틱</a:t>
              </a:r>
              <a:r>
                <a:rPr lang="en-US" altLang="ko-KR" b="1" dirty="0">
                  <a:latin typeface="NanumSquareRound"/>
                </a:rPr>
                <a:t>(Logistic)</a:t>
              </a:r>
              <a:endParaRPr lang="ko-KR" altLang="en-US" b="1" i="0" dirty="0">
                <a:effectLst/>
                <a:latin typeface="NanumSquareRound"/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29C0636-6042-4AFE-B80B-61266B24A0D7}"/>
                </a:ext>
              </a:extLst>
            </p:cNvPr>
            <p:cNvSpPr/>
            <p:nvPr/>
          </p:nvSpPr>
          <p:spPr>
            <a:xfrm>
              <a:off x="1084288" y="6069517"/>
              <a:ext cx="9933482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ko-KR" altLang="en-US" dirty="0"/>
                <a:t>분류에 사용되는 선형 모형</a:t>
              </a:r>
              <a:r>
                <a:rPr lang="en-US" altLang="ko-KR" dirty="0"/>
                <a:t>, </a:t>
              </a:r>
              <a:r>
                <a:rPr lang="ko-KR" altLang="en-US" dirty="0"/>
                <a:t>일반적으로 이진 분류 뿐만 아니라 희소 영역의 분류</a:t>
              </a:r>
              <a:r>
                <a:rPr lang="en-US" altLang="ko-KR" dirty="0"/>
                <a:t>, </a:t>
              </a:r>
              <a:r>
                <a:rPr lang="ko-KR" altLang="en-US" dirty="0"/>
                <a:t>예를 들어 텍스트 분류와 같은 영역에서 뛰어난 예측 성능을 보임</a:t>
              </a:r>
              <a:r>
                <a:rPr lang="en-US" altLang="ko-KR" dirty="0"/>
                <a:t>.</a:t>
              </a:r>
              <a:endParaRPr lang="ko-KR" altLang="en-US" dirty="0"/>
            </a:p>
          </p:txBody>
        </p:sp>
      </p:grp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DAE244ED-CAC2-49C8-B920-7DDC1405B217}"/>
              </a:ext>
            </a:extLst>
          </p:cNvPr>
          <p:cNvSpPr/>
          <p:nvPr/>
        </p:nvSpPr>
        <p:spPr>
          <a:xfrm>
            <a:off x="1084288" y="2999918"/>
            <a:ext cx="1062303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313131"/>
                </a:solidFill>
                <a:effectLst/>
                <a:latin typeface="PT Sans"/>
              </a:rPr>
              <a:t>범주형 변수를 예측하는 모델인 </a:t>
            </a:r>
            <a:r>
              <a:rPr lang="ko-KR" altLang="en-US" b="1" i="0" dirty="0">
                <a:solidFill>
                  <a:srgbClr val="303030"/>
                </a:solidFill>
                <a:effectLst/>
                <a:latin typeface="PT Sans"/>
              </a:rPr>
              <a:t>로지스틱 회귀</a:t>
            </a:r>
            <a:r>
              <a:rPr lang="en-US" altLang="ko-KR" b="1" i="0" dirty="0">
                <a:solidFill>
                  <a:srgbClr val="303030"/>
                </a:solidFill>
                <a:effectLst/>
                <a:latin typeface="PT Sans"/>
              </a:rPr>
              <a:t>(Logistic Regression)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수치형 설명변수 </a:t>
            </a:r>
            <a:r>
              <a:rPr lang="en-US" altLang="ko-KR" dirty="0"/>
              <a:t>X</a:t>
            </a:r>
            <a:r>
              <a:rPr lang="ko-KR" altLang="en-US" dirty="0"/>
              <a:t>와 연속형 숫자로 이뤄진 종속변수 </a:t>
            </a:r>
            <a:r>
              <a:rPr lang="en-US" altLang="ko-KR" dirty="0"/>
              <a:t>Y </a:t>
            </a:r>
            <a:r>
              <a:rPr lang="ko-KR" altLang="en-US" dirty="0"/>
              <a:t>간의 관계를 선형으로 가정하고 이를 가장 잘 표현할 수 있는 회귀계수를 데이터로부터 추정하는 모델</a:t>
            </a:r>
            <a:r>
              <a:rPr lang="en-US" altLang="ko-KR" dirty="0"/>
              <a:t>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이 회귀계수들은 모델의 </a:t>
            </a:r>
            <a:r>
              <a:rPr lang="ko-KR" altLang="en-US" dirty="0" err="1"/>
              <a:t>예측값과</a:t>
            </a:r>
            <a:r>
              <a:rPr lang="ko-KR" altLang="en-US" dirty="0"/>
              <a:t> </a:t>
            </a:r>
            <a:r>
              <a:rPr lang="ko-KR" altLang="en-US" dirty="0" err="1"/>
              <a:t>실제값의</a:t>
            </a:r>
            <a:r>
              <a:rPr lang="ko-KR" altLang="en-US" dirty="0"/>
              <a:t> 차이</a:t>
            </a:r>
            <a:r>
              <a:rPr lang="en-US" altLang="ko-KR" dirty="0"/>
              <a:t>, </a:t>
            </a:r>
            <a:r>
              <a:rPr lang="ko-KR" altLang="en-US" dirty="0"/>
              <a:t>즉 </a:t>
            </a:r>
            <a:r>
              <a:rPr lang="ko-KR" altLang="en-US" b="1" dirty="0" err="1"/>
              <a:t>오차제곱합</a:t>
            </a:r>
            <a:r>
              <a:rPr lang="en-US" altLang="ko-KR" b="1" dirty="0"/>
              <a:t>(error sum of squares)</a:t>
            </a:r>
            <a:r>
              <a:rPr lang="ko-KR" altLang="en-US" dirty="0"/>
              <a:t>을 </a:t>
            </a:r>
            <a:r>
              <a:rPr lang="ko-KR" altLang="en-US" b="1" dirty="0"/>
              <a:t>최소로 하는 값</a:t>
            </a:r>
          </a:p>
        </p:txBody>
      </p:sp>
      <p:pic>
        <p:nvPicPr>
          <p:cNvPr id="25" name="그림 24">
            <a:extLst>
              <a:ext uri="{FF2B5EF4-FFF2-40B4-BE49-F238E27FC236}">
                <a16:creationId xmlns:a16="http://schemas.microsoft.com/office/drawing/2014/main" id="{02E48216-B949-45DE-8DE3-47F88DE53D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1341" y="4142612"/>
            <a:ext cx="5742875" cy="906001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4FC12CC0-79FD-45C6-A1E3-C3568D462F8A}"/>
              </a:ext>
            </a:extLst>
          </p:cNvPr>
          <p:cNvSpPr/>
          <p:nvPr/>
        </p:nvSpPr>
        <p:spPr>
          <a:xfrm>
            <a:off x="1084288" y="4966032"/>
            <a:ext cx="10623031" cy="7848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dirty="0"/>
              <a:t>로지스틱 함수의 </a:t>
            </a:r>
            <a:r>
              <a:rPr lang="en-US" altLang="ko-KR" b="1" dirty="0"/>
              <a:t>Odds : </a:t>
            </a:r>
            <a:r>
              <a:rPr lang="ko-KR" altLang="en-US" b="1" dirty="0"/>
              <a:t>임의의 사건 </a:t>
            </a:r>
            <a:r>
              <a:rPr lang="en-US" altLang="ko-KR" b="1" dirty="0"/>
              <a:t>A</a:t>
            </a:r>
            <a:r>
              <a:rPr lang="ko-KR" altLang="en-US" b="1" dirty="0"/>
              <a:t>가 발생하지 않을 확률 대비 일어날 확률의 비율</a:t>
            </a:r>
            <a:endParaRPr lang="en-US" altLang="ko-KR" b="1" dirty="0"/>
          </a:p>
          <a:p>
            <a:r>
              <a:rPr lang="ko-KR" altLang="en-US" dirty="0"/>
              <a:t>로지스틱 회귀분석에서 임의의 설명변수의 추이에 따른 </a:t>
            </a:r>
            <a:r>
              <a:rPr lang="ko-KR" altLang="en-US" u="sng" dirty="0"/>
              <a:t>목표변수의 추이를 표현</a:t>
            </a:r>
            <a:r>
              <a:rPr lang="ko-KR" altLang="en-US" dirty="0"/>
              <a:t>할 때 주로 사용됨 </a:t>
            </a:r>
            <a:endParaRPr lang="en-US" altLang="ko-KR" dirty="0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5C76A1AA-4F9F-4310-9141-29D4A8C4BD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2778" y="5750862"/>
            <a:ext cx="3436802" cy="823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5540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A35C6A2D-1071-4F79-8567-FD039C1C391B}"/>
              </a:ext>
            </a:extLst>
          </p:cNvPr>
          <p:cNvSpPr/>
          <p:nvPr/>
        </p:nvSpPr>
        <p:spPr>
          <a:xfrm>
            <a:off x="787843" y="156362"/>
            <a:ext cx="10616313" cy="27699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*</a:t>
            </a:r>
            <a:r>
              <a:rPr lang="ko-KR" altLang="en-US" sz="2400" b="1" i="0" dirty="0">
                <a:solidFill>
                  <a:srgbClr val="212529"/>
                </a:solidFill>
                <a:effectLst/>
                <a:latin typeface="-apple-system"/>
              </a:rPr>
              <a:t>규제 선형 모델</a:t>
            </a:r>
            <a:r>
              <a:rPr lang="en-US" altLang="ko-KR" sz="2400" b="1" i="0" dirty="0">
                <a:solidFill>
                  <a:srgbClr val="212529"/>
                </a:solidFill>
                <a:effectLst/>
                <a:latin typeface="-apple-system"/>
              </a:rPr>
              <a:t>:  </a:t>
            </a:r>
            <a:r>
              <a:rPr lang="ko-KR" altLang="en-US" u="sng" dirty="0" err="1"/>
              <a:t>릿지</a:t>
            </a:r>
            <a:r>
              <a:rPr lang="en-US" altLang="ko-KR" u="sng" dirty="0"/>
              <a:t>(Ridge) </a:t>
            </a:r>
            <a:r>
              <a:rPr lang="ko-KR" altLang="en-US" u="sng" dirty="0"/>
              <a:t>회귀</a:t>
            </a:r>
            <a:r>
              <a:rPr lang="en-US" altLang="ko-KR" u="sng" dirty="0"/>
              <a:t>, </a:t>
            </a:r>
            <a:r>
              <a:rPr lang="ko-KR" altLang="en-US" u="sng" dirty="0" err="1"/>
              <a:t>라쏘</a:t>
            </a:r>
            <a:r>
              <a:rPr lang="en-US" altLang="ko-KR" u="sng" dirty="0"/>
              <a:t>(Lasso) </a:t>
            </a:r>
            <a:r>
              <a:rPr lang="ko-KR" altLang="en-US" u="sng" dirty="0"/>
              <a:t>회귀</a:t>
            </a:r>
            <a:endParaRPr lang="en-US" altLang="ko-KR" sz="2400" b="1" u="sng" dirty="0">
              <a:solidFill>
                <a:srgbClr val="212529"/>
              </a:solidFill>
              <a:latin typeface="-apple-system"/>
            </a:endParaRP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회귀 모델은 적절하게 데이터에 적합하면서도 회귀 계수가 기하급수적으로 커지는 것을 제어할 수 있어야함</a:t>
            </a:r>
            <a:r>
              <a:rPr lang="en-US" altLang="ko-KR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선형 모델의 비용 함수는 실제 값과 예측 값의 차이를 최소화하는 </a:t>
            </a:r>
            <a:r>
              <a:rPr lang="ko-KR" altLang="en-US" dirty="0" err="1"/>
              <a:t>것만고려하면</a:t>
            </a:r>
            <a:r>
              <a:rPr lang="ko-KR" altLang="en-US" dirty="0"/>
              <a:t> 과적합이 발생하여 회귀 계수가 쉽게 커짐</a:t>
            </a:r>
            <a:r>
              <a:rPr lang="en-US" altLang="ko-KR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ko-KR" altLang="en-US" dirty="0"/>
              <a:t>이를 반영하여 비용 함수는 학습 데이터의 </a:t>
            </a:r>
            <a:r>
              <a:rPr lang="ko-KR" altLang="en-US" dirty="0" err="1"/>
              <a:t>잔차</a:t>
            </a:r>
            <a:r>
              <a:rPr lang="ko-KR" altLang="en-US" dirty="0"/>
              <a:t> 오류 값을 최소로 하는 방법과 과적합을 방지하기 위해 회귀 계수가 커지지 않도록 하는 방법이 서로 균형을 이뤄야 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-&gt; </a:t>
            </a:r>
            <a:r>
              <a:rPr lang="ko-KR" altLang="en-US" dirty="0"/>
              <a:t>따라서</a:t>
            </a:r>
            <a:r>
              <a:rPr lang="en-US" altLang="ko-KR" dirty="0"/>
              <a:t>, </a:t>
            </a:r>
            <a:r>
              <a:rPr lang="ko-KR" altLang="en-US" dirty="0"/>
              <a:t>회귀 계수의 크기를 제어하여 과적합을 개선하기 위해 비용 함수를 변경해야 함</a:t>
            </a:r>
            <a:r>
              <a:rPr lang="en-US" altLang="ko-KR" dirty="0"/>
              <a:t>.</a:t>
            </a:r>
            <a:endParaRPr lang="ko-KR" altLang="en-US" b="1" i="0" dirty="0">
              <a:solidFill>
                <a:srgbClr val="212529"/>
              </a:solidFill>
              <a:effectLst/>
              <a:latin typeface="-apple-system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0146ABA-124D-468D-92FD-7B92B3F457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330" y="3209361"/>
            <a:ext cx="4313294" cy="53344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DE519E5B-C5B5-4546-97B9-122D33D6D116}"/>
              </a:ext>
            </a:extLst>
          </p:cNvPr>
          <p:cNvSpPr/>
          <p:nvPr/>
        </p:nvSpPr>
        <p:spPr>
          <a:xfrm>
            <a:off x="1061241" y="4025817"/>
            <a:ext cx="9851597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212529"/>
                </a:solidFill>
                <a:effectLst/>
                <a:latin typeface="-apple-system"/>
              </a:rPr>
              <a:t>alpha</a:t>
            </a:r>
            <a:r>
              <a:rPr lang="ko-KR" altLang="en-US" b="0" i="0" dirty="0">
                <a:solidFill>
                  <a:srgbClr val="212529"/>
                </a:solidFill>
                <a:effectLst/>
                <a:latin typeface="-apple-system"/>
              </a:rPr>
              <a:t>는 학습 데이터 적합 정도와 회귀 계수 값의 크기 제어를 수행하는 튜닝 파라미터</a:t>
            </a:r>
            <a:endParaRPr lang="en-US" altLang="ko-KR" b="0" i="0" dirty="0">
              <a:solidFill>
                <a:srgbClr val="212529"/>
              </a:solidFill>
              <a:effectLst/>
              <a:latin typeface="-apple-system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alpha</a:t>
            </a:r>
            <a:r>
              <a:rPr lang="ko-KR" altLang="en-US" dirty="0"/>
              <a:t>가 </a:t>
            </a:r>
            <a:r>
              <a:rPr lang="en-US" altLang="ko-KR" dirty="0"/>
              <a:t>0</a:t>
            </a:r>
            <a:r>
              <a:rPr lang="ko-KR" altLang="en-US" dirty="0"/>
              <a:t>이나 매우 작은 값이라면 비용 함수 식은 기존과 동일한 식으로 근사가 가능할 것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반면에 </a:t>
            </a:r>
            <a:r>
              <a:rPr lang="en-US" altLang="ko-KR" dirty="0"/>
              <a:t>alpha</a:t>
            </a:r>
            <a:r>
              <a:rPr lang="ko-KR" altLang="en-US" dirty="0"/>
              <a:t>가 무한대에 가깝게 커진다면 비용 함수 식은 단순히 </a:t>
            </a:r>
            <a:r>
              <a:rPr lang="en-US" altLang="ko-KR" dirty="0"/>
              <a:t>W</a:t>
            </a:r>
            <a:r>
              <a:rPr lang="ko-KR" altLang="en-US" dirty="0"/>
              <a:t>값을 </a:t>
            </a:r>
            <a:r>
              <a:rPr lang="en-US" altLang="ko-KR" dirty="0"/>
              <a:t>0</a:t>
            </a:r>
            <a:r>
              <a:rPr lang="ko-KR" altLang="en-US" dirty="0"/>
              <a:t>으로 만드는 것이 </a:t>
            </a:r>
            <a:r>
              <a:rPr lang="en-US" altLang="ko-KR" dirty="0"/>
              <a:t>Cost </a:t>
            </a:r>
            <a:r>
              <a:rPr lang="ko-KR" altLang="en-US" dirty="0"/>
              <a:t>함수의 목표가 됨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-&gt; </a:t>
            </a:r>
            <a:r>
              <a:rPr lang="en-US" altLang="ko-KR" b="1" dirty="0"/>
              <a:t>alpha</a:t>
            </a:r>
            <a:r>
              <a:rPr lang="ko-KR" altLang="en-US" b="1" dirty="0"/>
              <a:t>를 </a:t>
            </a:r>
            <a:r>
              <a:rPr lang="en-US" altLang="ko-KR" b="1" dirty="0"/>
              <a:t>0</a:t>
            </a:r>
            <a:r>
              <a:rPr lang="ko-KR" altLang="en-US" b="1" dirty="0"/>
              <a:t>에서부터 지속적으로 값을 증가시키면 회귀 계수 값의 크기를 감소시킬 수 있음</a:t>
            </a:r>
            <a:r>
              <a:rPr lang="en-US" altLang="ko-KR" b="1" dirty="0"/>
              <a:t>.</a:t>
            </a:r>
            <a:endParaRPr lang="ko-KR" altLang="en-US" b="1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6D454F9-5D70-47D8-8511-5A18B7406B18}"/>
              </a:ext>
            </a:extLst>
          </p:cNvPr>
          <p:cNvSpPr/>
          <p:nvPr/>
        </p:nvSpPr>
        <p:spPr>
          <a:xfrm>
            <a:off x="926330" y="5701336"/>
            <a:ext cx="1030130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1" i="0" dirty="0">
                <a:solidFill>
                  <a:srgbClr val="212529"/>
                </a:solidFill>
                <a:effectLst/>
                <a:latin typeface="-apple-system"/>
              </a:rPr>
              <a:t>*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-apple-system"/>
              </a:rPr>
              <a:t>비용 함수에 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-apple-system"/>
              </a:rPr>
              <a:t>alpha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-apple-system"/>
              </a:rPr>
              <a:t>값으로 </a:t>
            </a:r>
            <a:r>
              <a:rPr lang="ko-KR" altLang="en-US" b="1" i="0" dirty="0" err="1">
                <a:solidFill>
                  <a:srgbClr val="212529"/>
                </a:solidFill>
                <a:effectLst/>
                <a:latin typeface="-apple-system"/>
              </a:rPr>
              <a:t>패널티를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-apple-system"/>
              </a:rPr>
              <a:t> 부여해 회귀 계수 값의 크기를 감소시켜 과적합을 개선하는 방식 </a:t>
            </a:r>
            <a:r>
              <a:rPr lang="en-US" altLang="ko-KR" b="1" i="0" dirty="0">
                <a:solidFill>
                  <a:srgbClr val="212529"/>
                </a:solidFill>
                <a:effectLst/>
                <a:latin typeface="-apple-system"/>
              </a:rPr>
              <a:t>= </a:t>
            </a:r>
            <a:r>
              <a:rPr lang="ko-KR" altLang="en-US" b="1" i="0" dirty="0">
                <a:solidFill>
                  <a:srgbClr val="212529"/>
                </a:solidFill>
                <a:effectLst/>
                <a:latin typeface="-apple-system"/>
              </a:rPr>
              <a:t> </a:t>
            </a:r>
            <a:r>
              <a:rPr lang="ko-KR" altLang="en-US" b="1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-apple-system"/>
              </a:rPr>
              <a:t>규제</a:t>
            </a:r>
            <a:r>
              <a:rPr lang="en-US" altLang="ko-KR" b="1" i="0" dirty="0">
                <a:solidFill>
                  <a:srgbClr val="212529"/>
                </a:solidFill>
                <a:effectLst/>
                <a:highlight>
                  <a:srgbClr val="FFFF00"/>
                </a:highlight>
                <a:latin typeface="-apple-system"/>
              </a:rPr>
              <a:t>(Regularization)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2437564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FF48CD70-D76F-4987-8B7F-CA79A837B842}"/>
              </a:ext>
            </a:extLst>
          </p:cNvPr>
          <p:cNvSpPr/>
          <p:nvPr/>
        </p:nvSpPr>
        <p:spPr>
          <a:xfrm>
            <a:off x="724527" y="545705"/>
            <a:ext cx="195277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sz="2000" b="1" dirty="0">
                <a:solidFill>
                  <a:srgbClr val="313131"/>
                </a:solidFill>
                <a:latin typeface="PT Sans"/>
              </a:rPr>
              <a:t>규제 </a:t>
            </a:r>
            <a:r>
              <a:rPr lang="en-US" altLang="ko-KR" sz="2000" b="1" dirty="0">
                <a:solidFill>
                  <a:srgbClr val="313131"/>
                </a:solidFill>
                <a:latin typeface="PT Sans"/>
              </a:rPr>
              <a:t>: L1, L2</a:t>
            </a:r>
            <a:endParaRPr lang="ko-KR" altLang="en-US" sz="2000" b="1" dirty="0">
              <a:highlight>
                <a:srgbClr val="FFFF00"/>
              </a:highlight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47C7CDD-BEBC-4E61-BF83-2824E8E7C72B}"/>
              </a:ext>
            </a:extLst>
          </p:cNvPr>
          <p:cNvSpPr/>
          <p:nvPr/>
        </p:nvSpPr>
        <p:spPr>
          <a:xfrm>
            <a:off x="1084290" y="1170668"/>
            <a:ext cx="473189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L1</a:t>
            </a:r>
            <a:r>
              <a:rPr lang="ko-KR" altLang="en-US" dirty="0"/>
              <a:t>규제는 손실 함수에 가중치의 </a:t>
            </a:r>
            <a:r>
              <a:rPr lang="ko-KR" altLang="en-US" b="1" dirty="0"/>
              <a:t>절대값</a:t>
            </a:r>
            <a:r>
              <a:rPr lang="ko-KR" altLang="en-US" dirty="0"/>
              <a:t>인 </a:t>
            </a:r>
            <a:r>
              <a:rPr lang="en-US" altLang="ko-KR" dirty="0"/>
              <a:t>L1 </a:t>
            </a:r>
            <a:r>
              <a:rPr lang="ko-KR" altLang="en-US" dirty="0"/>
              <a:t>노름</a:t>
            </a:r>
            <a:r>
              <a:rPr lang="en-US" altLang="ko-KR" dirty="0"/>
              <a:t>(norm)</a:t>
            </a:r>
            <a:r>
              <a:rPr lang="ko-KR" altLang="en-US" dirty="0"/>
              <a:t>을 추가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회귀모델에 </a:t>
            </a:r>
            <a:r>
              <a:rPr lang="en-US" altLang="ko-KR" dirty="0"/>
              <a:t>L1 </a:t>
            </a:r>
            <a:r>
              <a:rPr lang="ko-KR" altLang="en-US" dirty="0"/>
              <a:t>규제를 추가한 것</a:t>
            </a:r>
            <a:r>
              <a:rPr lang="en-US" altLang="ko-KR" dirty="0"/>
              <a:t> -</a:t>
            </a:r>
            <a:r>
              <a:rPr lang="ko-KR" altLang="en-US" dirty="0"/>
              <a:t> </a:t>
            </a:r>
            <a:r>
              <a:rPr lang="ko-KR" altLang="en-US" dirty="0" err="1"/>
              <a:t>라쏘</a:t>
            </a:r>
            <a:r>
              <a:rPr lang="en-US" altLang="ko-KR" dirty="0"/>
              <a:t>(Lasso)</a:t>
            </a:r>
            <a:r>
              <a:rPr lang="ko-KR" altLang="en-US" dirty="0"/>
              <a:t>모델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b="1" dirty="0">
                <a:highlight>
                  <a:srgbClr val="FFFF00"/>
                </a:highlight>
              </a:rPr>
              <a:t>'</a:t>
            </a:r>
            <a:r>
              <a:rPr lang="ko-KR" altLang="en-US" b="1" dirty="0">
                <a:highlight>
                  <a:srgbClr val="FFFF00"/>
                </a:highlight>
              </a:rPr>
              <a:t>가중치 절대값을 손실 함수에 더하는 것</a:t>
            </a:r>
            <a:r>
              <a:rPr lang="en-US" altLang="ko-KR" b="1" dirty="0">
                <a:highlight>
                  <a:srgbClr val="FFFF00"/>
                </a:highlight>
              </a:rPr>
              <a:t>’</a:t>
            </a:r>
          </a:p>
          <a:p>
            <a:endParaRPr lang="en-US" altLang="ko-KR" b="1" dirty="0">
              <a:highlight>
                <a:srgbClr val="FFFF00"/>
              </a:highlight>
            </a:endParaRPr>
          </a:p>
        </p:txBody>
      </p:sp>
      <p:pic>
        <p:nvPicPr>
          <p:cNvPr id="16388" name="Picture 4" descr="https://1.bp.blogspot.com/-NgAP7p0FcA4/YLbDjL_dGCI/AAAAAAAAZmI/_qS4DghqMA4kX4TKpylbYCEKyUlGt5WsQCLcBGAsYHQ/w640-h330/%25ED%2599%2594%25EB%25A9%25B4%25EC%25BA%25A1%25EC%25B2%2598.png">
            <a:extLst>
              <a:ext uri="{FF2B5EF4-FFF2-40B4-BE49-F238E27FC236}">
                <a16:creationId xmlns:a16="http://schemas.microsoft.com/office/drawing/2014/main" id="{69AF9F6D-650D-4F82-943F-5C66E00C8F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1621" y="277414"/>
            <a:ext cx="4731894" cy="2432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202325A-3FF9-4C58-926D-BD568CB7885B}"/>
              </a:ext>
            </a:extLst>
          </p:cNvPr>
          <p:cNvSpPr/>
          <p:nvPr/>
        </p:nvSpPr>
        <p:spPr>
          <a:xfrm>
            <a:off x="1084290" y="3844729"/>
            <a:ext cx="473189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L2 </a:t>
            </a:r>
            <a:r>
              <a:rPr lang="ko-KR" altLang="en-US" dirty="0"/>
              <a:t>규제는 손실 함수에 가중치에 대한 </a:t>
            </a:r>
            <a:r>
              <a:rPr lang="en-US" altLang="ko-KR" dirty="0"/>
              <a:t>L2 </a:t>
            </a:r>
            <a:r>
              <a:rPr lang="ko-KR" altLang="en-US" dirty="0"/>
              <a:t>노름</a:t>
            </a:r>
            <a:r>
              <a:rPr lang="en-US" altLang="ko-KR" dirty="0"/>
              <a:t>(norm)</a:t>
            </a:r>
            <a:r>
              <a:rPr lang="ko-KR" altLang="en-US" dirty="0"/>
              <a:t>의 제곱을 더함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/>
              <a:t>회귀모델에 </a:t>
            </a:r>
            <a:r>
              <a:rPr lang="en-US" altLang="ko-KR" dirty="0"/>
              <a:t>L2 </a:t>
            </a:r>
            <a:r>
              <a:rPr lang="ko-KR" altLang="en-US" dirty="0"/>
              <a:t>규제를 추가한 것</a:t>
            </a:r>
            <a:r>
              <a:rPr lang="en-US" altLang="ko-KR" dirty="0"/>
              <a:t> –</a:t>
            </a:r>
            <a:r>
              <a:rPr lang="ko-KR" altLang="en-US" dirty="0"/>
              <a:t> </a:t>
            </a:r>
            <a:r>
              <a:rPr lang="ko-KR" altLang="en-US" dirty="0" err="1"/>
              <a:t>릿지</a:t>
            </a:r>
            <a:r>
              <a:rPr lang="en-US" altLang="ko-KR" dirty="0"/>
              <a:t>(Ridge)</a:t>
            </a:r>
            <a:r>
              <a:rPr lang="ko-KR" altLang="en-US" dirty="0"/>
              <a:t>모델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dirty="0"/>
          </a:p>
          <a:p>
            <a:r>
              <a:rPr lang="en-US" altLang="ko-KR" b="1" dirty="0">
                <a:highlight>
                  <a:srgbClr val="FFFF00"/>
                </a:highlight>
              </a:rPr>
              <a:t>'</a:t>
            </a:r>
            <a:r>
              <a:rPr lang="ko-KR" altLang="en-US" b="1" dirty="0">
                <a:highlight>
                  <a:srgbClr val="FFFF00"/>
                </a:highlight>
              </a:rPr>
              <a:t>규제가 강해져 과소 접합이 심해지지 않는 특성을 가지고 있음</a:t>
            </a:r>
            <a:r>
              <a:rPr lang="en-US" altLang="ko-KR" b="1" dirty="0">
                <a:highlight>
                  <a:srgbClr val="FFFF00"/>
                </a:highlight>
              </a:rPr>
              <a:t>'</a:t>
            </a:r>
            <a:endParaRPr lang="ko-KR" altLang="en-US" b="1" dirty="0">
              <a:highlight>
                <a:srgbClr val="FFFF00"/>
              </a:highlight>
            </a:endParaRPr>
          </a:p>
        </p:txBody>
      </p:sp>
      <p:pic>
        <p:nvPicPr>
          <p:cNvPr id="16390" name="Picture 6" descr="https://1.bp.blogspot.com/-uNyRSwqkaN8/YLbPUvFR_2I/AAAAAAAAZmc/QroaZuCRPzAKpFSO68BtQKNmPYuUZh_3gCLcBGAsYHQ/w640-h374/%25ED%2599%2594%25EB%25A9%25B4%25EC%25BA%25A1%25EC%25B2%2598.png">
            <a:extLst>
              <a:ext uri="{FF2B5EF4-FFF2-40B4-BE49-F238E27FC236}">
                <a16:creationId xmlns:a16="http://schemas.microsoft.com/office/drawing/2014/main" id="{CE7CB8EB-5CBA-46FF-9F8F-1780F9221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4326" y="3840190"/>
            <a:ext cx="4586484" cy="2680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497EDD4C-AED7-47F5-A0AA-95B2927B6188}"/>
              </a:ext>
            </a:extLst>
          </p:cNvPr>
          <p:cNvSpPr/>
          <p:nvPr/>
        </p:nvSpPr>
        <p:spPr>
          <a:xfrm>
            <a:off x="1084290" y="2951882"/>
            <a:ext cx="1044314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ko-KR" dirty="0"/>
              <a:t>L1</a:t>
            </a:r>
            <a:r>
              <a:rPr lang="ko-KR" altLang="en-US" dirty="0"/>
              <a:t>규제는 규제가 커질 수록 훈련 세트의 손실과 검증 세트의 손실이 커지고</a:t>
            </a:r>
            <a:r>
              <a:rPr lang="en-US" altLang="ko-KR" dirty="0"/>
              <a:t>(</a:t>
            </a:r>
            <a:r>
              <a:rPr lang="ko-KR" altLang="en-US" dirty="0" err="1"/>
              <a:t>과소적합화됨</a:t>
            </a:r>
            <a:r>
              <a:rPr lang="en-US" altLang="ko-KR" dirty="0"/>
              <a:t>) </a:t>
            </a:r>
            <a:r>
              <a:rPr lang="ko-KR" altLang="en-US" dirty="0"/>
              <a:t>규제가 커질 수록 가중치 값이 </a:t>
            </a:r>
            <a:r>
              <a:rPr lang="en-US" altLang="ko-KR" dirty="0"/>
              <a:t>"0"</a:t>
            </a:r>
            <a:r>
              <a:rPr lang="ko-KR" altLang="en-US" dirty="0"/>
              <a:t>에 </a:t>
            </a:r>
            <a:r>
              <a:rPr lang="ko-KR" altLang="en-US" dirty="0" err="1"/>
              <a:t>가까워짐</a:t>
            </a:r>
            <a:r>
              <a:rPr lang="en-US" altLang="ko-K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09639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F36CA53C-794F-4DA6-A71B-A5D12082E992}"/>
              </a:ext>
            </a:extLst>
          </p:cNvPr>
          <p:cNvGrpSpPr/>
          <p:nvPr/>
        </p:nvGrpSpPr>
        <p:grpSpPr>
          <a:xfrm>
            <a:off x="74090" y="797190"/>
            <a:ext cx="11770842" cy="5105187"/>
            <a:chOff x="74090" y="797190"/>
            <a:chExt cx="11770842" cy="5105187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CB5D910B-19C4-499E-955A-692C751F0783}"/>
                </a:ext>
              </a:extLst>
            </p:cNvPr>
            <p:cNvGrpSpPr/>
            <p:nvPr/>
          </p:nvGrpSpPr>
          <p:grpSpPr>
            <a:xfrm>
              <a:off x="74090" y="797190"/>
              <a:ext cx="11770842" cy="5105187"/>
              <a:chOff x="-46721" y="1171944"/>
              <a:chExt cx="11770842" cy="5105187"/>
            </a:xfrm>
          </p:grpSpPr>
          <p:pic>
            <p:nvPicPr>
              <p:cNvPr id="18434" name="Picture 2" descr="https://1.bp.blogspot.com/-oqpM_KCtt_0/YLbQXq7yVnI/AAAAAAAAZmk/zCFyIz3iTEMs-3Ss64nscBpqcwoTmGe5wCLcBGAsYHQ/w640-h456/%25ED%2599%2594%25EB%25A9%25B4%25EC%25BA%25A1%25EC%25B2%2598.png">
                <a:extLst>
                  <a:ext uri="{FF2B5EF4-FFF2-40B4-BE49-F238E27FC236}">
                    <a16:creationId xmlns:a16="http://schemas.microsoft.com/office/drawing/2014/main" id="{07805D77-9AFB-4481-901D-3A8DEBE717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46721" y="1640699"/>
                <a:ext cx="5578093" cy="398061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436" name="Picture 4" descr="https://1.bp.blogspot.com/-icy-ve_7nuk/YLbQx0ged-I/AAAAAAAAZm0/dMXeH2G1n2kVqY28g80AAQfv_O1312AGwCLcBGAsYHQ/w640-h452/%25ED%2599%2594%25EB%25A9%25B4%25EC%25BA%25A1%25EC%25B2%2598.png">
                <a:extLst>
                  <a:ext uri="{FF2B5EF4-FFF2-40B4-BE49-F238E27FC236}">
                    <a16:creationId xmlns:a16="http://schemas.microsoft.com/office/drawing/2014/main" id="{8040DB85-C567-4F5A-B183-9478B7F9358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101452" y="1644086"/>
                <a:ext cx="5622669" cy="397722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5" name="직선 연결선 4">
                <a:extLst>
                  <a:ext uri="{FF2B5EF4-FFF2-40B4-BE49-F238E27FC236}">
                    <a16:creationId xmlns:a16="http://schemas.microsoft.com/office/drawing/2014/main" id="{B9B4F764-8C11-4F40-83A9-166066F40237}"/>
                  </a:ext>
                </a:extLst>
              </p:cNvPr>
              <p:cNvCxnSpPr/>
              <p:nvPr/>
            </p:nvCxnSpPr>
            <p:spPr>
              <a:xfrm>
                <a:off x="5975189" y="1330377"/>
                <a:ext cx="0" cy="4946754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" name="직사각형 5">
                <a:extLst>
                  <a:ext uri="{FF2B5EF4-FFF2-40B4-BE49-F238E27FC236}">
                    <a16:creationId xmlns:a16="http://schemas.microsoft.com/office/drawing/2014/main" id="{EBCFBE9D-195F-4C95-B7DC-4F7B8570139B}"/>
                  </a:ext>
                </a:extLst>
              </p:cNvPr>
              <p:cNvSpPr/>
              <p:nvPr/>
            </p:nvSpPr>
            <p:spPr>
              <a:xfrm>
                <a:off x="8383558" y="1171944"/>
                <a:ext cx="14927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b="1" i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L2 </a:t>
                </a:r>
                <a:r>
                  <a:rPr lang="ko-KR" altLang="en-US" b="1" i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규제 특성</a:t>
                </a:r>
                <a:endParaRPr lang="ko-KR" altLang="en-US" b="1" dirty="0"/>
              </a:p>
            </p:txBody>
          </p:sp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E8975F7F-F942-49C2-A037-89D559B3937E}"/>
                  </a:ext>
                </a:extLst>
              </p:cNvPr>
              <p:cNvSpPr/>
              <p:nvPr/>
            </p:nvSpPr>
            <p:spPr>
              <a:xfrm>
                <a:off x="2315726" y="1171944"/>
                <a:ext cx="149271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ko-KR" b="1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L1 </a:t>
                </a:r>
                <a:r>
                  <a:rPr lang="ko-KR" altLang="en-US" b="1" i="0" dirty="0">
                    <a:solidFill>
                      <a:srgbClr val="222222"/>
                    </a:solidFill>
                    <a:effectLst/>
                    <a:latin typeface="Arial" panose="020B0604020202020204" pitchFamily="34" charset="0"/>
                  </a:rPr>
                  <a:t>규제 특성</a:t>
                </a:r>
                <a:endParaRPr lang="ko-KR" altLang="en-US" b="1" dirty="0"/>
              </a:p>
            </p:txBody>
          </p:sp>
        </p:grp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039F0DD-F9EB-4303-BB4D-5AC019C50494}"/>
                </a:ext>
              </a:extLst>
            </p:cNvPr>
            <p:cNvSpPr/>
            <p:nvPr/>
          </p:nvSpPr>
          <p:spPr>
            <a:xfrm>
              <a:off x="74090" y="1618938"/>
              <a:ext cx="1769700" cy="3147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C8AB2D9-7308-4DB3-8570-83BBD88BB3E2}"/>
                </a:ext>
              </a:extLst>
            </p:cNvPr>
            <p:cNvSpPr/>
            <p:nvPr/>
          </p:nvSpPr>
          <p:spPr>
            <a:xfrm>
              <a:off x="6222263" y="1663908"/>
              <a:ext cx="1769700" cy="31479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833854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EFC6CD1F-782C-494A-8F64-EE2307479C67}"/>
              </a:ext>
            </a:extLst>
          </p:cNvPr>
          <p:cNvSpPr/>
          <p:nvPr/>
        </p:nvSpPr>
        <p:spPr>
          <a:xfrm>
            <a:off x="686268" y="600920"/>
            <a:ext cx="36308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Wingdings" panose="05000000000000000000" pitchFamily="2" charset="2"/>
              <a:buChar char="l"/>
            </a:pPr>
            <a:r>
              <a:rPr lang="ko-KR" altLang="en-US" b="1" dirty="0" err="1">
                <a:latin typeface="NanumSquareRound"/>
              </a:rPr>
              <a:t>릿지</a:t>
            </a:r>
            <a:r>
              <a:rPr lang="en-US" altLang="ko-KR" b="1" dirty="0">
                <a:latin typeface="NanumSquareRound"/>
              </a:rPr>
              <a:t>(Ridge)</a:t>
            </a:r>
            <a:endParaRPr lang="ko-KR" altLang="en-US" b="1" i="0" dirty="0">
              <a:effectLst/>
              <a:latin typeface="NanumSquareRound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04C84DE-7665-4650-B6B8-73A65CDF5879}"/>
              </a:ext>
            </a:extLst>
          </p:cNvPr>
          <p:cNvSpPr/>
          <p:nvPr/>
        </p:nvSpPr>
        <p:spPr>
          <a:xfrm>
            <a:off x="1084288" y="1044073"/>
            <a:ext cx="99334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b="0" i="0" dirty="0">
                <a:effectLst/>
                <a:ea typeface="+mj-ea"/>
              </a:rPr>
              <a:t>Ridge </a:t>
            </a:r>
            <a:r>
              <a:rPr lang="ko-KR" altLang="en-US" b="0" i="0" dirty="0">
                <a:effectLst/>
                <a:ea typeface="+mj-ea"/>
              </a:rPr>
              <a:t>회귀는 선형 회귀에 </a:t>
            </a:r>
            <a:r>
              <a:rPr lang="en-US" altLang="ko-KR" b="0" i="0" dirty="0">
                <a:effectLst/>
                <a:ea typeface="+mj-ea"/>
              </a:rPr>
              <a:t>L2 Regularization</a:t>
            </a:r>
            <a:r>
              <a:rPr lang="ko-KR" altLang="en-US" b="0" i="0" dirty="0">
                <a:effectLst/>
                <a:ea typeface="+mj-ea"/>
              </a:rPr>
              <a:t>을 추가한 모형이다</a:t>
            </a:r>
            <a:r>
              <a:rPr lang="en-US" altLang="ko-KR" b="0" i="0" dirty="0">
                <a:effectLst/>
                <a:ea typeface="+mj-ea"/>
              </a:rPr>
              <a:t>. Ridge </a:t>
            </a:r>
            <a:r>
              <a:rPr lang="ko-KR" altLang="en-US" b="0" i="0" dirty="0">
                <a:effectLst/>
                <a:ea typeface="+mj-ea"/>
              </a:rPr>
              <a:t>회귀는 </a:t>
            </a:r>
            <a:r>
              <a:rPr lang="en-US" altLang="ko-KR" b="0" i="0" dirty="0">
                <a:effectLst/>
                <a:ea typeface="+mj-ea"/>
              </a:rPr>
              <a:t>L2 Regularization</a:t>
            </a:r>
            <a:r>
              <a:rPr lang="ko-KR" altLang="en-US" b="0" i="0" dirty="0">
                <a:effectLst/>
                <a:ea typeface="+mj-ea"/>
              </a:rPr>
              <a:t>을 적용하는데</a:t>
            </a:r>
            <a:r>
              <a:rPr lang="en-US" altLang="ko-KR" b="0" i="0" dirty="0">
                <a:effectLst/>
                <a:ea typeface="+mj-ea"/>
              </a:rPr>
              <a:t>, L2 Regularization</a:t>
            </a:r>
            <a:r>
              <a:rPr lang="ko-KR" altLang="en-US" b="0" i="0" dirty="0">
                <a:effectLst/>
                <a:ea typeface="+mj-ea"/>
              </a:rPr>
              <a:t>은 상대적으로 큰 회귀 계수 값의 예측 영향도를 감소 시키기 위해서 회귀 </a:t>
            </a:r>
            <a:r>
              <a:rPr lang="ko-KR" altLang="en-US" b="0" i="0" dirty="0" err="1">
                <a:effectLst/>
                <a:ea typeface="+mj-ea"/>
              </a:rPr>
              <a:t>계수값을</a:t>
            </a:r>
            <a:r>
              <a:rPr lang="ko-KR" altLang="en-US" b="0" i="0" dirty="0">
                <a:effectLst/>
                <a:ea typeface="+mj-ea"/>
              </a:rPr>
              <a:t> 더 작게 만드는 </a:t>
            </a:r>
            <a:r>
              <a:rPr lang="en-US" altLang="ko-KR" b="0" i="0" dirty="0">
                <a:effectLst/>
                <a:ea typeface="+mj-ea"/>
              </a:rPr>
              <a:t>Regularization </a:t>
            </a:r>
            <a:r>
              <a:rPr lang="ko-KR" altLang="en-US" b="0" i="0" dirty="0">
                <a:effectLst/>
                <a:ea typeface="+mj-ea"/>
              </a:rPr>
              <a:t>모형</a:t>
            </a:r>
            <a:r>
              <a:rPr lang="en-US" altLang="ko-KR" b="0" i="0" dirty="0">
                <a:effectLst/>
                <a:ea typeface="+mj-ea"/>
              </a:rPr>
              <a:t>.</a:t>
            </a:r>
            <a:endParaRPr lang="ko-KR" altLang="en-US" dirty="0">
              <a:ea typeface="+mj-ea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82F0744D-B310-437C-8E5D-AFD195587F2A}"/>
              </a:ext>
            </a:extLst>
          </p:cNvPr>
          <p:cNvSpPr/>
          <p:nvPr/>
        </p:nvSpPr>
        <p:spPr>
          <a:xfrm>
            <a:off x="1084288" y="2270055"/>
            <a:ext cx="9641955" cy="13388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b="1" i="0" dirty="0">
                <a:effectLst/>
                <a:ea typeface="+mj-ea"/>
              </a:rPr>
              <a:t>주의사항</a:t>
            </a:r>
            <a:endParaRPr lang="ko-KR" altLang="en-US" b="0" i="0" dirty="0">
              <a:effectLst/>
              <a:ea typeface="+mj-ea"/>
            </a:endParaRPr>
          </a:p>
          <a:p>
            <a:r>
              <a:rPr lang="en-US" altLang="ko-KR" b="0" i="0" dirty="0">
                <a:effectLst/>
                <a:ea typeface="+mj-ea"/>
              </a:rPr>
              <a:t>: </a:t>
            </a:r>
            <a:r>
              <a:rPr lang="ko-KR" altLang="en-US" b="0" i="0" dirty="0" err="1">
                <a:effectLst/>
                <a:ea typeface="+mj-ea"/>
              </a:rPr>
              <a:t>릿지</a:t>
            </a:r>
            <a:r>
              <a:rPr lang="ko-KR" altLang="en-US" b="0" i="0" dirty="0">
                <a:effectLst/>
                <a:ea typeface="+mj-ea"/>
              </a:rPr>
              <a:t> 회귀분석은 독립변수 척도에 크게 영향을 받는다</a:t>
            </a:r>
            <a:r>
              <a:rPr lang="en-US" altLang="ko-KR" b="0" i="0" dirty="0">
                <a:effectLst/>
                <a:ea typeface="+mj-ea"/>
              </a:rPr>
              <a:t>. </a:t>
            </a:r>
            <a:r>
              <a:rPr lang="ko-KR" altLang="en-US" b="0" i="0" dirty="0">
                <a:effectLst/>
                <a:ea typeface="+mj-ea"/>
              </a:rPr>
              <a:t>표준적인 선형회귀 분석과 더욱 영향을 받는 알고리즘이므로</a:t>
            </a:r>
            <a:r>
              <a:rPr lang="en-US" altLang="ko-KR" b="0" i="0" dirty="0">
                <a:effectLst/>
                <a:ea typeface="+mj-ea"/>
              </a:rPr>
              <a:t>, </a:t>
            </a:r>
            <a:r>
              <a:rPr lang="ko-KR" altLang="en-US" b="0" i="0" dirty="0" err="1">
                <a:effectLst/>
                <a:ea typeface="+mj-ea"/>
              </a:rPr>
              <a:t>릿지</a:t>
            </a:r>
            <a:r>
              <a:rPr lang="ko-KR" altLang="en-US" b="0" i="0" dirty="0">
                <a:effectLst/>
                <a:ea typeface="+mj-ea"/>
              </a:rPr>
              <a:t> 회귀를 적용하기 전에 모든 독립변수의 척도가 동일하도록 표준화 하는 작업이 선행되어야 함</a:t>
            </a:r>
            <a:r>
              <a:rPr lang="en-US" altLang="ko-KR" b="0" i="0" dirty="0">
                <a:effectLst/>
                <a:ea typeface="+mj-ea"/>
              </a:rPr>
              <a:t>.</a:t>
            </a:r>
            <a:endParaRPr lang="ko-KR" altLang="en-US" b="0" i="0" dirty="0">
              <a:effectLst/>
              <a:ea typeface="+mj-ea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CF145AB-5E22-4866-870C-B79DECBA2F2B}"/>
              </a:ext>
            </a:extLst>
          </p:cNvPr>
          <p:cNvSpPr/>
          <p:nvPr/>
        </p:nvSpPr>
        <p:spPr>
          <a:xfrm>
            <a:off x="1084288" y="3865369"/>
            <a:ext cx="1066464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b="1" i="0" dirty="0">
                <a:effectLst/>
                <a:ea typeface="+mj-ea"/>
              </a:rPr>
              <a:t>특징</a:t>
            </a:r>
            <a:endParaRPr lang="ko-KR" altLang="en-US" b="0" i="0" dirty="0">
              <a:effectLst/>
              <a:ea typeface="+mj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effectLst/>
                <a:ea typeface="+mj-ea"/>
              </a:rPr>
              <a:t>관측갯수</a:t>
            </a:r>
            <a:r>
              <a:rPr lang="ko-KR" altLang="en-US" b="0" i="0" dirty="0">
                <a:effectLst/>
                <a:ea typeface="+mj-ea"/>
              </a:rPr>
              <a:t> 보다 독립변수가 상대적으로 많을 경우</a:t>
            </a:r>
            <a:r>
              <a:rPr lang="en-US" altLang="ko-KR" b="0" i="0" dirty="0">
                <a:effectLst/>
                <a:ea typeface="+mj-ea"/>
              </a:rPr>
              <a:t>, </a:t>
            </a:r>
            <a:r>
              <a:rPr lang="ko-KR" altLang="en-US" b="0" i="0" dirty="0">
                <a:effectLst/>
                <a:ea typeface="+mj-ea"/>
              </a:rPr>
              <a:t>일반 표준 선형회귀보다 우수한 성능을 발휘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effectLst/>
                <a:ea typeface="+mj-ea"/>
              </a:rPr>
              <a:t>릿지</a:t>
            </a:r>
            <a:r>
              <a:rPr lang="ko-KR" altLang="en-US" b="0" i="0" dirty="0">
                <a:effectLst/>
                <a:ea typeface="+mj-ea"/>
              </a:rPr>
              <a:t> 회귀분석은 회귀계수를 </a:t>
            </a:r>
            <a:r>
              <a:rPr lang="en-US" altLang="ko-KR" b="0" i="0" dirty="0">
                <a:effectLst/>
                <a:ea typeface="+mj-ea"/>
              </a:rPr>
              <a:t>0</a:t>
            </a:r>
            <a:r>
              <a:rPr lang="ko-KR" altLang="en-US" b="0" i="0" dirty="0">
                <a:effectLst/>
                <a:ea typeface="+mj-ea"/>
              </a:rPr>
              <a:t>에 가깝도록 축소시키지만 어떤 회귀계수도 </a:t>
            </a:r>
            <a:r>
              <a:rPr lang="en-US" altLang="ko-KR" b="0" i="0" dirty="0">
                <a:effectLst/>
                <a:ea typeface="+mj-ea"/>
              </a:rPr>
              <a:t>0</a:t>
            </a:r>
            <a:r>
              <a:rPr lang="ko-KR" altLang="en-US" b="0" i="0" dirty="0">
                <a:effectLst/>
                <a:ea typeface="+mj-ea"/>
              </a:rPr>
              <a:t>으로 만들지 않음</a:t>
            </a:r>
            <a:r>
              <a:rPr lang="en-US" altLang="ko-KR" b="0" i="0" dirty="0">
                <a:effectLst/>
                <a:ea typeface="+mj-ea"/>
              </a:rPr>
              <a:t>.</a:t>
            </a:r>
          </a:p>
          <a:p>
            <a:endParaRPr lang="en-US" altLang="ko-KR" dirty="0">
              <a:ea typeface="+mj-ea"/>
            </a:endParaRPr>
          </a:p>
          <a:p>
            <a:r>
              <a:rPr lang="ko-KR" altLang="en-US" b="0" i="0" dirty="0">
                <a:effectLst/>
                <a:ea typeface="+mj-ea"/>
              </a:rPr>
              <a:t>즉</a:t>
            </a:r>
            <a:r>
              <a:rPr lang="en-US" altLang="ko-KR" b="0" i="0" dirty="0">
                <a:effectLst/>
                <a:ea typeface="+mj-ea"/>
              </a:rPr>
              <a:t>, </a:t>
            </a:r>
            <a:r>
              <a:rPr lang="ko-KR" altLang="en-US" b="0" i="0" dirty="0">
                <a:effectLst/>
                <a:ea typeface="+mj-ea"/>
              </a:rPr>
              <a:t>원래 데이터셋에 있는 모든 독립변수가 </a:t>
            </a:r>
            <a:r>
              <a:rPr lang="ko-KR" altLang="en-US" b="0" i="0" dirty="0" err="1">
                <a:effectLst/>
                <a:ea typeface="+mj-ea"/>
              </a:rPr>
              <a:t>릿지회귀에서도</a:t>
            </a:r>
            <a:r>
              <a:rPr lang="ko-KR" altLang="en-US" b="0" i="0" dirty="0">
                <a:effectLst/>
                <a:ea typeface="+mj-ea"/>
              </a:rPr>
              <a:t> 그대로 적용된다는 것을 말함</a:t>
            </a:r>
            <a:r>
              <a:rPr lang="en-US" altLang="ko-KR" b="0" i="0" dirty="0">
                <a:effectLst/>
                <a:ea typeface="+mj-ea"/>
              </a:rPr>
              <a:t>. </a:t>
            </a:r>
          </a:p>
          <a:p>
            <a:r>
              <a:rPr lang="ko-KR" altLang="en-US" b="0" i="0" dirty="0">
                <a:effectLst/>
                <a:ea typeface="+mj-ea"/>
              </a:rPr>
              <a:t>따라서 단계선택법을 통해 통계적으로 유의한 독립변수만을 유지할 수 있는 선형회귀와는 달리</a:t>
            </a:r>
            <a:r>
              <a:rPr lang="en-US" altLang="ko-KR" b="0" i="0" dirty="0">
                <a:effectLst/>
                <a:ea typeface="+mj-ea"/>
              </a:rPr>
              <a:t>, </a:t>
            </a:r>
          </a:p>
          <a:p>
            <a:r>
              <a:rPr lang="ko-KR" altLang="en-US" b="0" i="0" dirty="0" err="1">
                <a:effectLst/>
                <a:ea typeface="+mj-ea"/>
              </a:rPr>
              <a:t>릿지</a:t>
            </a:r>
            <a:r>
              <a:rPr lang="ko-KR" altLang="en-US" b="0" i="0" dirty="0">
                <a:effectLst/>
                <a:ea typeface="+mj-ea"/>
              </a:rPr>
              <a:t> 회귀분석은 회귀모델의 모든 독립변수를 그대로 보존하고 있음</a:t>
            </a:r>
            <a:r>
              <a:rPr lang="en-US" altLang="ko-KR" b="0" i="0" dirty="0">
                <a:effectLst/>
                <a:ea typeface="+mj-ea"/>
              </a:rPr>
              <a:t>. </a:t>
            </a:r>
          </a:p>
          <a:p>
            <a:r>
              <a:rPr lang="en-US" altLang="ko-KR" b="0" i="0" dirty="0">
                <a:effectLst/>
                <a:ea typeface="+mj-ea"/>
              </a:rPr>
              <a:t>( </a:t>
            </a:r>
            <a:r>
              <a:rPr lang="ko-KR" altLang="en-US" b="0" i="0" dirty="0">
                <a:effectLst/>
                <a:ea typeface="+mj-ea"/>
              </a:rPr>
              <a:t>또 반대로 말하면</a:t>
            </a:r>
            <a:r>
              <a:rPr lang="en-US" altLang="ko-KR" b="0" i="0" dirty="0">
                <a:effectLst/>
                <a:ea typeface="+mj-ea"/>
              </a:rPr>
              <a:t>, </a:t>
            </a:r>
            <a:r>
              <a:rPr lang="ko-KR" altLang="en-US" b="0" i="0" dirty="0">
                <a:effectLst/>
                <a:ea typeface="+mj-ea"/>
              </a:rPr>
              <a:t>변수선택법 제공 불가</a:t>
            </a:r>
            <a:r>
              <a:rPr lang="en-US" altLang="ko-KR" b="0" i="0" dirty="0">
                <a:effectLst/>
                <a:ea typeface="+mj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36706308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61D77DA-10C8-4092-A562-C91E017F0C64}"/>
              </a:ext>
            </a:extLst>
          </p:cNvPr>
          <p:cNvSpPr/>
          <p:nvPr/>
        </p:nvSpPr>
        <p:spPr>
          <a:xfrm>
            <a:off x="686268" y="632588"/>
            <a:ext cx="36308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Wingdings" panose="05000000000000000000" pitchFamily="2" charset="2"/>
              <a:buChar char="l"/>
            </a:pPr>
            <a:r>
              <a:rPr lang="ko-KR" altLang="en-US" b="1" dirty="0" err="1">
                <a:latin typeface="NanumSquareRound"/>
              </a:rPr>
              <a:t>라쏘</a:t>
            </a:r>
            <a:r>
              <a:rPr lang="en-US" altLang="ko-KR" b="1" dirty="0">
                <a:latin typeface="NanumSquareRound"/>
              </a:rPr>
              <a:t>(Lasso)</a:t>
            </a:r>
            <a:endParaRPr lang="ko-KR" altLang="en-US" b="1" i="0" dirty="0">
              <a:effectLst/>
              <a:latin typeface="NanumSquareRound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C0A3537A-FC9F-46AC-8853-50AAC663970C}"/>
              </a:ext>
            </a:extLst>
          </p:cNvPr>
          <p:cNvSpPr/>
          <p:nvPr/>
        </p:nvSpPr>
        <p:spPr>
          <a:xfrm>
            <a:off x="1084288" y="1075741"/>
            <a:ext cx="99334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Lasso </a:t>
            </a:r>
            <a:r>
              <a:rPr lang="ko-KR" altLang="en-US" dirty="0"/>
              <a:t>회귀는 선형 회귀에 </a:t>
            </a:r>
            <a:r>
              <a:rPr lang="en-US" altLang="ko-KR" dirty="0"/>
              <a:t>L1 Regularization</a:t>
            </a:r>
            <a:r>
              <a:rPr lang="ko-KR" altLang="en-US" dirty="0"/>
              <a:t>을 적용한 방식이다</a:t>
            </a:r>
            <a:r>
              <a:rPr lang="en-US" altLang="ko-KR" dirty="0"/>
              <a:t>. L2 Regularization</a:t>
            </a:r>
            <a:r>
              <a:rPr lang="ko-KR" altLang="en-US" dirty="0"/>
              <a:t>이 회귀 계수 값의 크기를 줄이는 데 반해</a:t>
            </a:r>
            <a:r>
              <a:rPr lang="en-US" altLang="ko-KR" dirty="0"/>
              <a:t>, L1 Regularization</a:t>
            </a:r>
            <a:r>
              <a:rPr lang="ko-KR" altLang="en-US" dirty="0"/>
              <a:t>은 예측 영향력이 작은 피처의 회귀계수를 </a:t>
            </a:r>
            <a:r>
              <a:rPr lang="en-US" altLang="ko-KR" dirty="0"/>
              <a:t>0</a:t>
            </a:r>
            <a:r>
              <a:rPr lang="ko-KR" altLang="en-US" dirty="0"/>
              <a:t>으로 만들어 회귀 예측 시 피처가 선택되지 않게 하는 것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19DBDA5-4664-4256-9F4C-184E2EC8A69F}"/>
              </a:ext>
            </a:extLst>
          </p:cNvPr>
          <p:cNvSpPr/>
          <p:nvPr/>
        </p:nvSpPr>
        <p:spPr>
          <a:xfrm>
            <a:off x="686268" y="3540485"/>
            <a:ext cx="36308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fontAlgn="base">
              <a:buFont typeface="Wingdings" panose="05000000000000000000" pitchFamily="2" charset="2"/>
              <a:buChar char="l"/>
            </a:pPr>
            <a:r>
              <a:rPr lang="ko-KR" altLang="en-US" b="1" dirty="0" err="1">
                <a:latin typeface="NanumSquareRound"/>
              </a:rPr>
              <a:t>엘라스틱넷</a:t>
            </a:r>
            <a:r>
              <a:rPr lang="en-US" altLang="ko-KR" b="1" dirty="0">
                <a:latin typeface="NanumSquareRound"/>
              </a:rPr>
              <a:t>(</a:t>
            </a:r>
            <a:r>
              <a:rPr lang="en-US" altLang="ko-KR" b="1" dirty="0" err="1">
                <a:latin typeface="NanumSquareRound"/>
              </a:rPr>
              <a:t>ElasticNet</a:t>
            </a:r>
            <a:r>
              <a:rPr lang="en-US" altLang="ko-KR" b="1" dirty="0">
                <a:latin typeface="NanumSquareRound"/>
              </a:rPr>
              <a:t>)</a:t>
            </a:r>
            <a:endParaRPr lang="ko-KR" altLang="en-US" b="1" i="0" dirty="0">
              <a:effectLst/>
              <a:latin typeface="NanumSquareRound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0D12C9F-9DF8-4027-BDAA-416C4CA3FF34}"/>
              </a:ext>
            </a:extLst>
          </p:cNvPr>
          <p:cNvSpPr/>
          <p:nvPr/>
        </p:nvSpPr>
        <p:spPr>
          <a:xfrm>
            <a:off x="1084288" y="3983638"/>
            <a:ext cx="993348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dirty="0"/>
              <a:t>L2, L1 Regularization</a:t>
            </a:r>
            <a:r>
              <a:rPr lang="ko-KR" altLang="en-US" dirty="0"/>
              <a:t>을 함께 결합한 모형</a:t>
            </a:r>
            <a:r>
              <a:rPr lang="en-US" altLang="ko-KR" dirty="0"/>
              <a:t>. </a:t>
            </a:r>
          </a:p>
          <a:p>
            <a:r>
              <a:rPr lang="ko-KR" altLang="en-US" dirty="0"/>
              <a:t>주로 피처가 많은 데이터 세트에서 적용되며</a:t>
            </a:r>
            <a:r>
              <a:rPr lang="en-US" altLang="ko-KR" dirty="0"/>
              <a:t>, L1 Regularization</a:t>
            </a:r>
            <a:r>
              <a:rPr lang="ko-KR" altLang="en-US" dirty="0"/>
              <a:t>으로 피처의 개수를 줄임과 동시에 </a:t>
            </a:r>
            <a:r>
              <a:rPr lang="en-US" altLang="ko-KR" dirty="0"/>
              <a:t>L2 Regularization</a:t>
            </a:r>
            <a:r>
              <a:rPr lang="ko-KR" altLang="en-US" dirty="0"/>
              <a:t>으로 계수의 값의 크기를 조정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6F9E1AED-3AC8-4A08-AA73-35B932EDB6E2}"/>
              </a:ext>
            </a:extLst>
          </p:cNvPr>
          <p:cNvSpPr/>
          <p:nvPr/>
        </p:nvSpPr>
        <p:spPr>
          <a:xfrm>
            <a:off x="1084288" y="2072892"/>
            <a:ext cx="1056306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0" i="0" dirty="0" err="1">
                <a:effectLst/>
                <a:latin typeface="Noto Sans KR"/>
              </a:rPr>
              <a:t>릿지회귀와</a:t>
            </a:r>
            <a:r>
              <a:rPr lang="ko-KR" altLang="en-US" b="0" i="0" dirty="0">
                <a:effectLst/>
                <a:latin typeface="Noto Sans KR"/>
              </a:rPr>
              <a:t> 달리 회귀계수가 </a:t>
            </a:r>
            <a:r>
              <a:rPr lang="en-US" altLang="ko-KR" b="0" i="0" dirty="0">
                <a:effectLst/>
                <a:latin typeface="Noto Sans KR"/>
              </a:rPr>
              <a:t>0</a:t>
            </a:r>
            <a:r>
              <a:rPr lang="ko-KR" altLang="en-US" b="0" i="0" dirty="0">
                <a:effectLst/>
                <a:latin typeface="Noto Sans KR"/>
              </a:rPr>
              <a:t>이 될 수 있기 때문에 변수선택을 통해 더 간단한 모델을 만들 수 있음</a:t>
            </a:r>
            <a:r>
              <a:rPr lang="en-US" altLang="ko-KR" b="0" i="0" dirty="0">
                <a:effectLst/>
                <a:latin typeface="Noto Sans KR"/>
              </a:rPr>
              <a:t>. </a:t>
            </a:r>
          </a:p>
          <a:p>
            <a:r>
              <a:rPr lang="en-US" altLang="ko-KR" dirty="0">
                <a:latin typeface="Noto Sans KR"/>
              </a:rPr>
              <a:t>(</a:t>
            </a:r>
            <a:r>
              <a:rPr lang="ko-KR" altLang="en-US" dirty="0"/>
              <a:t> 설명력이 우수한 독립변수만으로 모델을 생성해 단순화 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F23DB13-A53D-4A6A-8874-50625BA1AF4D}"/>
              </a:ext>
            </a:extLst>
          </p:cNvPr>
          <p:cNvSpPr/>
          <p:nvPr/>
        </p:nvSpPr>
        <p:spPr>
          <a:xfrm>
            <a:off x="1084287" y="5054244"/>
            <a:ext cx="1056306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dirty="0" err="1"/>
              <a:t>릿지</a:t>
            </a:r>
            <a:r>
              <a:rPr lang="ko-KR" altLang="en-US" dirty="0"/>
              <a:t> 회귀모델처럼 모델을 충분하게 설명하지 못하는 일부 독립변수의 회귀계수 크기를 축소할 수 있고</a:t>
            </a:r>
            <a:r>
              <a:rPr lang="en-US" altLang="ko-KR" dirty="0"/>
              <a:t>, </a:t>
            </a:r>
            <a:r>
              <a:rPr lang="ko-KR" altLang="en-US" dirty="0" err="1"/>
              <a:t>랏쏘</a:t>
            </a:r>
            <a:r>
              <a:rPr lang="ko-KR" altLang="en-US" dirty="0"/>
              <a:t> 회귀모델처럼 모델을 충분하게 설명하기 못하는 일부 독립변수의 회귀계수를 강제로 </a:t>
            </a:r>
            <a:r>
              <a:rPr lang="en-US" altLang="ko-KR" dirty="0"/>
              <a:t>0</a:t>
            </a:r>
            <a:r>
              <a:rPr lang="ko-KR" altLang="en-US" dirty="0"/>
              <a:t>으로 할당하여 특정 독립변수를 모델에서 제거할 수 있음</a:t>
            </a:r>
            <a:r>
              <a:rPr lang="en-US" altLang="ko-KR" dirty="0"/>
              <a:t>. </a:t>
            </a:r>
          </a:p>
        </p:txBody>
      </p:sp>
    </p:spTree>
    <p:extLst>
      <p:ext uri="{BB962C8B-B14F-4D97-AF65-F5344CB8AC3E}">
        <p14:creationId xmlns:p14="http://schemas.microsoft.com/office/powerpoint/2010/main" val="2796591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108</TotalTime>
  <Words>1521</Words>
  <Application>Microsoft Office PowerPoint</Application>
  <PresentationFormat>와이드스크린</PresentationFormat>
  <Paragraphs>146</Paragraphs>
  <Slides>17</Slides>
  <Notes>1</Notes>
  <HiddenSlides>0</HiddenSlides>
  <MMClips>1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8" baseType="lpstr">
      <vt:lpstr>Apple SD Gothic Neo</vt:lpstr>
      <vt:lpstr>-apple-system</vt:lpstr>
      <vt:lpstr>Graphik</vt:lpstr>
      <vt:lpstr>Lato</vt:lpstr>
      <vt:lpstr>NanumSquareRound</vt:lpstr>
      <vt:lpstr>Noto Sans KR</vt:lpstr>
      <vt:lpstr>PT Sans</vt:lpstr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54</cp:revision>
  <dcterms:created xsi:type="dcterms:W3CDTF">2022-11-04T12:29:40Z</dcterms:created>
  <dcterms:modified xsi:type="dcterms:W3CDTF">2022-11-04T14:18:08Z</dcterms:modified>
</cp:coreProperties>
</file>