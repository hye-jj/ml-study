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Arimo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Arial Black"/>
      <p:regular r:id="rId48"/>
    </p:embeddedFont>
    <p:embeddedFont>
      <p:font typeface="Merriweather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iBAbVnWM8hoB5UcsfkzHWkHXo+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regular.fntdata"/><Relationship Id="rId42" Type="http://schemas.openxmlformats.org/officeDocument/2006/relationships/font" Target="fonts/Arimo-italic.fntdata"/><Relationship Id="rId41" Type="http://schemas.openxmlformats.org/officeDocument/2006/relationships/font" Target="fonts/Arimo-bold.fntdata"/><Relationship Id="rId44" Type="http://schemas.openxmlformats.org/officeDocument/2006/relationships/font" Target="fonts/Inter-regular.fntdata"/><Relationship Id="rId43" Type="http://schemas.openxmlformats.org/officeDocument/2006/relationships/font" Target="fonts/Arimo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ArialBlack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Merriweath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Merriweather-italic.fntdata"/><Relationship Id="rId50" Type="http://schemas.openxmlformats.org/officeDocument/2006/relationships/font" Target="fonts/Merriweather-bold.fntdata"/><Relationship Id="rId53" Type="http://customschemas.google.com/relationships/presentationmetadata" Target="metadata"/><Relationship Id="rId52" Type="http://schemas.openxmlformats.org/officeDocument/2006/relationships/font" Target="fonts/Merriweath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ontents slide layout">
  <p:cSld name="16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980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39.png"/><Relationship Id="rId6" Type="http://schemas.openxmlformats.org/officeDocument/2006/relationships/image" Target="../media/image56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709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"/>
          <p:cNvGrpSpPr/>
          <p:nvPr/>
        </p:nvGrpSpPr>
        <p:grpSpPr>
          <a:xfrm>
            <a:off x="-153681" y="0"/>
            <a:ext cx="11911554" cy="6858000"/>
            <a:chOff x="0" y="0"/>
            <a:chExt cx="11911554" cy="6858000"/>
          </a:xfrm>
        </p:grpSpPr>
        <p:pic>
          <p:nvPicPr>
            <p:cNvPr descr="자전거 타기의 무료 일러스트" id="87" name="Google Shape;87;p1"/>
            <p:cNvPicPr preferRelativeResize="0"/>
            <p:nvPr/>
          </p:nvPicPr>
          <p:blipFill rotWithShape="1">
            <a:blip r:embed="rId3">
              <a:alphaModFix/>
            </a:blip>
            <a:srcRect b="4369" l="20000" r="0" t="3741"/>
            <a:stretch/>
          </p:blipFill>
          <p:spPr>
            <a:xfrm>
              <a:off x="0" y="0"/>
              <a:ext cx="100584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"/>
            <p:cNvSpPr txBox="1"/>
            <p:nvPr/>
          </p:nvSpPr>
          <p:spPr>
            <a:xfrm>
              <a:off x="5350129" y="4162256"/>
              <a:ext cx="6515095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자전거 수요예측</a:t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6856844" y="5188211"/>
              <a:ext cx="50083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인공지능전공, K2022531 최혜정</a:t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6903174" y="6398832"/>
              <a:ext cx="5008380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출처 및 참고 : https://www.kaggle.com/c/bike-sharing-demand</a:t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9854737" y="418612"/>
              <a:ext cx="20104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기계학습기초 과제 (9주차)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709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631053" y="1295732"/>
            <a:ext cx="10929894" cy="5205466"/>
          </a:xfrm>
          <a:prstGeom prst="roundRect">
            <a:avLst>
              <a:gd fmla="val 1286" name="adj"/>
            </a:avLst>
          </a:prstGeom>
          <a:solidFill>
            <a:schemeClr val="lt1">
              <a:alpha val="2980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899107" y="793572"/>
            <a:ext cx="46618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3265738" y="1886943"/>
            <a:ext cx="5660524" cy="1181328"/>
            <a:chOff x="6305942" y="1681595"/>
            <a:chExt cx="5660524" cy="1181328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7304626" y="2347397"/>
              <a:ext cx="4661840" cy="5155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kaggle에 있는 자전거 수요예측 competition에 참가.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변수 및 과제 소개.</a:t>
              </a:r>
              <a:endParaRPr/>
            </a:p>
          </p:txBody>
        </p:sp>
        <p:grpSp>
          <p:nvGrpSpPr>
            <p:cNvPr id="100" name="Google Shape;100;p2"/>
            <p:cNvGrpSpPr/>
            <p:nvPr/>
          </p:nvGrpSpPr>
          <p:grpSpPr>
            <a:xfrm>
              <a:off x="6305942" y="1681595"/>
              <a:ext cx="5642946" cy="707886"/>
              <a:chOff x="6102442" y="1483456"/>
              <a:chExt cx="5642946" cy="707886"/>
            </a:xfrm>
          </p:grpSpPr>
          <p:sp>
            <p:nvSpPr>
              <p:cNvPr id="101" name="Google Shape;101;p2"/>
              <p:cNvSpPr txBox="1"/>
              <p:nvPr/>
            </p:nvSpPr>
            <p:spPr>
              <a:xfrm>
                <a:off x="7083548" y="1685366"/>
                <a:ext cx="46618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Kaggle 데이터</a:t>
                </a:r>
                <a:endParaRPr/>
              </a:p>
            </p:txBody>
          </p:sp>
          <p:sp>
            <p:nvSpPr>
              <p:cNvPr id="102" name="Google Shape;102;p2"/>
              <p:cNvSpPr txBox="1"/>
              <p:nvPr/>
            </p:nvSpPr>
            <p:spPr>
              <a:xfrm>
                <a:off x="6102442" y="1483456"/>
                <a:ext cx="981106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01</a:t>
                </a:r>
                <a:endParaRPr b="1" sz="4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103" name="Google Shape;103;p2"/>
          <p:cNvGrpSpPr/>
          <p:nvPr/>
        </p:nvGrpSpPr>
        <p:grpSpPr>
          <a:xfrm>
            <a:off x="3265738" y="3242104"/>
            <a:ext cx="5660524" cy="1091593"/>
            <a:chOff x="6305942" y="1681595"/>
            <a:chExt cx="5660524" cy="1091593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7304626" y="2342301"/>
              <a:ext cx="466184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탐색을 통한 이해, 그래프와 인사이트 도출.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05" name="Google Shape;105;p2"/>
            <p:cNvGrpSpPr/>
            <p:nvPr/>
          </p:nvGrpSpPr>
          <p:grpSpPr>
            <a:xfrm>
              <a:off x="6305942" y="1681595"/>
              <a:ext cx="5642946" cy="707886"/>
              <a:chOff x="6102442" y="1483456"/>
              <a:chExt cx="5642946" cy="707886"/>
            </a:xfrm>
          </p:grpSpPr>
          <p:sp>
            <p:nvSpPr>
              <p:cNvPr id="106" name="Google Shape;106;p2"/>
              <p:cNvSpPr txBox="1"/>
              <p:nvPr/>
            </p:nvSpPr>
            <p:spPr>
              <a:xfrm>
                <a:off x="7083548" y="1678152"/>
                <a:ext cx="46618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분석</a:t>
                </a:r>
                <a:endParaRPr/>
              </a:p>
            </p:txBody>
          </p:sp>
          <p:sp>
            <p:nvSpPr>
              <p:cNvPr id="107" name="Google Shape;107;p2"/>
              <p:cNvSpPr txBox="1"/>
              <p:nvPr/>
            </p:nvSpPr>
            <p:spPr>
              <a:xfrm>
                <a:off x="6102442" y="1483456"/>
                <a:ext cx="981106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02</a:t>
                </a:r>
                <a:endParaRPr b="1" sz="4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108" name="Google Shape;108;p2"/>
          <p:cNvGrpSpPr/>
          <p:nvPr/>
        </p:nvGrpSpPr>
        <p:grpSpPr>
          <a:xfrm>
            <a:off x="3265738" y="4507530"/>
            <a:ext cx="5660524" cy="1113807"/>
            <a:chOff x="6305942" y="1497415"/>
            <a:chExt cx="5660524" cy="1113807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7304626" y="2180335"/>
              <a:ext cx="466184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후 적합한 알고리즘을 이용하여 모델 학습, 평가</a:t>
              </a:r>
              <a:endParaRPr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최종모델을 이용하여 추출한 결과 보고.</a:t>
              </a:r>
              <a:endParaRPr/>
            </a:p>
          </p:txBody>
        </p:sp>
        <p:grpSp>
          <p:nvGrpSpPr>
            <p:cNvPr id="110" name="Google Shape;110;p2"/>
            <p:cNvGrpSpPr/>
            <p:nvPr/>
          </p:nvGrpSpPr>
          <p:grpSpPr>
            <a:xfrm>
              <a:off x="6305942" y="1497415"/>
              <a:ext cx="5642946" cy="707886"/>
              <a:chOff x="6102442" y="1299276"/>
              <a:chExt cx="5642946" cy="707886"/>
            </a:xfrm>
          </p:grpSpPr>
          <p:sp>
            <p:nvSpPr>
              <p:cNvPr id="111" name="Google Shape;111;p2"/>
              <p:cNvSpPr txBox="1"/>
              <p:nvPr/>
            </p:nvSpPr>
            <p:spPr>
              <a:xfrm>
                <a:off x="7083548" y="1493972"/>
                <a:ext cx="46618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모델링 및 결과</a:t>
                </a:r>
                <a:endParaRPr/>
              </a:p>
            </p:txBody>
          </p:sp>
          <p:sp>
            <p:nvSpPr>
              <p:cNvPr id="112" name="Google Shape;112;p2"/>
              <p:cNvSpPr txBox="1"/>
              <p:nvPr/>
            </p:nvSpPr>
            <p:spPr>
              <a:xfrm>
                <a:off x="6102442" y="1299276"/>
                <a:ext cx="981106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03</a:t>
                </a:r>
                <a:endParaRPr b="1" sz="4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pic>
        <p:nvPicPr>
          <p:cNvPr descr="자전거 타기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322560" y="495023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92793" y="269047"/>
            <a:ext cx="11257161" cy="6309469"/>
          </a:xfrm>
          <a:prstGeom prst="roundRect">
            <a:avLst>
              <a:gd fmla="val 1286" name="adj"/>
            </a:avLst>
          </a:prstGeom>
          <a:solidFill>
            <a:schemeClr val="lt1">
              <a:alpha val="29804"/>
            </a:schemeClr>
          </a:solidFill>
          <a:ln cap="flat" cmpd="sng" w="127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3"/>
          <p:cNvSpPr/>
          <p:nvPr/>
        </p:nvSpPr>
        <p:spPr>
          <a:xfrm rot="4934599">
            <a:off x="4983623" y="-50953"/>
            <a:ext cx="1419425" cy="4249355"/>
          </a:xfrm>
          <a:prstGeom prst="curvedRightArrow">
            <a:avLst>
              <a:gd fmla="val 21603" name="adj1"/>
              <a:gd fmla="val 60937" name="adj2"/>
              <a:gd fmla="val 48976" name="adj3"/>
            </a:avLst>
          </a:prstGeom>
          <a:solidFill>
            <a:srgbClr val="FEE599"/>
          </a:solidFill>
          <a:ln cap="flat" cmpd="sng" w="127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0" name="Google Shape;120;p3"/>
          <p:cNvGrpSpPr/>
          <p:nvPr/>
        </p:nvGrpSpPr>
        <p:grpSpPr>
          <a:xfrm>
            <a:off x="918829" y="1832375"/>
            <a:ext cx="10354341" cy="4235042"/>
            <a:chOff x="999853" y="1867099"/>
            <a:chExt cx="10354341" cy="4235042"/>
          </a:xfrm>
        </p:grpSpPr>
        <p:sp>
          <p:nvSpPr>
            <p:cNvPr id="121" name="Google Shape;121;p3"/>
            <p:cNvSpPr/>
            <p:nvPr/>
          </p:nvSpPr>
          <p:spPr>
            <a:xfrm>
              <a:off x="9249118" y="2838619"/>
              <a:ext cx="2105076" cy="3263520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999853" y="3576895"/>
              <a:ext cx="2042102" cy="893484"/>
            </a:xfrm>
            <a:prstGeom prst="chevron">
              <a:avLst>
                <a:gd fmla="val 50000" name="adj"/>
              </a:avLst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068907" y="3149445"/>
              <a:ext cx="2042102" cy="893484"/>
            </a:xfrm>
            <a:prstGeom prst="chevron">
              <a:avLst>
                <a:gd fmla="val 50000" name="adj"/>
              </a:avLst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137961" y="2721997"/>
              <a:ext cx="2042102" cy="893484"/>
            </a:xfrm>
            <a:prstGeom prst="chevron">
              <a:avLst>
                <a:gd fmla="val 50000" name="adj"/>
              </a:avLst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207015" y="2294548"/>
              <a:ext cx="2042102" cy="893484"/>
            </a:xfrm>
            <a:prstGeom prst="chevron">
              <a:avLst>
                <a:gd fmla="val 50000" name="adj"/>
              </a:avLst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9276071" y="1867099"/>
              <a:ext cx="2042102" cy="893484"/>
            </a:xfrm>
            <a:prstGeom prst="chevron">
              <a:avLst>
                <a:gd fmla="val 50000" name="adj"/>
              </a:avLst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180064" y="3281363"/>
              <a:ext cx="2069053" cy="2820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5111011" y="3723327"/>
              <a:ext cx="2069054" cy="2378812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068907" y="4119286"/>
              <a:ext cx="2042102" cy="1982855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013410" y="4530417"/>
              <a:ext cx="2055497" cy="1571722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1519662" y="3704156"/>
              <a:ext cx="1002485" cy="307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step1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3588716" y="3276707"/>
              <a:ext cx="1002485" cy="307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step2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5657770" y="2860833"/>
              <a:ext cx="1002485" cy="307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step3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7726824" y="2421809"/>
              <a:ext cx="1002485" cy="307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step4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9795880" y="2005935"/>
              <a:ext cx="1002485" cy="307777"/>
            </a:xfrm>
            <a:prstGeom prst="rect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step5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1185192" y="4567586"/>
              <a:ext cx="1711933" cy="1441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변수 확인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형태 확인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오류 확인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상관관계 분석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왜도, 첨도 확인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303786" y="61094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709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 요약 </a:t>
            </a:r>
            <a:endParaRPr b="1" i="0" sz="3200" u="none" cap="none" strike="noStrike">
              <a:solidFill>
                <a:srgbClr val="1F70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339491" y="3957934"/>
            <a:ext cx="13084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탐색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507692" y="3531879"/>
            <a:ext cx="12093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정제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5576746" y="3116005"/>
            <a:ext cx="1002485" cy="307777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645800" y="2688556"/>
            <a:ext cx="1002485" cy="307777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평가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578732" y="2261107"/>
            <a:ext cx="15222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모델 선택</a:t>
            </a:r>
            <a:endParaRPr/>
          </a:p>
        </p:txBody>
      </p:sp>
      <p:pic>
        <p:nvPicPr>
          <p:cNvPr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879" y="4532862"/>
            <a:ext cx="1428198" cy="1534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3154579" y="4069007"/>
            <a:ext cx="2105076" cy="171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대상 선정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(결측값, 이상값 등)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방법 결정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(삭제, 대체, 변환 등)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lgun Gothic"/>
              <a:buChar char="*"/>
            </a:pPr>
            <a:r>
              <a:rPr b="1"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분포, 단위 변환</a:t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lgun Gothic"/>
              <a:buChar char="*"/>
            </a:pPr>
            <a:r>
              <a:rPr b="1"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파생변수, 중요변수 확인</a:t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5236822" y="3758785"/>
            <a:ext cx="1969104" cy="1164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평가지표 결정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분리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회귀 알고리즘   이용 (연속성, 수요예측)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305874" y="3395871"/>
            <a:ext cx="1872481" cy="171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회귀 이해, 예측, 인과관계 증명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평가척도에 맞게 평가, 평가결과 비교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9367622" y="2938415"/>
            <a:ext cx="1733403" cy="1810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선정</a:t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7097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“새로운 관측값들이 적용되었을 때 높은 예측 정확도를 내는 모델” </a:t>
            </a:r>
            <a:endParaRPr b="1" sz="1300">
              <a:solidFill>
                <a:srgbClr val="1F7097"/>
              </a:solidFill>
              <a:highlight>
                <a:srgbClr val="FFFF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"/>
          <p:cNvGrpSpPr/>
          <p:nvPr/>
        </p:nvGrpSpPr>
        <p:grpSpPr>
          <a:xfrm>
            <a:off x="-1796901" y="-1426099"/>
            <a:ext cx="15697935" cy="9743614"/>
            <a:chOff x="-1796901" y="-1426099"/>
            <a:chExt cx="15697935" cy="9743614"/>
          </a:xfrm>
        </p:grpSpPr>
        <p:sp>
          <p:nvSpPr>
            <p:cNvPr id="153" name="Google Shape;153;p4"/>
            <p:cNvSpPr/>
            <p:nvPr/>
          </p:nvSpPr>
          <p:spPr>
            <a:xfrm rot="898588">
              <a:off x="-1061033" y="801655"/>
              <a:ext cx="7420053" cy="6670397"/>
            </a:xfrm>
            <a:custGeom>
              <a:rect b="b" l="l" r="r" t="t"/>
              <a:pathLst>
                <a:path extrusionOk="0" h="6670397" w="7420053">
                  <a:moveTo>
                    <a:pt x="0" y="45349"/>
                  </a:moveTo>
                  <a:lnTo>
                    <a:pt x="169524" y="0"/>
                  </a:lnTo>
                  <a:lnTo>
                    <a:pt x="7420053" y="0"/>
                  </a:lnTo>
                  <a:lnTo>
                    <a:pt x="5072701" y="5787499"/>
                  </a:lnTo>
                  <a:lnTo>
                    <a:pt x="1772260" y="667039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 rot="898588">
              <a:off x="5882679" y="-596779"/>
              <a:ext cx="7287610" cy="6613342"/>
            </a:xfrm>
            <a:custGeom>
              <a:rect b="b" l="l" r="r" t="t"/>
              <a:pathLst>
                <a:path extrusionOk="0" h="6613342" w="7287610">
                  <a:moveTo>
                    <a:pt x="2337132" y="851040"/>
                  </a:moveTo>
                  <a:lnTo>
                    <a:pt x="5518481" y="0"/>
                  </a:lnTo>
                  <a:lnTo>
                    <a:pt x="7287610" y="6613342"/>
                  </a:lnTo>
                  <a:lnTo>
                    <a:pt x="0" y="6613342"/>
                  </a:lnTo>
                  <a:close/>
                </a:path>
              </a:pathLst>
            </a:custGeom>
            <a:solidFill>
              <a:srgbClr val="1F7097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6" name="Google Shape;156;p4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59" name="Google Shape;159;p4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0" name="Google Shape;160;p4"/>
          <p:cNvGrpSpPr/>
          <p:nvPr/>
        </p:nvGrpSpPr>
        <p:grpSpPr>
          <a:xfrm>
            <a:off x="943607" y="3420664"/>
            <a:ext cx="3959803" cy="769651"/>
            <a:chOff x="4583694" y="2516906"/>
            <a:chExt cx="3376307" cy="620143"/>
          </a:xfrm>
        </p:grpSpPr>
        <p:sp>
          <p:nvSpPr>
            <p:cNvPr id="161" name="Google Shape;161;p4"/>
            <p:cNvSpPr/>
            <p:nvPr/>
          </p:nvSpPr>
          <p:spPr>
            <a:xfrm>
              <a:off x="4836824" y="2516906"/>
              <a:ext cx="2870047" cy="3719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Bike Sharing Demand</a:t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4583694" y="2864261"/>
              <a:ext cx="3376307" cy="272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(Forecast use of a city bikeshare system)</a:t>
              </a:r>
              <a:endPara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159" y="2283795"/>
            <a:ext cx="5620299" cy="1077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6693335" y="2911581"/>
            <a:ext cx="5026621" cy="1479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워싱턴 DC </a:t>
            </a:r>
            <a:endParaRPr b="1"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Capital Bikeshare 프로그램의 </a:t>
            </a:r>
            <a:endParaRPr b="1" sz="2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자전거 대여 </a:t>
            </a:r>
            <a:r>
              <a:rPr b="1" lang="en-US" sz="2400" u="sng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예측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449560" y="2176075"/>
            <a:ext cx="1618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: </a:t>
            </a:r>
            <a:endParaRPr b="1"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574581">
            <a:off x="7864446" y="1782040"/>
            <a:ext cx="3960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1057576" y="4590656"/>
            <a:ext cx="3960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/>
        </p:nvSpPr>
        <p:spPr>
          <a:xfrm>
            <a:off x="4087234" y="533209"/>
            <a:ext cx="822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목표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5"/>
          <p:cNvGrpSpPr/>
          <p:nvPr/>
        </p:nvGrpSpPr>
        <p:grpSpPr>
          <a:xfrm>
            <a:off x="1434160" y="703127"/>
            <a:ext cx="9495216" cy="5167920"/>
            <a:chOff x="1434160" y="703127"/>
            <a:chExt cx="9495216" cy="5167920"/>
          </a:xfrm>
        </p:grpSpPr>
        <p:pic>
          <p:nvPicPr>
            <p:cNvPr descr="머신러닝_유형.png" id="174" name="Google Shape;17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34160" y="703127"/>
              <a:ext cx="9495216" cy="51679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5"/>
            <p:cNvSpPr/>
            <p:nvPr/>
          </p:nvSpPr>
          <p:spPr>
            <a:xfrm>
              <a:off x="3020295" y="3681990"/>
              <a:ext cx="2189057" cy="2189057"/>
            </a:xfrm>
            <a:prstGeom prst="ellipse">
              <a:avLst/>
            </a:prstGeom>
            <a:noFill/>
            <a:ln cap="flat" cmpd="sng" w="76200">
              <a:solidFill>
                <a:srgbClr val="1F709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z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확인 표시" id="176" name="Google Shape;17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59895" y="4063424"/>
              <a:ext cx="734185" cy="7341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5"/>
          <p:cNvSpPr/>
          <p:nvPr/>
        </p:nvSpPr>
        <p:spPr>
          <a:xfrm>
            <a:off x="7923737" y="3339751"/>
            <a:ext cx="3704263" cy="2715962"/>
          </a:xfrm>
          <a:custGeom>
            <a:rect b="b" l="l" r="r" t="t"/>
            <a:pathLst>
              <a:path extrusionOk="0" h="3240000" w="2387678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rgbClr val="1F7097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9" name="Google Shape;179;p5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180" name="Google Shape;180;p5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82" name="Google Shape;182;p5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5"/>
          <p:cNvSpPr/>
          <p:nvPr/>
        </p:nvSpPr>
        <p:spPr>
          <a:xfrm>
            <a:off x="8032382" y="3573449"/>
            <a:ext cx="3486975" cy="2082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회귀분석, Regression 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입력변수와 출력변수의 관계에 대하여 모델링하여 </a:t>
            </a:r>
            <a:r>
              <a:rPr b="1"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출력변수를 예측</a:t>
            </a:r>
            <a:r>
              <a:rPr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7097"/>
              </a:buClr>
              <a:buSzPts val="1400"/>
              <a:buFont typeface="Noto Sans Symbols"/>
              <a:buChar char="●"/>
            </a:pPr>
            <a:r>
              <a:rPr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Linear Regression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7097"/>
              </a:buClr>
              <a:buSzPts val="1400"/>
              <a:buFont typeface="Noto Sans Symbols"/>
              <a:buChar char="●"/>
            </a:pPr>
            <a:r>
              <a:rPr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Polynomial Regression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7097"/>
              </a:buClr>
              <a:buSzPts val="1400"/>
              <a:buFont typeface="Noto Sans Symbols"/>
              <a:buChar char="●"/>
            </a:pPr>
            <a:r>
              <a:rPr lang="en-US"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Ridge/Lasso Regression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9" name="Google Shape;189;p6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190" name="Google Shape;190;p6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92" name="Google Shape;192;p6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6124" y="249660"/>
            <a:ext cx="3212870" cy="63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7953745" y="5736228"/>
            <a:ext cx="25976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</a:t>
            </a:r>
            <a:endParaRPr b="1" sz="3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5" name="Google Shape;195;p6"/>
          <p:cNvGrpSpPr/>
          <p:nvPr/>
        </p:nvGrpSpPr>
        <p:grpSpPr>
          <a:xfrm>
            <a:off x="2254776" y="2167115"/>
            <a:ext cx="5391348" cy="2523768"/>
            <a:chOff x="2213370" y="1796759"/>
            <a:chExt cx="5391348" cy="2523768"/>
          </a:xfrm>
        </p:grpSpPr>
        <p:sp>
          <p:nvSpPr>
            <p:cNvPr id="196" name="Google Shape;196;p6"/>
            <p:cNvSpPr txBox="1"/>
            <p:nvPr/>
          </p:nvSpPr>
          <p:spPr>
            <a:xfrm>
              <a:off x="3250977" y="1796759"/>
              <a:ext cx="3316133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87A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TARGET</a:t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213370" y="2554015"/>
              <a:ext cx="539134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1F7097"/>
                  </a:solidFill>
                  <a:latin typeface="Arial"/>
                  <a:ea typeface="Arial"/>
                  <a:cs typeface="Arial"/>
                  <a:sym typeface="Arial"/>
                </a:rPr>
                <a:t>Count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1F7097"/>
                  </a:solidFill>
                  <a:latin typeface="Arial"/>
                  <a:ea typeface="Arial"/>
                  <a:cs typeface="Arial"/>
                  <a:sym typeface="Arial"/>
                </a:rPr>
                <a:t>- number of total rentals</a:t>
              </a:r>
              <a:endParaRPr b="1" i="0" sz="4000">
                <a:solidFill>
                  <a:srgbClr val="1F709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3551504" y="3951195"/>
              <a:ext cx="2715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자전거 대여량</a:t>
              </a:r>
              <a:endParaRPr/>
            </a:p>
          </p:txBody>
        </p:sp>
      </p:grpSp>
      <p:sp>
        <p:nvSpPr>
          <p:cNvPr id="199" name="Google Shape;199;p6"/>
          <p:cNvSpPr txBox="1"/>
          <p:nvPr/>
        </p:nvSpPr>
        <p:spPr>
          <a:xfrm>
            <a:off x="4087234" y="533209"/>
            <a:ext cx="822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타겟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05" name="Google Shape;205;p7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206" name="Google Shape;206;p7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08" name="Google Shape;208;p7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7"/>
          <p:cNvSpPr txBox="1"/>
          <p:nvPr/>
        </p:nvSpPr>
        <p:spPr>
          <a:xfrm>
            <a:off x="1976582" y="5309746"/>
            <a:ext cx="8686502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MSLE에 루트를 취한 것으로 root*log function 의 특성에 의해 에러율이 9이하인 경우에는 MSLE보다 값이 크게 나오고, 그보다 큰 경우 작게 나옴.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작을수록 회귀 성능이 좋은 것.</a:t>
            </a:r>
            <a:endParaRPr/>
          </a:p>
        </p:txBody>
      </p:sp>
      <p:grpSp>
        <p:nvGrpSpPr>
          <p:cNvPr id="210" name="Google Shape;210;p7"/>
          <p:cNvGrpSpPr/>
          <p:nvPr/>
        </p:nvGrpSpPr>
        <p:grpSpPr>
          <a:xfrm>
            <a:off x="0" y="1400131"/>
            <a:ext cx="12192000" cy="3807872"/>
            <a:chOff x="0" y="1599692"/>
            <a:chExt cx="12192000" cy="3807872"/>
          </a:xfrm>
        </p:grpSpPr>
        <p:pic>
          <p:nvPicPr>
            <p:cNvPr id="211" name="Google Shape;21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880372"/>
              <a:ext cx="12192000" cy="187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7"/>
            <p:cNvSpPr/>
            <p:nvPr/>
          </p:nvSpPr>
          <p:spPr>
            <a:xfrm>
              <a:off x="878643" y="1599692"/>
              <a:ext cx="2669454" cy="2468230"/>
            </a:xfrm>
            <a:prstGeom prst="ellipse">
              <a:avLst/>
            </a:prstGeom>
            <a:solidFill>
              <a:srgbClr val="1F7097"/>
            </a:solidFill>
            <a:ln cap="flat" cmpd="sng" w="57150">
              <a:solidFill>
                <a:srgbClr val="404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1070301" y="2541420"/>
              <a:ext cx="234513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Evaluation 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931413" y="2386670"/>
              <a:ext cx="738194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Submissions are evaluated one the Root Mean Squared Logarithmic Error (RMSLE)</a:t>
              </a:r>
              <a:endPara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215" name="Google Shape;21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9952" y="4067922"/>
              <a:ext cx="6592095" cy="13396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7"/>
          <p:cNvSpPr txBox="1"/>
          <p:nvPr/>
        </p:nvSpPr>
        <p:spPr>
          <a:xfrm>
            <a:off x="4087234" y="533209"/>
            <a:ext cx="1284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평가척도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2" name="Google Shape;222;p8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223" name="Google Shape;223;p8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25" name="Google Shape;225;p8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6" name="Google Shape;226;p8"/>
          <p:cNvGrpSpPr/>
          <p:nvPr/>
        </p:nvGrpSpPr>
        <p:grpSpPr>
          <a:xfrm>
            <a:off x="1590109" y="955408"/>
            <a:ext cx="9837567" cy="5195278"/>
            <a:chOff x="1590109" y="719434"/>
            <a:chExt cx="9837567" cy="5195278"/>
          </a:xfrm>
        </p:grpSpPr>
        <p:grpSp>
          <p:nvGrpSpPr>
            <p:cNvPr id="227" name="Google Shape;227;p8"/>
            <p:cNvGrpSpPr/>
            <p:nvPr/>
          </p:nvGrpSpPr>
          <p:grpSpPr>
            <a:xfrm>
              <a:off x="8335618" y="2445027"/>
              <a:ext cx="3092058" cy="2643808"/>
              <a:chOff x="4256258" y="2335977"/>
              <a:chExt cx="3706228" cy="2719795"/>
            </a:xfrm>
          </p:grpSpPr>
          <p:cxnSp>
            <p:nvCxnSpPr>
              <p:cNvPr id="228" name="Google Shape;228;p8"/>
              <p:cNvCxnSpPr/>
              <p:nvPr/>
            </p:nvCxnSpPr>
            <p:spPr>
              <a:xfrm>
                <a:off x="5038725" y="3577600"/>
                <a:ext cx="2190750" cy="9891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med" w="med" type="oval"/>
                <a:tailEnd len="med" w="med" type="oval"/>
              </a:ln>
            </p:spPr>
          </p:cxnSp>
          <p:cxnSp>
            <p:nvCxnSpPr>
              <p:cNvPr id="229" name="Google Shape;229;p8"/>
              <p:cNvCxnSpPr/>
              <p:nvPr/>
            </p:nvCxnSpPr>
            <p:spPr>
              <a:xfrm flipH="1">
                <a:off x="5014752" y="3599568"/>
                <a:ext cx="2190750" cy="9891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med" w="med" type="oval"/>
                <a:tailEnd len="med" w="med" type="oval"/>
              </a:ln>
            </p:spPr>
          </p:cxnSp>
          <p:grpSp>
            <p:nvGrpSpPr>
              <p:cNvPr id="230" name="Google Shape;230;p8"/>
              <p:cNvGrpSpPr/>
              <p:nvPr/>
            </p:nvGrpSpPr>
            <p:grpSpPr>
              <a:xfrm>
                <a:off x="5537539" y="2335977"/>
                <a:ext cx="1157120" cy="2061311"/>
                <a:chOff x="5537539" y="2335977"/>
                <a:chExt cx="1157120" cy="2061311"/>
              </a:xfrm>
            </p:grpSpPr>
            <p:sp>
              <p:nvSpPr>
                <p:cNvPr id="231" name="Google Shape;231;p8"/>
                <p:cNvSpPr/>
                <p:nvPr/>
              </p:nvSpPr>
              <p:spPr>
                <a:xfrm>
                  <a:off x="5537852" y="2496480"/>
                  <a:ext cx="1156465" cy="606268"/>
                </a:xfrm>
                <a:custGeom>
                  <a:rect b="b" l="l" r="r" t="t"/>
                  <a:pathLst>
                    <a:path extrusionOk="0" h="606268" w="1156465">
                      <a:moveTo>
                        <a:pt x="701" y="0"/>
                      </a:moveTo>
                      <a:cubicBezTo>
                        <a:pt x="43805" y="34344"/>
                        <a:pt x="93568" y="48712"/>
                        <a:pt x="143682" y="60977"/>
                      </a:cubicBezTo>
                      <a:cubicBezTo>
                        <a:pt x="226036" y="80953"/>
                        <a:pt x="309442" y="92517"/>
                        <a:pt x="393899" y="96723"/>
                      </a:cubicBezTo>
                      <a:cubicBezTo>
                        <a:pt x="469244" y="100577"/>
                        <a:pt x="544590" y="104432"/>
                        <a:pt x="619935" y="103381"/>
                      </a:cubicBezTo>
                      <a:cubicBezTo>
                        <a:pt x="759762" y="101278"/>
                        <a:pt x="899239" y="91466"/>
                        <a:pt x="1035562" y="55721"/>
                      </a:cubicBezTo>
                      <a:cubicBezTo>
                        <a:pt x="1078667" y="44506"/>
                        <a:pt x="1120369" y="30138"/>
                        <a:pt x="1157867" y="350"/>
                      </a:cubicBezTo>
                      <a:cubicBezTo>
                        <a:pt x="1157867" y="6308"/>
                        <a:pt x="1157867" y="10864"/>
                        <a:pt x="1157867" y="15069"/>
                      </a:cubicBezTo>
                      <a:cubicBezTo>
                        <a:pt x="1157867" y="169264"/>
                        <a:pt x="1157516" y="323109"/>
                        <a:pt x="1158217" y="477305"/>
                      </a:cubicBezTo>
                      <a:cubicBezTo>
                        <a:pt x="1158217" y="496579"/>
                        <a:pt x="1150858" y="508845"/>
                        <a:pt x="1136490" y="519007"/>
                      </a:cubicBezTo>
                      <a:cubicBezTo>
                        <a:pt x="1109856" y="537581"/>
                        <a:pt x="1079718" y="548094"/>
                        <a:pt x="1049229" y="557206"/>
                      </a:cubicBezTo>
                      <a:cubicBezTo>
                        <a:pt x="974234" y="579284"/>
                        <a:pt x="897137" y="590148"/>
                        <a:pt x="819338" y="598558"/>
                      </a:cubicBezTo>
                      <a:cubicBezTo>
                        <a:pt x="721214" y="609072"/>
                        <a:pt x="622739" y="610824"/>
                        <a:pt x="524264" y="609072"/>
                      </a:cubicBezTo>
                      <a:cubicBezTo>
                        <a:pt x="391095" y="606618"/>
                        <a:pt x="258628" y="596806"/>
                        <a:pt x="129314" y="562112"/>
                      </a:cubicBezTo>
                      <a:cubicBezTo>
                        <a:pt x="96022" y="553001"/>
                        <a:pt x="63781" y="538632"/>
                        <a:pt x="31890" y="524264"/>
                      </a:cubicBezTo>
                      <a:cubicBezTo>
                        <a:pt x="9462" y="514452"/>
                        <a:pt x="0" y="496579"/>
                        <a:pt x="0" y="469945"/>
                      </a:cubicBezTo>
                      <a:cubicBezTo>
                        <a:pt x="1051" y="318554"/>
                        <a:pt x="701" y="166811"/>
                        <a:pt x="701" y="15420"/>
                      </a:cubicBezTo>
                      <a:cubicBezTo>
                        <a:pt x="701" y="11214"/>
                        <a:pt x="701" y="6658"/>
                        <a:pt x="701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2" name="Google Shape;232;p8"/>
                <p:cNvSpPr/>
                <p:nvPr/>
              </p:nvSpPr>
              <p:spPr>
                <a:xfrm>
                  <a:off x="5538194" y="3144451"/>
                  <a:ext cx="1156465" cy="606268"/>
                </a:xfrm>
                <a:custGeom>
                  <a:rect b="b" l="l" r="r" t="t"/>
                  <a:pathLst>
                    <a:path extrusionOk="0" h="606268" w="1156465">
                      <a:moveTo>
                        <a:pt x="1157875" y="3154"/>
                      </a:moveTo>
                      <a:cubicBezTo>
                        <a:pt x="1157875" y="4906"/>
                        <a:pt x="1157875" y="8761"/>
                        <a:pt x="1157875" y="12616"/>
                      </a:cubicBezTo>
                      <a:cubicBezTo>
                        <a:pt x="1157875" y="167863"/>
                        <a:pt x="1157875" y="323460"/>
                        <a:pt x="1158226" y="478706"/>
                      </a:cubicBezTo>
                      <a:cubicBezTo>
                        <a:pt x="1158226" y="493776"/>
                        <a:pt x="1152619" y="504990"/>
                        <a:pt x="1141404" y="513751"/>
                      </a:cubicBezTo>
                      <a:cubicBezTo>
                        <a:pt x="1112668" y="536530"/>
                        <a:pt x="1078675" y="547393"/>
                        <a:pt x="1043981" y="557556"/>
                      </a:cubicBezTo>
                      <a:cubicBezTo>
                        <a:pt x="965131" y="580335"/>
                        <a:pt x="884178" y="591199"/>
                        <a:pt x="802525" y="598909"/>
                      </a:cubicBezTo>
                      <a:cubicBezTo>
                        <a:pt x="710358" y="607670"/>
                        <a:pt x="617841" y="610473"/>
                        <a:pt x="525324" y="608371"/>
                      </a:cubicBezTo>
                      <a:cubicBezTo>
                        <a:pt x="393206" y="605217"/>
                        <a:pt x="261089" y="596105"/>
                        <a:pt x="132827" y="562112"/>
                      </a:cubicBezTo>
                      <a:cubicBezTo>
                        <a:pt x="98833" y="553351"/>
                        <a:pt x="66242" y="538632"/>
                        <a:pt x="34001" y="524615"/>
                      </a:cubicBezTo>
                      <a:cubicBezTo>
                        <a:pt x="10522" y="514101"/>
                        <a:pt x="-342" y="495878"/>
                        <a:pt x="8" y="467843"/>
                      </a:cubicBezTo>
                      <a:cubicBezTo>
                        <a:pt x="1410" y="316801"/>
                        <a:pt x="709" y="165760"/>
                        <a:pt x="709" y="14368"/>
                      </a:cubicBezTo>
                      <a:cubicBezTo>
                        <a:pt x="709" y="9812"/>
                        <a:pt x="709" y="5257"/>
                        <a:pt x="709" y="0"/>
                      </a:cubicBezTo>
                      <a:cubicBezTo>
                        <a:pt x="69046" y="48712"/>
                        <a:pt x="147545" y="62729"/>
                        <a:pt x="225694" y="76046"/>
                      </a:cubicBezTo>
                      <a:cubicBezTo>
                        <a:pt x="369026" y="100928"/>
                        <a:pt x="514110" y="105484"/>
                        <a:pt x="659193" y="101278"/>
                      </a:cubicBezTo>
                      <a:cubicBezTo>
                        <a:pt x="780797" y="97774"/>
                        <a:pt x="901700" y="87261"/>
                        <a:pt x="1020151" y="58174"/>
                      </a:cubicBezTo>
                      <a:cubicBezTo>
                        <a:pt x="1041177" y="52917"/>
                        <a:pt x="1062554" y="47660"/>
                        <a:pt x="1082530" y="39250"/>
                      </a:cubicBezTo>
                      <a:cubicBezTo>
                        <a:pt x="1107762" y="29087"/>
                        <a:pt x="1132293" y="15770"/>
                        <a:pt x="1157875" y="3154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3" name="Google Shape;233;p8"/>
                <p:cNvSpPr/>
                <p:nvPr/>
              </p:nvSpPr>
              <p:spPr>
                <a:xfrm>
                  <a:off x="5538187" y="3791020"/>
                  <a:ext cx="1156465" cy="606268"/>
                </a:xfrm>
                <a:custGeom>
                  <a:rect b="b" l="l" r="r" t="t"/>
                  <a:pathLst>
                    <a:path extrusionOk="0" h="606268" w="1156465">
                      <a:moveTo>
                        <a:pt x="365" y="0"/>
                      </a:moveTo>
                      <a:cubicBezTo>
                        <a:pt x="57838" y="42404"/>
                        <a:pt x="123020" y="56421"/>
                        <a:pt x="188554" y="69738"/>
                      </a:cubicBezTo>
                      <a:cubicBezTo>
                        <a:pt x="272660" y="86560"/>
                        <a:pt x="357818" y="95671"/>
                        <a:pt x="443677" y="98825"/>
                      </a:cubicBezTo>
                      <a:cubicBezTo>
                        <a:pt x="499047" y="100928"/>
                        <a:pt x="554417" y="103381"/>
                        <a:pt x="609787" y="102680"/>
                      </a:cubicBezTo>
                      <a:cubicBezTo>
                        <a:pt x="745759" y="100227"/>
                        <a:pt x="881381" y="92167"/>
                        <a:pt x="1014199" y="59575"/>
                      </a:cubicBezTo>
                      <a:cubicBezTo>
                        <a:pt x="1049945" y="50814"/>
                        <a:pt x="1084639" y="36797"/>
                        <a:pt x="1118982" y="23480"/>
                      </a:cubicBezTo>
                      <a:cubicBezTo>
                        <a:pt x="1131949" y="18573"/>
                        <a:pt x="1142813" y="9462"/>
                        <a:pt x="1155779" y="1402"/>
                      </a:cubicBezTo>
                      <a:cubicBezTo>
                        <a:pt x="1156129" y="5957"/>
                        <a:pt x="1156480" y="10163"/>
                        <a:pt x="1156480" y="14719"/>
                      </a:cubicBezTo>
                      <a:cubicBezTo>
                        <a:pt x="1156480" y="169615"/>
                        <a:pt x="1156480" y="324511"/>
                        <a:pt x="1156830" y="479407"/>
                      </a:cubicBezTo>
                      <a:cubicBezTo>
                        <a:pt x="1156830" y="494126"/>
                        <a:pt x="1152625" y="506392"/>
                        <a:pt x="1140359" y="513400"/>
                      </a:cubicBezTo>
                      <a:cubicBezTo>
                        <a:pt x="1117931" y="526367"/>
                        <a:pt x="1095503" y="539684"/>
                        <a:pt x="1071322" y="548445"/>
                      </a:cubicBezTo>
                      <a:cubicBezTo>
                        <a:pt x="1004387" y="572625"/>
                        <a:pt x="934649" y="583489"/>
                        <a:pt x="864210" y="592601"/>
                      </a:cubicBezTo>
                      <a:cubicBezTo>
                        <a:pt x="751016" y="606969"/>
                        <a:pt x="637472" y="610473"/>
                        <a:pt x="523227" y="608371"/>
                      </a:cubicBezTo>
                      <a:cubicBezTo>
                        <a:pt x="396717" y="606268"/>
                        <a:pt x="271258" y="596806"/>
                        <a:pt x="147902" y="566668"/>
                      </a:cubicBezTo>
                      <a:cubicBezTo>
                        <a:pt x="112157" y="557907"/>
                        <a:pt x="77813" y="543539"/>
                        <a:pt x="43119" y="530923"/>
                      </a:cubicBezTo>
                      <a:cubicBezTo>
                        <a:pt x="34008" y="527769"/>
                        <a:pt x="25948" y="521461"/>
                        <a:pt x="18238" y="515503"/>
                      </a:cubicBezTo>
                      <a:cubicBezTo>
                        <a:pt x="5622" y="506392"/>
                        <a:pt x="-336" y="494827"/>
                        <a:pt x="15" y="478356"/>
                      </a:cubicBezTo>
                      <a:cubicBezTo>
                        <a:pt x="365" y="324161"/>
                        <a:pt x="365" y="170316"/>
                        <a:pt x="365" y="16120"/>
                      </a:cubicBezTo>
                      <a:cubicBezTo>
                        <a:pt x="365" y="11565"/>
                        <a:pt x="365" y="7009"/>
                        <a:pt x="365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4" name="Google Shape;234;p8"/>
                <p:cNvSpPr/>
                <p:nvPr/>
              </p:nvSpPr>
              <p:spPr>
                <a:xfrm>
                  <a:off x="5537539" y="2335977"/>
                  <a:ext cx="1156465" cy="245311"/>
                </a:xfrm>
                <a:custGeom>
                  <a:rect b="b" l="l" r="r" t="t"/>
                  <a:pathLst>
                    <a:path extrusionOk="0" h="245310" w="1156465">
                      <a:moveTo>
                        <a:pt x="576442" y="3504"/>
                      </a:moveTo>
                      <a:cubicBezTo>
                        <a:pt x="689636" y="3855"/>
                        <a:pt x="802128" y="9812"/>
                        <a:pt x="913920" y="26984"/>
                      </a:cubicBezTo>
                      <a:cubicBezTo>
                        <a:pt x="978401" y="36797"/>
                        <a:pt x="1042182" y="49062"/>
                        <a:pt x="1101758" y="75696"/>
                      </a:cubicBezTo>
                      <a:cubicBezTo>
                        <a:pt x="1118228" y="83055"/>
                        <a:pt x="1133648" y="93569"/>
                        <a:pt x="1147666" y="105133"/>
                      </a:cubicBezTo>
                      <a:cubicBezTo>
                        <a:pt x="1162735" y="117749"/>
                        <a:pt x="1162735" y="134570"/>
                        <a:pt x="1147666" y="147186"/>
                      </a:cubicBezTo>
                      <a:cubicBezTo>
                        <a:pt x="1133648" y="159102"/>
                        <a:pt x="1117528" y="169615"/>
                        <a:pt x="1100706" y="176974"/>
                      </a:cubicBezTo>
                      <a:cubicBezTo>
                        <a:pt x="1044986" y="201856"/>
                        <a:pt x="986111" y="213771"/>
                        <a:pt x="926536" y="223233"/>
                      </a:cubicBezTo>
                      <a:cubicBezTo>
                        <a:pt x="835070" y="237951"/>
                        <a:pt x="742903" y="244960"/>
                        <a:pt x="650386" y="247413"/>
                      </a:cubicBezTo>
                      <a:cubicBezTo>
                        <a:pt x="509858" y="251268"/>
                        <a:pt x="370031" y="244960"/>
                        <a:pt x="230904" y="223233"/>
                      </a:cubicBezTo>
                      <a:cubicBezTo>
                        <a:pt x="176585" y="214472"/>
                        <a:pt x="122267" y="203257"/>
                        <a:pt x="70401" y="182231"/>
                      </a:cubicBezTo>
                      <a:cubicBezTo>
                        <a:pt x="52879" y="175222"/>
                        <a:pt x="35357" y="166110"/>
                        <a:pt x="19937" y="155247"/>
                      </a:cubicBezTo>
                      <a:cubicBezTo>
                        <a:pt x="-5996" y="137024"/>
                        <a:pt x="-7047" y="114946"/>
                        <a:pt x="19236" y="98124"/>
                      </a:cubicBezTo>
                      <a:cubicBezTo>
                        <a:pt x="43767" y="82354"/>
                        <a:pt x="70751" y="69738"/>
                        <a:pt x="98437" y="60276"/>
                      </a:cubicBezTo>
                      <a:cubicBezTo>
                        <a:pt x="170278" y="35745"/>
                        <a:pt x="244922" y="24181"/>
                        <a:pt x="319917" y="17172"/>
                      </a:cubicBezTo>
                      <a:cubicBezTo>
                        <a:pt x="405075" y="9462"/>
                        <a:pt x="490934" y="5607"/>
                        <a:pt x="576092" y="0"/>
                      </a:cubicBezTo>
                      <a:cubicBezTo>
                        <a:pt x="576442" y="1051"/>
                        <a:pt x="576442" y="2103"/>
                        <a:pt x="576442" y="3504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5" name="Google Shape;235;p8"/>
                <p:cNvSpPr/>
                <p:nvPr/>
              </p:nvSpPr>
              <p:spPr>
                <a:xfrm>
                  <a:off x="5537671" y="3699734"/>
                  <a:ext cx="1156465" cy="175222"/>
                </a:xfrm>
                <a:custGeom>
                  <a:rect b="b" l="l" r="r" t="t"/>
                  <a:pathLst>
                    <a:path extrusionOk="0" h="175221" w="1156465">
                      <a:moveTo>
                        <a:pt x="574909" y="177146"/>
                      </a:moveTo>
                      <a:cubicBezTo>
                        <a:pt x="450852" y="178197"/>
                        <a:pt x="327145" y="170837"/>
                        <a:pt x="204490" y="148409"/>
                      </a:cubicBezTo>
                      <a:cubicBezTo>
                        <a:pt x="154026" y="139297"/>
                        <a:pt x="104263" y="128083"/>
                        <a:pt x="57303" y="106706"/>
                      </a:cubicBezTo>
                      <a:cubicBezTo>
                        <a:pt x="41533" y="99697"/>
                        <a:pt x="26464" y="90235"/>
                        <a:pt x="13147" y="79372"/>
                      </a:cubicBezTo>
                      <a:cubicBezTo>
                        <a:pt x="-4025" y="65354"/>
                        <a:pt x="-4375" y="47832"/>
                        <a:pt x="12096" y="33463"/>
                      </a:cubicBezTo>
                      <a:cubicBezTo>
                        <a:pt x="24011" y="22950"/>
                        <a:pt x="38730" y="15591"/>
                        <a:pt x="52747" y="7180"/>
                      </a:cubicBezTo>
                      <a:cubicBezTo>
                        <a:pt x="55551" y="5428"/>
                        <a:pt x="60107" y="6129"/>
                        <a:pt x="63261" y="7180"/>
                      </a:cubicBezTo>
                      <a:cubicBezTo>
                        <a:pt x="144914" y="34515"/>
                        <a:pt x="229371" y="47481"/>
                        <a:pt x="314529" y="56593"/>
                      </a:cubicBezTo>
                      <a:cubicBezTo>
                        <a:pt x="410200" y="66756"/>
                        <a:pt x="505871" y="70610"/>
                        <a:pt x="601893" y="68858"/>
                      </a:cubicBezTo>
                      <a:cubicBezTo>
                        <a:pt x="729455" y="66405"/>
                        <a:pt x="856315" y="58345"/>
                        <a:pt x="981424" y="30309"/>
                      </a:cubicBezTo>
                      <a:cubicBezTo>
                        <a:pt x="1014716" y="22950"/>
                        <a:pt x="1046957" y="11385"/>
                        <a:pt x="1079548" y="1924"/>
                      </a:cubicBezTo>
                      <a:cubicBezTo>
                        <a:pt x="1083053" y="872"/>
                        <a:pt x="1087959" y="-880"/>
                        <a:pt x="1090412" y="522"/>
                      </a:cubicBezTo>
                      <a:cubicBezTo>
                        <a:pt x="1109686" y="11385"/>
                        <a:pt x="1129662" y="21198"/>
                        <a:pt x="1146833" y="34515"/>
                      </a:cubicBezTo>
                      <a:cubicBezTo>
                        <a:pt x="1162253" y="46430"/>
                        <a:pt x="1161903" y="63952"/>
                        <a:pt x="1147184" y="76568"/>
                      </a:cubicBezTo>
                      <a:cubicBezTo>
                        <a:pt x="1133166" y="88483"/>
                        <a:pt x="1117046" y="98996"/>
                        <a:pt x="1100224" y="106356"/>
                      </a:cubicBezTo>
                      <a:cubicBezTo>
                        <a:pt x="1043803" y="131588"/>
                        <a:pt x="983526" y="143152"/>
                        <a:pt x="922900" y="152965"/>
                      </a:cubicBezTo>
                      <a:cubicBezTo>
                        <a:pt x="830733" y="167683"/>
                        <a:pt x="737515" y="175393"/>
                        <a:pt x="644297" y="176445"/>
                      </a:cubicBezTo>
                      <a:cubicBezTo>
                        <a:pt x="621168" y="177146"/>
                        <a:pt x="598038" y="177146"/>
                        <a:pt x="574909" y="177146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6" name="Google Shape;236;p8"/>
                <p:cNvSpPr/>
                <p:nvPr/>
              </p:nvSpPr>
              <p:spPr>
                <a:xfrm>
                  <a:off x="5537669" y="3055216"/>
                  <a:ext cx="1156465" cy="175222"/>
                </a:xfrm>
                <a:custGeom>
                  <a:rect b="b" l="l" r="r" t="t"/>
                  <a:pathLst>
                    <a:path extrusionOk="0" h="175221" w="1156465">
                      <a:moveTo>
                        <a:pt x="587526" y="175794"/>
                      </a:moveTo>
                      <a:cubicBezTo>
                        <a:pt x="461366" y="176495"/>
                        <a:pt x="343617" y="169486"/>
                        <a:pt x="226919" y="149862"/>
                      </a:cubicBezTo>
                      <a:cubicBezTo>
                        <a:pt x="163489" y="139348"/>
                        <a:pt x="100059" y="126732"/>
                        <a:pt x="42235" y="96944"/>
                      </a:cubicBezTo>
                      <a:cubicBezTo>
                        <a:pt x="30671" y="90987"/>
                        <a:pt x="19807" y="82927"/>
                        <a:pt x="10345" y="73815"/>
                      </a:cubicBezTo>
                      <a:cubicBezTo>
                        <a:pt x="-2972" y="61199"/>
                        <a:pt x="-3673" y="46831"/>
                        <a:pt x="9644" y="34566"/>
                      </a:cubicBezTo>
                      <a:cubicBezTo>
                        <a:pt x="22961" y="22650"/>
                        <a:pt x="39432" y="13889"/>
                        <a:pt x="54851" y="4427"/>
                      </a:cubicBezTo>
                      <a:cubicBezTo>
                        <a:pt x="57305" y="3026"/>
                        <a:pt x="62211" y="3726"/>
                        <a:pt x="65715" y="5128"/>
                      </a:cubicBezTo>
                      <a:cubicBezTo>
                        <a:pt x="143163" y="32112"/>
                        <a:pt x="223415" y="44378"/>
                        <a:pt x="304368" y="53489"/>
                      </a:cubicBezTo>
                      <a:cubicBezTo>
                        <a:pt x="405295" y="65054"/>
                        <a:pt x="506924" y="68909"/>
                        <a:pt x="608202" y="67157"/>
                      </a:cubicBezTo>
                      <a:cubicBezTo>
                        <a:pt x="739969" y="65054"/>
                        <a:pt x="871386" y="55592"/>
                        <a:pt x="1000349" y="25103"/>
                      </a:cubicBezTo>
                      <a:cubicBezTo>
                        <a:pt x="1027333" y="18796"/>
                        <a:pt x="1053266" y="8983"/>
                        <a:pt x="1079900" y="1273"/>
                      </a:cubicBezTo>
                      <a:cubicBezTo>
                        <a:pt x="1085157" y="-128"/>
                        <a:pt x="1091815" y="-829"/>
                        <a:pt x="1096371" y="1624"/>
                      </a:cubicBezTo>
                      <a:cubicBezTo>
                        <a:pt x="1111791" y="9334"/>
                        <a:pt x="1127911" y="17043"/>
                        <a:pt x="1141578" y="27557"/>
                      </a:cubicBezTo>
                      <a:cubicBezTo>
                        <a:pt x="1164007" y="44378"/>
                        <a:pt x="1163656" y="63652"/>
                        <a:pt x="1141578" y="81525"/>
                      </a:cubicBezTo>
                      <a:cubicBezTo>
                        <a:pt x="1113192" y="104304"/>
                        <a:pt x="1079550" y="115168"/>
                        <a:pt x="1045556" y="125330"/>
                      </a:cubicBezTo>
                      <a:cubicBezTo>
                        <a:pt x="978972" y="144955"/>
                        <a:pt x="910986" y="155469"/>
                        <a:pt x="842299" y="163178"/>
                      </a:cubicBezTo>
                      <a:cubicBezTo>
                        <a:pt x="755389" y="171940"/>
                        <a:pt x="667778" y="176846"/>
                        <a:pt x="587526" y="175794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7" name="Google Shape;237;p8"/>
              <p:cNvGrpSpPr/>
              <p:nvPr/>
            </p:nvGrpSpPr>
            <p:grpSpPr>
              <a:xfrm>
                <a:off x="4256258" y="4198390"/>
                <a:ext cx="578603" cy="857382"/>
                <a:chOff x="4256258" y="4198390"/>
                <a:chExt cx="578603" cy="857382"/>
              </a:xfrm>
            </p:grpSpPr>
            <p:sp>
              <p:nvSpPr>
                <p:cNvPr id="238" name="Google Shape;238;p8"/>
                <p:cNvSpPr/>
                <p:nvPr/>
              </p:nvSpPr>
              <p:spPr>
                <a:xfrm>
                  <a:off x="4256541" y="4269376"/>
                  <a:ext cx="578233" cy="241806"/>
                </a:xfrm>
                <a:custGeom>
                  <a:rect b="b" l="l" r="r" t="t"/>
                  <a:pathLst>
                    <a:path extrusionOk="0" h="241806" w="578232">
                      <a:moveTo>
                        <a:pt x="1489" y="0"/>
                      </a:moveTo>
                      <a:cubicBezTo>
                        <a:pt x="48449" y="21728"/>
                        <a:pt x="98212" y="29087"/>
                        <a:pt x="147625" y="31890"/>
                      </a:cubicBezTo>
                      <a:cubicBezTo>
                        <a:pt x="221568" y="36096"/>
                        <a:pt x="295862" y="37498"/>
                        <a:pt x="370156" y="36446"/>
                      </a:cubicBezTo>
                      <a:cubicBezTo>
                        <a:pt x="426227" y="35745"/>
                        <a:pt x="482298" y="29087"/>
                        <a:pt x="536968" y="14719"/>
                      </a:cubicBezTo>
                      <a:cubicBezTo>
                        <a:pt x="550285" y="11214"/>
                        <a:pt x="563601" y="5958"/>
                        <a:pt x="577619" y="1051"/>
                      </a:cubicBezTo>
                      <a:cubicBezTo>
                        <a:pt x="577970" y="3855"/>
                        <a:pt x="578320" y="7359"/>
                        <a:pt x="578320" y="10864"/>
                      </a:cubicBezTo>
                      <a:cubicBezTo>
                        <a:pt x="578320" y="69388"/>
                        <a:pt x="577970" y="127912"/>
                        <a:pt x="578671" y="186436"/>
                      </a:cubicBezTo>
                      <a:cubicBezTo>
                        <a:pt x="578671" y="197300"/>
                        <a:pt x="574816" y="203958"/>
                        <a:pt x="565354" y="206762"/>
                      </a:cubicBezTo>
                      <a:cubicBezTo>
                        <a:pt x="536617" y="214822"/>
                        <a:pt x="508231" y="224284"/>
                        <a:pt x="479145" y="229190"/>
                      </a:cubicBezTo>
                      <a:cubicBezTo>
                        <a:pt x="402047" y="242157"/>
                        <a:pt x="323898" y="244259"/>
                        <a:pt x="245749" y="241806"/>
                      </a:cubicBezTo>
                      <a:cubicBezTo>
                        <a:pt x="179164" y="239704"/>
                        <a:pt x="112931" y="235849"/>
                        <a:pt x="48098" y="219027"/>
                      </a:cubicBezTo>
                      <a:cubicBezTo>
                        <a:pt x="34782" y="215523"/>
                        <a:pt x="21465" y="209916"/>
                        <a:pt x="8849" y="203958"/>
                      </a:cubicBezTo>
                      <a:cubicBezTo>
                        <a:pt x="4643" y="201856"/>
                        <a:pt x="438" y="194847"/>
                        <a:pt x="438" y="190291"/>
                      </a:cubicBezTo>
                      <a:cubicBezTo>
                        <a:pt x="-263" y="127912"/>
                        <a:pt x="88" y="65533"/>
                        <a:pt x="88" y="3504"/>
                      </a:cubicBezTo>
                      <a:cubicBezTo>
                        <a:pt x="438" y="2103"/>
                        <a:pt x="1139" y="1402"/>
                        <a:pt x="1489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9" name="Google Shape;239;p8"/>
                <p:cNvSpPr/>
                <p:nvPr/>
              </p:nvSpPr>
              <p:spPr>
                <a:xfrm>
                  <a:off x="4256258" y="4813966"/>
                  <a:ext cx="578233" cy="241806"/>
                </a:xfrm>
                <a:custGeom>
                  <a:rect b="b" l="l" r="r" t="t"/>
                  <a:pathLst>
                    <a:path extrusionOk="0" h="241806" w="578232">
                      <a:moveTo>
                        <a:pt x="721" y="0"/>
                      </a:moveTo>
                      <a:cubicBezTo>
                        <a:pt x="50484" y="22779"/>
                        <a:pt x="102350" y="30138"/>
                        <a:pt x="153865" y="32942"/>
                      </a:cubicBezTo>
                      <a:cubicBezTo>
                        <a:pt x="220449" y="36797"/>
                        <a:pt x="287735" y="38549"/>
                        <a:pt x="354319" y="37498"/>
                      </a:cubicBezTo>
                      <a:cubicBezTo>
                        <a:pt x="418100" y="36446"/>
                        <a:pt x="481881" y="30839"/>
                        <a:pt x="543909" y="12966"/>
                      </a:cubicBezTo>
                      <a:cubicBezTo>
                        <a:pt x="555123" y="9813"/>
                        <a:pt x="566338" y="4906"/>
                        <a:pt x="578603" y="701"/>
                      </a:cubicBezTo>
                      <a:cubicBezTo>
                        <a:pt x="578603" y="10864"/>
                        <a:pt x="578603" y="20326"/>
                        <a:pt x="578603" y="30138"/>
                      </a:cubicBezTo>
                      <a:cubicBezTo>
                        <a:pt x="578603" y="81654"/>
                        <a:pt x="578253" y="133519"/>
                        <a:pt x="578954" y="185035"/>
                      </a:cubicBezTo>
                      <a:cubicBezTo>
                        <a:pt x="579304" y="197650"/>
                        <a:pt x="574748" y="205010"/>
                        <a:pt x="563884" y="208164"/>
                      </a:cubicBezTo>
                      <a:cubicBezTo>
                        <a:pt x="534447" y="216224"/>
                        <a:pt x="505010" y="226387"/>
                        <a:pt x="474872" y="229891"/>
                      </a:cubicBezTo>
                      <a:cubicBezTo>
                        <a:pt x="422656" y="236199"/>
                        <a:pt x="369739" y="239003"/>
                        <a:pt x="316822" y="241456"/>
                      </a:cubicBezTo>
                      <a:cubicBezTo>
                        <a:pt x="235168" y="244960"/>
                        <a:pt x="154216" y="240054"/>
                        <a:pt x="73613" y="224985"/>
                      </a:cubicBezTo>
                      <a:cubicBezTo>
                        <a:pt x="53288" y="221130"/>
                        <a:pt x="33663" y="213771"/>
                        <a:pt x="13687" y="207463"/>
                      </a:cubicBezTo>
                      <a:cubicBezTo>
                        <a:pt x="3875" y="204309"/>
                        <a:pt x="-330" y="197300"/>
                        <a:pt x="20" y="186086"/>
                      </a:cubicBezTo>
                      <a:cubicBezTo>
                        <a:pt x="1071" y="124408"/>
                        <a:pt x="721" y="63080"/>
                        <a:pt x="721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0" name="Google Shape;240;p8"/>
                <p:cNvSpPr/>
                <p:nvPr/>
              </p:nvSpPr>
              <p:spPr>
                <a:xfrm>
                  <a:off x="4256628" y="4547278"/>
                  <a:ext cx="578233" cy="241806"/>
                </a:xfrm>
                <a:custGeom>
                  <a:rect b="b" l="l" r="r" t="t"/>
                  <a:pathLst>
                    <a:path extrusionOk="0" h="241806" w="578232">
                      <a:moveTo>
                        <a:pt x="350" y="701"/>
                      </a:moveTo>
                      <a:cubicBezTo>
                        <a:pt x="84107" y="32591"/>
                        <a:pt x="170316" y="36096"/>
                        <a:pt x="256875" y="38549"/>
                      </a:cubicBezTo>
                      <a:cubicBezTo>
                        <a:pt x="325913" y="40651"/>
                        <a:pt x="394950" y="37848"/>
                        <a:pt x="463637" y="28736"/>
                      </a:cubicBezTo>
                      <a:cubicBezTo>
                        <a:pt x="502537" y="23480"/>
                        <a:pt x="541085" y="17522"/>
                        <a:pt x="578233" y="0"/>
                      </a:cubicBezTo>
                      <a:cubicBezTo>
                        <a:pt x="578583" y="5607"/>
                        <a:pt x="578933" y="9812"/>
                        <a:pt x="578933" y="14368"/>
                      </a:cubicBezTo>
                      <a:cubicBezTo>
                        <a:pt x="578933" y="71140"/>
                        <a:pt x="578583" y="127912"/>
                        <a:pt x="579284" y="184684"/>
                      </a:cubicBezTo>
                      <a:cubicBezTo>
                        <a:pt x="579284" y="196950"/>
                        <a:pt x="575429" y="205010"/>
                        <a:pt x="564215" y="207813"/>
                      </a:cubicBezTo>
                      <a:cubicBezTo>
                        <a:pt x="533376" y="215873"/>
                        <a:pt x="502887" y="226387"/>
                        <a:pt x="471347" y="230242"/>
                      </a:cubicBezTo>
                      <a:cubicBezTo>
                        <a:pt x="419832" y="236550"/>
                        <a:pt x="367966" y="239353"/>
                        <a:pt x="316100" y="241105"/>
                      </a:cubicBezTo>
                      <a:cubicBezTo>
                        <a:pt x="231994" y="244259"/>
                        <a:pt x="148238" y="240054"/>
                        <a:pt x="65533" y="222882"/>
                      </a:cubicBezTo>
                      <a:cubicBezTo>
                        <a:pt x="48712" y="219378"/>
                        <a:pt x="32241" y="213070"/>
                        <a:pt x="15420" y="207813"/>
                      </a:cubicBezTo>
                      <a:cubicBezTo>
                        <a:pt x="4556" y="204309"/>
                        <a:pt x="0" y="197300"/>
                        <a:pt x="0" y="184684"/>
                      </a:cubicBezTo>
                      <a:cubicBezTo>
                        <a:pt x="701" y="123707"/>
                        <a:pt x="350" y="62730"/>
                        <a:pt x="350" y="701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1" name="Google Shape;241;p8"/>
                <p:cNvSpPr/>
                <p:nvPr/>
              </p:nvSpPr>
              <p:spPr>
                <a:xfrm>
                  <a:off x="4256628" y="4198390"/>
                  <a:ext cx="578233" cy="91115"/>
                </a:xfrm>
                <a:custGeom>
                  <a:rect b="b" l="l" r="r" t="t"/>
                  <a:pathLst>
                    <a:path extrusionOk="0" h="91115" w="578232">
                      <a:moveTo>
                        <a:pt x="0" y="44703"/>
                      </a:moveTo>
                      <a:cubicBezTo>
                        <a:pt x="8060" y="40147"/>
                        <a:pt x="15420" y="33839"/>
                        <a:pt x="23830" y="31737"/>
                      </a:cubicBezTo>
                      <a:cubicBezTo>
                        <a:pt x="60276" y="23326"/>
                        <a:pt x="96723" y="14214"/>
                        <a:pt x="133519" y="8958"/>
                      </a:cubicBezTo>
                      <a:cubicBezTo>
                        <a:pt x="205360" y="-1205"/>
                        <a:pt x="278253" y="-1205"/>
                        <a:pt x="350444" y="1599"/>
                      </a:cubicBezTo>
                      <a:cubicBezTo>
                        <a:pt x="414575" y="4051"/>
                        <a:pt x="479057" y="8607"/>
                        <a:pt x="541436" y="26480"/>
                      </a:cubicBezTo>
                      <a:cubicBezTo>
                        <a:pt x="549847" y="28933"/>
                        <a:pt x="558608" y="32087"/>
                        <a:pt x="566317" y="35942"/>
                      </a:cubicBezTo>
                      <a:cubicBezTo>
                        <a:pt x="571224" y="38395"/>
                        <a:pt x="574728" y="43652"/>
                        <a:pt x="578933" y="47507"/>
                      </a:cubicBezTo>
                      <a:cubicBezTo>
                        <a:pt x="575079" y="51011"/>
                        <a:pt x="571574" y="56268"/>
                        <a:pt x="567018" y="58020"/>
                      </a:cubicBezTo>
                      <a:cubicBezTo>
                        <a:pt x="549847" y="64328"/>
                        <a:pt x="532675" y="70636"/>
                        <a:pt x="514802" y="74491"/>
                      </a:cubicBezTo>
                      <a:cubicBezTo>
                        <a:pt x="457680" y="87107"/>
                        <a:pt x="399506" y="90962"/>
                        <a:pt x="340982" y="93064"/>
                      </a:cubicBezTo>
                      <a:cubicBezTo>
                        <a:pt x="269842" y="95517"/>
                        <a:pt x="198702" y="94116"/>
                        <a:pt x="127912" y="84654"/>
                      </a:cubicBezTo>
                      <a:cubicBezTo>
                        <a:pt x="94269" y="80098"/>
                        <a:pt x="60977" y="72038"/>
                        <a:pt x="28036" y="64328"/>
                      </a:cubicBezTo>
                      <a:cubicBezTo>
                        <a:pt x="18223" y="61875"/>
                        <a:pt x="9462" y="55567"/>
                        <a:pt x="0" y="50661"/>
                      </a:cubicBezTo>
                      <a:cubicBezTo>
                        <a:pt x="0" y="48908"/>
                        <a:pt x="0" y="46806"/>
                        <a:pt x="0" y="44703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2" name="Google Shape;242;p8"/>
                <p:cNvSpPr/>
                <p:nvPr/>
              </p:nvSpPr>
              <p:spPr>
                <a:xfrm>
                  <a:off x="4256278" y="4503692"/>
                  <a:ext cx="578233" cy="63080"/>
                </a:xfrm>
                <a:custGeom>
                  <a:rect b="b" l="l" r="r" t="t"/>
                  <a:pathLst>
                    <a:path extrusionOk="0" h="63079" w="578232">
                      <a:moveTo>
                        <a:pt x="0" y="19055"/>
                      </a:moveTo>
                      <a:cubicBezTo>
                        <a:pt x="15420" y="7491"/>
                        <a:pt x="30138" y="-3723"/>
                        <a:pt x="50113" y="1183"/>
                      </a:cubicBezTo>
                      <a:cubicBezTo>
                        <a:pt x="110740" y="15201"/>
                        <a:pt x="172068" y="20107"/>
                        <a:pt x="234097" y="22560"/>
                      </a:cubicBezTo>
                      <a:cubicBezTo>
                        <a:pt x="303484" y="25363"/>
                        <a:pt x="373223" y="23611"/>
                        <a:pt x="442260" y="15901"/>
                      </a:cubicBezTo>
                      <a:cubicBezTo>
                        <a:pt x="471698" y="12397"/>
                        <a:pt x="501135" y="7140"/>
                        <a:pt x="530572" y="1183"/>
                      </a:cubicBezTo>
                      <a:cubicBezTo>
                        <a:pt x="548795" y="-2322"/>
                        <a:pt x="562813" y="6439"/>
                        <a:pt x="576480" y="15201"/>
                      </a:cubicBezTo>
                      <a:cubicBezTo>
                        <a:pt x="582788" y="19406"/>
                        <a:pt x="579634" y="24662"/>
                        <a:pt x="574378" y="27116"/>
                      </a:cubicBezTo>
                      <a:cubicBezTo>
                        <a:pt x="564215" y="32372"/>
                        <a:pt x="553701" y="38680"/>
                        <a:pt x="542838" y="40783"/>
                      </a:cubicBezTo>
                      <a:cubicBezTo>
                        <a:pt x="501836" y="48493"/>
                        <a:pt x="460834" y="57955"/>
                        <a:pt x="419481" y="61109"/>
                      </a:cubicBezTo>
                      <a:cubicBezTo>
                        <a:pt x="359906" y="65664"/>
                        <a:pt x="300330" y="67066"/>
                        <a:pt x="240755" y="66015"/>
                      </a:cubicBezTo>
                      <a:cubicBezTo>
                        <a:pt x="173119" y="64963"/>
                        <a:pt x="105484" y="59707"/>
                        <a:pt x="39600" y="41133"/>
                      </a:cubicBezTo>
                      <a:cubicBezTo>
                        <a:pt x="25232" y="37279"/>
                        <a:pt x="10513" y="33774"/>
                        <a:pt x="0" y="19055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3" name="Google Shape;243;p8"/>
                <p:cNvSpPr/>
                <p:nvPr/>
              </p:nvSpPr>
              <p:spPr>
                <a:xfrm>
                  <a:off x="4258073" y="4776681"/>
                  <a:ext cx="574728" cy="56071"/>
                </a:xfrm>
                <a:custGeom>
                  <a:rect b="b" l="l" r="r" t="t"/>
                  <a:pathLst>
                    <a:path extrusionOk="0" h="56071" w="574728">
                      <a:moveTo>
                        <a:pt x="288723" y="58312"/>
                      </a:moveTo>
                      <a:cubicBezTo>
                        <a:pt x="210223" y="60765"/>
                        <a:pt x="132074" y="57260"/>
                        <a:pt x="54977" y="39738"/>
                      </a:cubicBezTo>
                      <a:cubicBezTo>
                        <a:pt x="38506" y="35883"/>
                        <a:pt x="22736" y="29225"/>
                        <a:pt x="7316" y="22216"/>
                      </a:cubicBezTo>
                      <a:cubicBezTo>
                        <a:pt x="-2496" y="17660"/>
                        <a:pt x="-2146" y="12404"/>
                        <a:pt x="6615" y="6446"/>
                      </a:cubicBezTo>
                      <a:cubicBezTo>
                        <a:pt x="14675" y="1189"/>
                        <a:pt x="22385" y="-1614"/>
                        <a:pt x="32548" y="1540"/>
                      </a:cubicBezTo>
                      <a:cubicBezTo>
                        <a:pt x="82662" y="16609"/>
                        <a:pt x="134177" y="21866"/>
                        <a:pt x="186393" y="25019"/>
                      </a:cubicBezTo>
                      <a:cubicBezTo>
                        <a:pt x="281363" y="30627"/>
                        <a:pt x="376334" y="30276"/>
                        <a:pt x="470953" y="16959"/>
                      </a:cubicBezTo>
                      <a:cubicBezTo>
                        <a:pt x="496886" y="13104"/>
                        <a:pt x="522819" y="7497"/>
                        <a:pt x="548402" y="839"/>
                      </a:cubicBezTo>
                      <a:cubicBezTo>
                        <a:pt x="560667" y="-2315"/>
                        <a:pt x="568027" y="3993"/>
                        <a:pt x="575386" y="10301"/>
                      </a:cubicBezTo>
                      <a:cubicBezTo>
                        <a:pt x="576788" y="11352"/>
                        <a:pt x="574685" y="19763"/>
                        <a:pt x="572232" y="20814"/>
                      </a:cubicBezTo>
                      <a:cubicBezTo>
                        <a:pt x="562069" y="26071"/>
                        <a:pt x="551906" y="31328"/>
                        <a:pt x="540692" y="34481"/>
                      </a:cubicBezTo>
                      <a:cubicBezTo>
                        <a:pt x="488476" y="49901"/>
                        <a:pt x="434507" y="55158"/>
                        <a:pt x="380539" y="57611"/>
                      </a:cubicBezTo>
                      <a:cubicBezTo>
                        <a:pt x="350050" y="59363"/>
                        <a:pt x="319562" y="58312"/>
                        <a:pt x="288723" y="58312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44" name="Google Shape;244;p8"/>
              <p:cNvGrpSpPr/>
              <p:nvPr/>
            </p:nvGrpSpPr>
            <p:grpSpPr>
              <a:xfrm>
                <a:off x="7382939" y="4199052"/>
                <a:ext cx="579547" cy="856720"/>
                <a:chOff x="7382939" y="4199052"/>
                <a:chExt cx="579547" cy="856720"/>
              </a:xfrm>
            </p:grpSpPr>
            <p:sp>
              <p:nvSpPr>
                <p:cNvPr id="245" name="Google Shape;245;p8"/>
                <p:cNvSpPr/>
                <p:nvPr/>
              </p:nvSpPr>
              <p:spPr>
                <a:xfrm>
                  <a:off x="7383990" y="4269727"/>
                  <a:ext cx="578233" cy="238302"/>
                </a:xfrm>
                <a:custGeom>
                  <a:rect b="b" l="l" r="r" t="t"/>
                  <a:pathLst>
                    <a:path extrusionOk="0" h="238301" w="578232">
                      <a:moveTo>
                        <a:pt x="0" y="0"/>
                      </a:moveTo>
                      <a:cubicBezTo>
                        <a:pt x="79551" y="31540"/>
                        <a:pt x="162606" y="35395"/>
                        <a:pt x="245661" y="37498"/>
                      </a:cubicBezTo>
                      <a:cubicBezTo>
                        <a:pt x="314699" y="39250"/>
                        <a:pt x="383736" y="38899"/>
                        <a:pt x="452423" y="29437"/>
                      </a:cubicBezTo>
                      <a:cubicBezTo>
                        <a:pt x="473800" y="26634"/>
                        <a:pt x="495528" y="23480"/>
                        <a:pt x="516554" y="18924"/>
                      </a:cubicBezTo>
                      <a:cubicBezTo>
                        <a:pt x="537231" y="14368"/>
                        <a:pt x="557206" y="7359"/>
                        <a:pt x="578583" y="1051"/>
                      </a:cubicBezTo>
                      <a:cubicBezTo>
                        <a:pt x="578583" y="3855"/>
                        <a:pt x="578583" y="8060"/>
                        <a:pt x="578583" y="11915"/>
                      </a:cubicBezTo>
                      <a:cubicBezTo>
                        <a:pt x="578583" y="68687"/>
                        <a:pt x="578233" y="125459"/>
                        <a:pt x="578933" y="182231"/>
                      </a:cubicBezTo>
                      <a:cubicBezTo>
                        <a:pt x="579284" y="196249"/>
                        <a:pt x="574027" y="204659"/>
                        <a:pt x="561762" y="207813"/>
                      </a:cubicBezTo>
                      <a:cubicBezTo>
                        <a:pt x="528820" y="216224"/>
                        <a:pt x="495878" y="225686"/>
                        <a:pt x="462586" y="230592"/>
                      </a:cubicBezTo>
                      <a:cubicBezTo>
                        <a:pt x="391095" y="241105"/>
                        <a:pt x="318904" y="243208"/>
                        <a:pt x="247063" y="240755"/>
                      </a:cubicBezTo>
                      <a:cubicBezTo>
                        <a:pt x="177675" y="238302"/>
                        <a:pt x="108287" y="234797"/>
                        <a:pt x="40651" y="215874"/>
                      </a:cubicBezTo>
                      <a:cubicBezTo>
                        <a:pt x="350" y="204659"/>
                        <a:pt x="0" y="203958"/>
                        <a:pt x="0" y="163307"/>
                      </a:cubicBezTo>
                      <a:cubicBezTo>
                        <a:pt x="0" y="112843"/>
                        <a:pt x="0" y="62379"/>
                        <a:pt x="0" y="12266"/>
                      </a:cubicBezTo>
                      <a:cubicBezTo>
                        <a:pt x="0" y="8411"/>
                        <a:pt x="0" y="4205"/>
                        <a:pt x="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6" name="Google Shape;246;p8"/>
                <p:cNvSpPr/>
                <p:nvPr/>
              </p:nvSpPr>
              <p:spPr>
                <a:xfrm>
                  <a:off x="7384253" y="4813966"/>
                  <a:ext cx="578233" cy="241806"/>
                </a:xfrm>
                <a:custGeom>
                  <a:rect b="b" l="l" r="r" t="t"/>
                  <a:pathLst>
                    <a:path extrusionOk="0" h="241806" w="578232">
                      <a:moveTo>
                        <a:pt x="88" y="0"/>
                      </a:moveTo>
                      <a:cubicBezTo>
                        <a:pt x="49500" y="22428"/>
                        <a:pt x="100665" y="29788"/>
                        <a:pt x="152180" y="32942"/>
                      </a:cubicBezTo>
                      <a:cubicBezTo>
                        <a:pt x="220167" y="37147"/>
                        <a:pt x="288503" y="38899"/>
                        <a:pt x="356489" y="37848"/>
                      </a:cubicBezTo>
                      <a:cubicBezTo>
                        <a:pt x="423073" y="36797"/>
                        <a:pt x="489307" y="30839"/>
                        <a:pt x="553439" y="10513"/>
                      </a:cubicBezTo>
                      <a:cubicBezTo>
                        <a:pt x="561849" y="7710"/>
                        <a:pt x="569909" y="4205"/>
                        <a:pt x="579021" y="701"/>
                      </a:cubicBezTo>
                      <a:cubicBezTo>
                        <a:pt x="579021" y="65183"/>
                        <a:pt x="579372" y="128613"/>
                        <a:pt x="578320" y="192394"/>
                      </a:cubicBezTo>
                      <a:cubicBezTo>
                        <a:pt x="578320" y="197650"/>
                        <a:pt x="571311" y="205711"/>
                        <a:pt x="565704" y="207463"/>
                      </a:cubicBezTo>
                      <a:cubicBezTo>
                        <a:pt x="541173" y="215523"/>
                        <a:pt x="516292" y="224985"/>
                        <a:pt x="491059" y="227789"/>
                      </a:cubicBezTo>
                      <a:cubicBezTo>
                        <a:pt x="436040" y="234447"/>
                        <a:pt x="381020" y="239353"/>
                        <a:pt x="325650" y="241806"/>
                      </a:cubicBezTo>
                      <a:cubicBezTo>
                        <a:pt x="236988" y="246012"/>
                        <a:pt x="148326" y="241106"/>
                        <a:pt x="61065" y="222882"/>
                      </a:cubicBezTo>
                      <a:cubicBezTo>
                        <a:pt x="44244" y="219378"/>
                        <a:pt x="27773" y="213070"/>
                        <a:pt x="11652" y="206412"/>
                      </a:cubicBezTo>
                      <a:cubicBezTo>
                        <a:pt x="6746" y="204309"/>
                        <a:pt x="788" y="196599"/>
                        <a:pt x="438" y="191343"/>
                      </a:cubicBezTo>
                      <a:cubicBezTo>
                        <a:pt x="-263" y="127912"/>
                        <a:pt x="88" y="64832"/>
                        <a:pt x="88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7" name="Google Shape;247;p8"/>
                <p:cNvSpPr/>
                <p:nvPr/>
              </p:nvSpPr>
              <p:spPr>
                <a:xfrm>
                  <a:off x="7383640" y="4548680"/>
                  <a:ext cx="578233" cy="238302"/>
                </a:xfrm>
                <a:custGeom>
                  <a:rect b="b" l="l" r="r" t="t"/>
                  <a:pathLst>
                    <a:path extrusionOk="0" h="238301" w="578232">
                      <a:moveTo>
                        <a:pt x="579634" y="1752"/>
                      </a:moveTo>
                      <a:cubicBezTo>
                        <a:pt x="579634" y="63430"/>
                        <a:pt x="579985" y="126510"/>
                        <a:pt x="578933" y="189590"/>
                      </a:cubicBezTo>
                      <a:cubicBezTo>
                        <a:pt x="578933" y="195197"/>
                        <a:pt x="571574" y="203608"/>
                        <a:pt x="565967" y="205710"/>
                      </a:cubicBezTo>
                      <a:cubicBezTo>
                        <a:pt x="540384" y="213771"/>
                        <a:pt x="514802" y="223233"/>
                        <a:pt x="488519" y="226387"/>
                      </a:cubicBezTo>
                      <a:cubicBezTo>
                        <a:pt x="434551" y="233045"/>
                        <a:pt x="380232" y="237250"/>
                        <a:pt x="325562" y="240054"/>
                      </a:cubicBezTo>
                      <a:cubicBezTo>
                        <a:pt x="241806" y="244259"/>
                        <a:pt x="158751" y="239353"/>
                        <a:pt x="76046" y="224284"/>
                      </a:cubicBezTo>
                      <a:cubicBezTo>
                        <a:pt x="55370" y="220429"/>
                        <a:pt x="35044" y="213070"/>
                        <a:pt x="14718" y="206411"/>
                      </a:cubicBezTo>
                      <a:cubicBezTo>
                        <a:pt x="4556" y="203257"/>
                        <a:pt x="0" y="195898"/>
                        <a:pt x="0" y="183983"/>
                      </a:cubicBezTo>
                      <a:cubicBezTo>
                        <a:pt x="701" y="122655"/>
                        <a:pt x="350" y="61328"/>
                        <a:pt x="350" y="0"/>
                      </a:cubicBezTo>
                      <a:cubicBezTo>
                        <a:pt x="99176" y="36096"/>
                        <a:pt x="201856" y="37497"/>
                        <a:pt x="304536" y="37848"/>
                      </a:cubicBezTo>
                      <a:cubicBezTo>
                        <a:pt x="369017" y="37848"/>
                        <a:pt x="433149" y="34343"/>
                        <a:pt x="496579" y="22428"/>
                      </a:cubicBezTo>
                      <a:cubicBezTo>
                        <a:pt x="524614" y="16821"/>
                        <a:pt x="551248" y="8761"/>
                        <a:pt x="579634" y="1752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8" name="Google Shape;248;p8"/>
                <p:cNvSpPr/>
                <p:nvPr/>
              </p:nvSpPr>
              <p:spPr>
                <a:xfrm>
                  <a:off x="7382939" y="4199052"/>
                  <a:ext cx="578233" cy="91115"/>
                </a:xfrm>
                <a:custGeom>
                  <a:rect b="b" l="l" r="r" t="t"/>
                  <a:pathLst>
                    <a:path extrusionOk="0" h="91115" w="578232">
                      <a:moveTo>
                        <a:pt x="581386" y="49999"/>
                      </a:moveTo>
                      <a:cubicBezTo>
                        <a:pt x="569471" y="55606"/>
                        <a:pt x="557907" y="63666"/>
                        <a:pt x="545291" y="66119"/>
                      </a:cubicBezTo>
                      <a:cubicBezTo>
                        <a:pt x="499032" y="74880"/>
                        <a:pt x="452423" y="83992"/>
                        <a:pt x="405464" y="88898"/>
                      </a:cubicBezTo>
                      <a:cubicBezTo>
                        <a:pt x="362009" y="93454"/>
                        <a:pt x="317853" y="94155"/>
                        <a:pt x="274047" y="93454"/>
                      </a:cubicBezTo>
                      <a:cubicBezTo>
                        <a:pt x="196599" y="92402"/>
                        <a:pt x="118800" y="88898"/>
                        <a:pt x="43455" y="68923"/>
                      </a:cubicBezTo>
                      <a:cubicBezTo>
                        <a:pt x="18223" y="62264"/>
                        <a:pt x="9111" y="57008"/>
                        <a:pt x="0" y="44041"/>
                      </a:cubicBezTo>
                      <a:cubicBezTo>
                        <a:pt x="10163" y="38785"/>
                        <a:pt x="19625" y="31425"/>
                        <a:pt x="30138" y="29323"/>
                      </a:cubicBezTo>
                      <a:cubicBezTo>
                        <a:pt x="64832" y="21262"/>
                        <a:pt x="99877" y="13202"/>
                        <a:pt x="135271" y="8646"/>
                      </a:cubicBezTo>
                      <a:cubicBezTo>
                        <a:pt x="206061" y="-816"/>
                        <a:pt x="277201" y="-1166"/>
                        <a:pt x="348341" y="1287"/>
                      </a:cubicBezTo>
                      <a:cubicBezTo>
                        <a:pt x="410370" y="3390"/>
                        <a:pt x="472398" y="7946"/>
                        <a:pt x="533025" y="23716"/>
                      </a:cubicBezTo>
                      <a:cubicBezTo>
                        <a:pt x="543539" y="26519"/>
                        <a:pt x="554402" y="30024"/>
                        <a:pt x="564215" y="34579"/>
                      </a:cubicBezTo>
                      <a:cubicBezTo>
                        <a:pt x="570172" y="37032"/>
                        <a:pt x="575079" y="41588"/>
                        <a:pt x="580686" y="45443"/>
                      </a:cubicBezTo>
                      <a:cubicBezTo>
                        <a:pt x="581036" y="46845"/>
                        <a:pt x="581386" y="48597"/>
                        <a:pt x="581386" y="49999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9" name="Google Shape;249;p8"/>
                <p:cNvSpPr/>
                <p:nvPr/>
              </p:nvSpPr>
              <p:spPr>
                <a:xfrm>
                  <a:off x="7383990" y="4504507"/>
                  <a:ext cx="578233" cy="63080"/>
                </a:xfrm>
                <a:custGeom>
                  <a:rect b="b" l="l" r="r" t="t"/>
                  <a:pathLst>
                    <a:path extrusionOk="0" h="63079" w="578232">
                      <a:moveTo>
                        <a:pt x="1051" y="17188"/>
                      </a:moveTo>
                      <a:cubicBezTo>
                        <a:pt x="16821" y="5974"/>
                        <a:pt x="31890" y="-2787"/>
                        <a:pt x="53968" y="1068"/>
                      </a:cubicBezTo>
                      <a:cubicBezTo>
                        <a:pt x="104432" y="9128"/>
                        <a:pt x="154896" y="17188"/>
                        <a:pt x="205711" y="19992"/>
                      </a:cubicBezTo>
                      <a:cubicBezTo>
                        <a:pt x="265286" y="23146"/>
                        <a:pt x="325212" y="22795"/>
                        <a:pt x="384437" y="19642"/>
                      </a:cubicBezTo>
                      <a:cubicBezTo>
                        <a:pt x="432798" y="16838"/>
                        <a:pt x="480809" y="8077"/>
                        <a:pt x="528470" y="718"/>
                      </a:cubicBezTo>
                      <a:cubicBezTo>
                        <a:pt x="547393" y="-2437"/>
                        <a:pt x="561411" y="5273"/>
                        <a:pt x="575780" y="14735"/>
                      </a:cubicBezTo>
                      <a:cubicBezTo>
                        <a:pt x="583139" y="19642"/>
                        <a:pt x="577882" y="24898"/>
                        <a:pt x="572976" y="27351"/>
                      </a:cubicBezTo>
                      <a:cubicBezTo>
                        <a:pt x="559659" y="33309"/>
                        <a:pt x="546693" y="39617"/>
                        <a:pt x="532675" y="43121"/>
                      </a:cubicBezTo>
                      <a:cubicBezTo>
                        <a:pt x="478006" y="57490"/>
                        <a:pt x="421935" y="63797"/>
                        <a:pt x="365864" y="64148"/>
                      </a:cubicBezTo>
                      <a:cubicBezTo>
                        <a:pt x="296476" y="64849"/>
                        <a:pt x="227088" y="64498"/>
                        <a:pt x="157700" y="59943"/>
                      </a:cubicBezTo>
                      <a:cubicBezTo>
                        <a:pt x="114595" y="57139"/>
                        <a:pt x="72191" y="45925"/>
                        <a:pt x="29788" y="37164"/>
                      </a:cubicBezTo>
                      <a:cubicBezTo>
                        <a:pt x="19274" y="35061"/>
                        <a:pt x="9812" y="27702"/>
                        <a:pt x="0" y="22445"/>
                      </a:cubicBezTo>
                      <a:cubicBezTo>
                        <a:pt x="350" y="20693"/>
                        <a:pt x="701" y="18941"/>
                        <a:pt x="1051" y="17188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0" name="Google Shape;250;p8"/>
                <p:cNvSpPr/>
                <p:nvPr/>
              </p:nvSpPr>
              <p:spPr>
                <a:xfrm>
                  <a:off x="7383640" y="4776200"/>
                  <a:ext cx="578233" cy="59575"/>
                </a:xfrm>
                <a:custGeom>
                  <a:rect b="b" l="l" r="r" t="t"/>
                  <a:pathLst>
                    <a:path extrusionOk="0" h="59575" w="578232">
                      <a:moveTo>
                        <a:pt x="0" y="17440"/>
                      </a:moveTo>
                      <a:cubicBezTo>
                        <a:pt x="11565" y="1670"/>
                        <a:pt x="20326" y="-1834"/>
                        <a:pt x="34343" y="2371"/>
                      </a:cubicBezTo>
                      <a:cubicBezTo>
                        <a:pt x="85859" y="17090"/>
                        <a:pt x="138776" y="22697"/>
                        <a:pt x="192043" y="25851"/>
                      </a:cubicBezTo>
                      <a:cubicBezTo>
                        <a:pt x="280706" y="31108"/>
                        <a:pt x="369368" y="30757"/>
                        <a:pt x="457680" y="19543"/>
                      </a:cubicBezTo>
                      <a:cubicBezTo>
                        <a:pt x="488168" y="15688"/>
                        <a:pt x="517956" y="7978"/>
                        <a:pt x="547744" y="2021"/>
                      </a:cubicBezTo>
                      <a:cubicBezTo>
                        <a:pt x="552300" y="1320"/>
                        <a:pt x="557907" y="-1133"/>
                        <a:pt x="561061" y="619"/>
                      </a:cubicBezTo>
                      <a:cubicBezTo>
                        <a:pt x="568070" y="4123"/>
                        <a:pt x="573677" y="9730"/>
                        <a:pt x="579985" y="14637"/>
                      </a:cubicBezTo>
                      <a:cubicBezTo>
                        <a:pt x="574728" y="19192"/>
                        <a:pt x="569822" y="24800"/>
                        <a:pt x="563514" y="27603"/>
                      </a:cubicBezTo>
                      <a:cubicBezTo>
                        <a:pt x="527418" y="43373"/>
                        <a:pt x="488869" y="48279"/>
                        <a:pt x="450320" y="52835"/>
                      </a:cubicBezTo>
                      <a:cubicBezTo>
                        <a:pt x="372522" y="62297"/>
                        <a:pt x="294723" y="63348"/>
                        <a:pt x="216574" y="59844"/>
                      </a:cubicBezTo>
                      <a:cubicBezTo>
                        <a:pt x="153494" y="57040"/>
                        <a:pt x="90415" y="52485"/>
                        <a:pt x="30138" y="32509"/>
                      </a:cubicBezTo>
                      <a:cubicBezTo>
                        <a:pt x="19975" y="29005"/>
                        <a:pt x="10513" y="22697"/>
                        <a:pt x="0" y="1744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51" name="Google Shape;251;p8"/>
              <p:cNvGrpSpPr/>
              <p:nvPr/>
            </p:nvGrpSpPr>
            <p:grpSpPr>
              <a:xfrm>
                <a:off x="7412026" y="3028298"/>
                <a:ext cx="508845" cy="635161"/>
                <a:chOff x="7412026" y="3028298"/>
                <a:chExt cx="508845" cy="635161"/>
              </a:xfrm>
            </p:grpSpPr>
            <p:sp>
              <p:nvSpPr>
                <p:cNvPr id="252" name="Google Shape;252;p8"/>
                <p:cNvSpPr/>
                <p:nvPr/>
              </p:nvSpPr>
              <p:spPr>
                <a:xfrm>
                  <a:off x="7412026" y="3491741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350" y="0"/>
                      </a:moveTo>
                      <a:cubicBezTo>
                        <a:pt x="170666" y="34694"/>
                        <a:pt x="339580" y="34344"/>
                        <a:pt x="509896" y="350"/>
                      </a:cubicBezTo>
                      <a:cubicBezTo>
                        <a:pt x="509896" y="1402"/>
                        <a:pt x="510246" y="5257"/>
                        <a:pt x="510246" y="9462"/>
                      </a:cubicBezTo>
                      <a:cubicBezTo>
                        <a:pt x="510246" y="48712"/>
                        <a:pt x="509546" y="87961"/>
                        <a:pt x="510597" y="127211"/>
                      </a:cubicBezTo>
                      <a:cubicBezTo>
                        <a:pt x="510947" y="139477"/>
                        <a:pt x="506041" y="145785"/>
                        <a:pt x="495528" y="148238"/>
                      </a:cubicBezTo>
                      <a:cubicBezTo>
                        <a:pt x="468543" y="153845"/>
                        <a:pt x="441559" y="160854"/>
                        <a:pt x="414225" y="164358"/>
                      </a:cubicBezTo>
                      <a:cubicBezTo>
                        <a:pt x="340632" y="173820"/>
                        <a:pt x="266337" y="174171"/>
                        <a:pt x="192043" y="171718"/>
                      </a:cubicBezTo>
                      <a:cubicBezTo>
                        <a:pt x="136673" y="169965"/>
                        <a:pt x="81303" y="166461"/>
                        <a:pt x="27335" y="152093"/>
                      </a:cubicBezTo>
                      <a:cubicBezTo>
                        <a:pt x="25232" y="151392"/>
                        <a:pt x="23129" y="151041"/>
                        <a:pt x="21027" y="150341"/>
                      </a:cubicBezTo>
                      <a:cubicBezTo>
                        <a:pt x="0" y="143682"/>
                        <a:pt x="0" y="143682"/>
                        <a:pt x="0" y="121254"/>
                      </a:cubicBezTo>
                      <a:cubicBezTo>
                        <a:pt x="0" y="84107"/>
                        <a:pt x="0" y="46960"/>
                        <a:pt x="0" y="9812"/>
                      </a:cubicBezTo>
                      <a:cubicBezTo>
                        <a:pt x="350" y="5607"/>
                        <a:pt x="350" y="1402"/>
                        <a:pt x="35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3" name="Google Shape;253;p8"/>
                <p:cNvSpPr/>
                <p:nvPr/>
              </p:nvSpPr>
              <p:spPr>
                <a:xfrm>
                  <a:off x="7412727" y="3284979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0" y="0"/>
                      </a:moveTo>
                      <a:cubicBezTo>
                        <a:pt x="169965" y="35044"/>
                        <a:pt x="339230" y="34344"/>
                        <a:pt x="509545" y="350"/>
                      </a:cubicBezTo>
                      <a:cubicBezTo>
                        <a:pt x="509545" y="1051"/>
                        <a:pt x="510247" y="4556"/>
                        <a:pt x="510247" y="8411"/>
                      </a:cubicBezTo>
                      <a:cubicBezTo>
                        <a:pt x="510247" y="48361"/>
                        <a:pt x="509896" y="88662"/>
                        <a:pt x="510597" y="128613"/>
                      </a:cubicBezTo>
                      <a:cubicBezTo>
                        <a:pt x="510597" y="139126"/>
                        <a:pt x="507092" y="145084"/>
                        <a:pt x="497630" y="147186"/>
                      </a:cubicBezTo>
                      <a:cubicBezTo>
                        <a:pt x="466441" y="153845"/>
                        <a:pt x="435251" y="162606"/>
                        <a:pt x="403711" y="165059"/>
                      </a:cubicBezTo>
                      <a:cubicBezTo>
                        <a:pt x="347290" y="169615"/>
                        <a:pt x="290518" y="172418"/>
                        <a:pt x="234097" y="172418"/>
                      </a:cubicBezTo>
                      <a:cubicBezTo>
                        <a:pt x="166461" y="172068"/>
                        <a:pt x="98475" y="169264"/>
                        <a:pt x="32241" y="153144"/>
                      </a:cubicBezTo>
                      <a:cubicBezTo>
                        <a:pt x="30138" y="152794"/>
                        <a:pt x="28036" y="152093"/>
                        <a:pt x="25933" y="151742"/>
                      </a:cubicBezTo>
                      <a:cubicBezTo>
                        <a:pt x="350" y="144383"/>
                        <a:pt x="350" y="144383"/>
                        <a:pt x="350" y="118100"/>
                      </a:cubicBezTo>
                      <a:cubicBezTo>
                        <a:pt x="0" y="78149"/>
                        <a:pt x="0" y="37848"/>
                        <a:pt x="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4" name="Google Shape;254;p8"/>
                <p:cNvSpPr/>
                <p:nvPr/>
              </p:nvSpPr>
              <p:spPr>
                <a:xfrm>
                  <a:off x="7412376" y="3083123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0" y="0"/>
                      </a:moveTo>
                      <a:cubicBezTo>
                        <a:pt x="170316" y="35044"/>
                        <a:pt x="339580" y="34694"/>
                        <a:pt x="510246" y="0"/>
                      </a:cubicBezTo>
                      <a:cubicBezTo>
                        <a:pt x="510246" y="2103"/>
                        <a:pt x="510246" y="6308"/>
                        <a:pt x="510246" y="10864"/>
                      </a:cubicBezTo>
                      <a:cubicBezTo>
                        <a:pt x="510246" y="49413"/>
                        <a:pt x="509546" y="87611"/>
                        <a:pt x="510597" y="126160"/>
                      </a:cubicBezTo>
                      <a:cubicBezTo>
                        <a:pt x="510947" y="139126"/>
                        <a:pt x="506041" y="145434"/>
                        <a:pt x="494827" y="147887"/>
                      </a:cubicBezTo>
                      <a:cubicBezTo>
                        <a:pt x="465740" y="153845"/>
                        <a:pt x="436653" y="162256"/>
                        <a:pt x="407216" y="164709"/>
                      </a:cubicBezTo>
                      <a:cubicBezTo>
                        <a:pt x="351495" y="169264"/>
                        <a:pt x="295775" y="172769"/>
                        <a:pt x="240054" y="172418"/>
                      </a:cubicBezTo>
                      <a:cubicBezTo>
                        <a:pt x="170316" y="172068"/>
                        <a:pt x="100227" y="169615"/>
                        <a:pt x="31891" y="152794"/>
                      </a:cubicBezTo>
                      <a:cubicBezTo>
                        <a:pt x="351" y="145084"/>
                        <a:pt x="351" y="145084"/>
                        <a:pt x="351" y="113544"/>
                      </a:cubicBezTo>
                      <a:cubicBezTo>
                        <a:pt x="351" y="78850"/>
                        <a:pt x="351" y="44506"/>
                        <a:pt x="351" y="9812"/>
                      </a:cubicBezTo>
                      <a:cubicBezTo>
                        <a:pt x="0" y="5607"/>
                        <a:pt x="0" y="1402"/>
                        <a:pt x="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5" name="Google Shape;255;p8"/>
                <p:cNvSpPr/>
                <p:nvPr/>
              </p:nvSpPr>
              <p:spPr>
                <a:xfrm>
                  <a:off x="7412376" y="3028298"/>
                  <a:ext cx="508144" cy="63080"/>
                </a:xfrm>
                <a:custGeom>
                  <a:rect b="b" l="l" r="r" t="t"/>
                  <a:pathLst>
                    <a:path extrusionOk="0" h="63079" w="508143">
                      <a:moveTo>
                        <a:pt x="510246" y="35551"/>
                      </a:moveTo>
                      <a:cubicBezTo>
                        <a:pt x="489921" y="40807"/>
                        <a:pt x="469595" y="47816"/>
                        <a:pt x="448919" y="50970"/>
                      </a:cubicBezTo>
                      <a:cubicBezTo>
                        <a:pt x="364462" y="64637"/>
                        <a:pt x="279304" y="67091"/>
                        <a:pt x="193796" y="62885"/>
                      </a:cubicBezTo>
                      <a:cubicBezTo>
                        <a:pt x="141229" y="60432"/>
                        <a:pt x="89013" y="52372"/>
                        <a:pt x="36446" y="45713"/>
                      </a:cubicBezTo>
                      <a:cubicBezTo>
                        <a:pt x="24181" y="44312"/>
                        <a:pt x="12266" y="38004"/>
                        <a:pt x="351" y="34149"/>
                      </a:cubicBezTo>
                      <a:cubicBezTo>
                        <a:pt x="351" y="32747"/>
                        <a:pt x="0" y="30995"/>
                        <a:pt x="0" y="29593"/>
                      </a:cubicBezTo>
                      <a:cubicBezTo>
                        <a:pt x="10163" y="26089"/>
                        <a:pt x="19975" y="20131"/>
                        <a:pt x="30138" y="19080"/>
                      </a:cubicBezTo>
                      <a:cubicBezTo>
                        <a:pt x="81654" y="12071"/>
                        <a:pt x="133169" y="3310"/>
                        <a:pt x="184684" y="1207"/>
                      </a:cubicBezTo>
                      <a:cubicBezTo>
                        <a:pt x="248465" y="-1246"/>
                        <a:pt x="312596" y="156"/>
                        <a:pt x="376377" y="4361"/>
                      </a:cubicBezTo>
                      <a:cubicBezTo>
                        <a:pt x="415977" y="6814"/>
                        <a:pt x="455227" y="16627"/>
                        <a:pt x="494476" y="23636"/>
                      </a:cubicBezTo>
                      <a:cubicBezTo>
                        <a:pt x="499733" y="24687"/>
                        <a:pt x="504289" y="27841"/>
                        <a:pt x="509195" y="29944"/>
                      </a:cubicBezTo>
                      <a:cubicBezTo>
                        <a:pt x="509896" y="31696"/>
                        <a:pt x="510246" y="33448"/>
                        <a:pt x="510246" y="35551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6" name="Google Shape;256;p8"/>
                <p:cNvSpPr/>
                <p:nvPr/>
              </p:nvSpPr>
              <p:spPr>
                <a:xfrm>
                  <a:off x="7412727" y="3456049"/>
                  <a:ext cx="508144" cy="42053"/>
                </a:xfrm>
                <a:custGeom>
                  <a:rect b="b" l="l" r="r" t="t"/>
                  <a:pathLst>
                    <a:path extrusionOk="0" h="42053" w="508143">
                      <a:moveTo>
                        <a:pt x="701" y="10811"/>
                      </a:moveTo>
                      <a:cubicBezTo>
                        <a:pt x="12966" y="4853"/>
                        <a:pt x="24531" y="-1455"/>
                        <a:pt x="39950" y="298"/>
                      </a:cubicBezTo>
                      <a:cubicBezTo>
                        <a:pt x="95321" y="6255"/>
                        <a:pt x="150691" y="14666"/>
                        <a:pt x="206411" y="16068"/>
                      </a:cubicBezTo>
                      <a:cubicBezTo>
                        <a:pt x="270543" y="17820"/>
                        <a:pt x="335024" y="13614"/>
                        <a:pt x="399156" y="10811"/>
                      </a:cubicBezTo>
                      <a:cubicBezTo>
                        <a:pt x="421584" y="9759"/>
                        <a:pt x="444013" y="5204"/>
                        <a:pt x="466090" y="998"/>
                      </a:cubicBezTo>
                      <a:cubicBezTo>
                        <a:pt x="482561" y="-2156"/>
                        <a:pt x="495528" y="3452"/>
                        <a:pt x="508494" y="11512"/>
                      </a:cubicBezTo>
                      <a:cubicBezTo>
                        <a:pt x="508845" y="13264"/>
                        <a:pt x="508845" y="14666"/>
                        <a:pt x="509195" y="16418"/>
                      </a:cubicBezTo>
                      <a:cubicBezTo>
                        <a:pt x="490972" y="21324"/>
                        <a:pt x="473099" y="28683"/>
                        <a:pt x="454526" y="30786"/>
                      </a:cubicBezTo>
                      <a:cubicBezTo>
                        <a:pt x="404062" y="36744"/>
                        <a:pt x="353598" y="43052"/>
                        <a:pt x="303134" y="44103"/>
                      </a:cubicBezTo>
                      <a:cubicBezTo>
                        <a:pt x="239003" y="45154"/>
                        <a:pt x="174521" y="42351"/>
                        <a:pt x="110390" y="38496"/>
                      </a:cubicBezTo>
                      <a:cubicBezTo>
                        <a:pt x="81303" y="36744"/>
                        <a:pt x="52567" y="29384"/>
                        <a:pt x="23480" y="23777"/>
                      </a:cubicBezTo>
                      <a:cubicBezTo>
                        <a:pt x="15419" y="22375"/>
                        <a:pt x="8060" y="17820"/>
                        <a:pt x="0" y="14666"/>
                      </a:cubicBezTo>
                      <a:cubicBezTo>
                        <a:pt x="701" y="13264"/>
                        <a:pt x="701" y="11862"/>
                        <a:pt x="701" y="10811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7" name="Google Shape;257;p8"/>
                <p:cNvSpPr/>
                <p:nvPr/>
              </p:nvSpPr>
              <p:spPr>
                <a:xfrm>
                  <a:off x="7412376" y="3251947"/>
                  <a:ext cx="508144" cy="42053"/>
                </a:xfrm>
                <a:custGeom>
                  <a:rect b="b" l="l" r="r" t="t"/>
                  <a:pathLst>
                    <a:path extrusionOk="0" h="42053" w="508143">
                      <a:moveTo>
                        <a:pt x="0" y="10254"/>
                      </a:moveTo>
                      <a:cubicBezTo>
                        <a:pt x="12266" y="2194"/>
                        <a:pt x="22078" y="-1311"/>
                        <a:pt x="36096" y="441"/>
                      </a:cubicBezTo>
                      <a:cubicBezTo>
                        <a:pt x="84107" y="7100"/>
                        <a:pt x="132468" y="14810"/>
                        <a:pt x="180829" y="16912"/>
                      </a:cubicBezTo>
                      <a:cubicBezTo>
                        <a:pt x="238302" y="19365"/>
                        <a:pt x="296125" y="18664"/>
                        <a:pt x="353248" y="15861"/>
                      </a:cubicBezTo>
                      <a:cubicBezTo>
                        <a:pt x="395651" y="13758"/>
                        <a:pt x="437705" y="4997"/>
                        <a:pt x="479758" y="441"/>
                      </a:cubicBezTo>
                      <a:cubicBezTo>
                        <a:pt x="489921" y="-610"/>
                        <a:pt x="500434" y="3946"/>
                        <a:pt x="510597" y="5698"/>
                      </a:cubicBezTo>
                      <a:cubicBezTo>
                        <a:pt x="510597" y="8151"/>
                        <a:pt x="510947" y="10254"/>
                        <a:pt x="510947" y="12707"/>
                      </a:cubicBezTo>
                      <a:cubicBezTo>
                        <a:pt x="494476" y="17613"/>
                        <a:pt x="478706" y="24622"/>
                        <a:pt x="461885" y="26725"/>
                      </a:cubicBezTo>
                      <a:cubicBezTo>
                        <a:pt x="414575" y="32682"/>
                        <a:pt x="367265" y="37939"/>
                        <a:pt x="319605" y="40742"/>
                      </a:cubicBezTo>
                      <a:cubicBezTo>
                        <a:pt x="247414" y="44948"/>
                        <a:pt x="175573" y="42845"/>
                        <a:pt x="103732" y="34434"/>
                      </a:cubicBezTo>
                      <a:cubicBezTo>
                        <a:pt x="74995" y="30930"/>
                        <a:pt x="46609" y="24272"/>
                        <a:pt x="18574" y="18664"/>
                      </a:cubicBezTo>
                      <a:cubicBezTo>
                        <a:pt x="12616" y="17613"/>
                        <a:pt x="7009" y="13758"/>
                        <a:pt x="0" y="10254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58" name="Google Shape;258;p8"/>
              <p:cNvGrpSpPr/>
              <p:nvPr/>
            </p:nvGrpSpPr>
            <p:grpSpPr>
              <a:xfrm>
                <a:off x="4335829" y="3026004"/>
                <a:ext cx="512349" cy="637455"/>
                <a:chOff x="4335829" y="3026004"/>
                <a:chExt cx="512349" cy="637455"/>
              </a:xfrm>
            </p:grpSpPr>
            <p:sp>
              <p:nvSpPr>
                <p:cNvPr id="259" name="Google Shape;259;p8"/>
                <p:cNvSpPr/>
                <p:nvPr/>
              </p:nvSpPr>
              <p:spPr>
                <a:xfrm>
                  <a:off x="4337581" y="3491741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350" y="0"/>
                      </a:moveTo>
                      <a:cubicBezTo>
                        <a:pt x="170666" y="34344"/>
                        <a:pt x="339931" y="34344"/>
                        <a:pt x="510246" y="0"/>
                      </a:cubicBezTo>
                      <a:cubicBezTo>
                        <a:pt x="510246" y="43455"/>
                        <a:pt x="510597" y="89363"/>
                        <a:pt x="509896" y="135271"/>
                      </a:cubicBezTo>
                      <a:cubicBezTo>
                        <a:pt x="509896" y="139126"/>
                        <a:pt x="502887" y="145084"/>
                        <a:pt x="498331" y="146135"/>
                      </a:cubicBezTo>
                      <a:cubicBezTo>
                        <a:pt x="470296" y="152794"/>
                        <a:pt x="441910" y="159802"/>
                        <a:pt x="413524" y="163657"/>
                      </a:cubicBezTo>
                      <a:cubicBezTo>
                        <a:pt x="339931" y="173470"/>
                        <a:pt x="265637" y="173470"/>
                        <a:pt x="191342" y="171017"/>
                      </a:cubicBezTo>
                      <a:cubicBezTo>
                        <a:pt x="135972" y="169264"/>
                        <a:pt x="80602" y="165760"/>
                        <a:pt x="26634" y="151392"/>
                      </a:cubicBezTo>
                      <a:cubicBezTo>
                        <a:pt x="0" y="144032"/>
                        <a:pt x="0" y="143682"/>
                        <a:pt x="0" y="116347"/>
                      </a:cubicBezTo>
                      <a:cubicBezTo>
                        <a:pt x="350" y="76747"/>
                        <a:pt x="350" y="37147"/>
                        <a:pt x="35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0" name="Google Shape;260;p8"/>
                <p:cNvSpPr/>
                <p:nvPr/>
              </p:nvSpPr>
              <p:spPr>
                <a:xfrm>
                  <a:off x="4337581" y="3284979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0" y="0"/>
                      </a:moveTo>
                      <a:cubicBezTo>
                        <a:pt x="170666" y="34694"/>
                        <a:pt x="339580" y="35044"/>
                        <a:pt x="510246" y="0"/>
                      </a:cubicBezTo>
                      <a:cubicBezTo>
                        <a:pt x="510246" y="17873"/>
                        <a:pt x="510246" y="37498"/>
                        <a:pt x="510246" y="57473"/>
                      </a:cubicBezTo>
                      <a:cubicBezTo>
                        <a:pt x="510246" y="80602"/>
                        <a:pt x="509195" y="103731"/>
                        <a:pt x="510597" y="126510"/>
                      </a:cubicBezTo>
                      <a:cubicBezTo>
                        <a:pt x="511298" y="139477"/>
                        <a:pt x="506041" y="145785"/>
                        <a:pt x="494476" y="148238"/>
                      </a:cubicBezTo>
                      <a:cubicBezTo>
                        <a:pt x="463988" y="154546"/>
                        <a:pt x="433850" y="162956"/>
                        <a:pt x="403011" y="165410"/>
                      </a:cubicBezTo>
                      <a:cubicBezTo>
                        <a:pt x="346940" y="169965"/>
                        <a:pt x="290518" y="172769"/>
                        <a:pt x="234447" y="172418"/>
                      </a:cubicBezTo>
                      <a:cubicBezTo>
                        <a:pt x="166811" y="172068"/>
                        <a:pt x="98825" y="169264"/>
                        <a:pt x="32591" y="153495"/>
                      </a:cubicBezTo>
                      <a:cubicBezTo>
                        <a:pt x="0" y="145785"/>
                        <a:pt x="0" y="145434"/>
                        <a:pt x="0" y="112493"/>
                      </a:cubicBezTo>
                      <a:cubicBezTo>
                        <a:pt x="0" y="74294"/>
                        <a:pt x="0" y="36446"/>
                        <a:pt x="0" y="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1" name="Google Shape;261;p8"/>
                <p:cNvSpPr/>
                <p:nvPr/>
              </p:nvSpPr>
              <p:spPr>
                <a:xfrm>
                  <a:off x="4337931" y="3083123"/>
                  <a:ext cx="508144" cy="171718"/>
                </a:xfrm>
                <a:custGeom>
                  <a:rect b="b" l="l" r="r" t="t"/>
                  <a:pathLst>
                    <a:path extrusionOk="0" h="171717" w="508143">
                      <a:moveTo>
                        <a:pt x="0" y="350"/>
                      </a:moveTo>
                      <a:cubicBezTo>
                        <a:pt x="171017" y="34344"/>
                        <a:pt x="340281" y="35044"/>
                        <a:pt x="510246" y="0"/>
                      </a:cubicBezTo>
                      <a:cubicBezTo>
                        <a:pt x="510246" y="43455"/>
                        <a:pt x="510597" y="89013"/>
                        <a:pt x="509546" y="134921"/>
                      </a:cubicBezTo>
                      <a:cubicBezTo>
                        <a:pt x="509546" y="139126"/>
                        <a:pt x="502537" y="145785"/>
                        <a:pt x="497630" y="147186"/>
                      </a:cubicBezTo>
                      <a:cubicBezTo>
                        <a:pt x="474151" y="153494"/>
                        <a:pt x="450671" y="160854"/>
                        <a:pt x="426841" y="162956"/>
                      </a:cubicBezTo>
                      <a:cubicBezTo>
                        <a:pt x="364462" y="167863"/>
                        <a:pt x="301732" y="172769"/>
                        <a:pt x="239353" y="173119"/>
                      </a:cubicBezTo>
                      <a:cubicBezTo>
                        <a:pt x="169615" y="173119"/>
                        <a:pt x="99526" y="169965"/>
                        <a:pt x="31190" y="153494"/>
                      </a:cubicBezTo>
                      <a:cubicBezTo>
                        <a:pt x="30839" y="153494"/>
                        <a:pt x="30489" y="153494"/>
                        <a:pt x="29788" y="153144"/>
                      </a:cubicBezTo>
                      <a:cubicBezTo>
                        <a:pt x="0" y="145434"/>
                        <a:pt x="0" y="145434"/>
                        <a:pt x="0" y="114946"/>
                      </a:cubicBezTo>
                      <a:cubicBezTo>
                        <a:pt x="0" y="75345"/>
                        <a:pt x="0" y="36446"/>
                        <a:pt x="0" y="350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2" name="Google Shape;262;p8"/>
                <p:cNvSpPr/>
                <p:nvPr/>
              </p:nvSpPr>
              <p:spPr>
                <a:xfrm>
                  <a:off x="4336530" y="3026004"/>
                  <a:ext cx="511648" cy="63080"/>
                </a:xfrm>
                <a:custGeom>
                  <a:rect b="b" l="l" r="r" t="t"/>
                  <a:pathLst>
                    <a:path extrusionOk="0" h="63079" w="511648">
                      <a:moveTo>
                        <a:pt x="0" y="34691"/>
                      </a:moveTo>
                      <a:cubicBezTo>
                        <a:pt x="24181" y="19972"/>
                        <a:pt x="47660" y="16818"/>
                        <a:pt x="70439" y="12963"/>
                      </a:cubicBezTo>
                      <a:cubicBezTo>
                        <a:pt x="148238" y="698"/>
                        <a:pt x="226737" y="-2106"/>
                        <a:pt x="304886" y="1399"/>
                      </a:cubicBezTo>
                      <a:cubicBezTo>
                        <a:pt x="360957" y="3852"/>
                        <a:pt x="416678" y="11562"/>
                        <a:pt x="472398" y="18220"/>
                      </a:cubicBezTo>
                      <a:cubicBezTo>
                        <a:pt x="486066" y="19972"/>
                        <a:pt x="499032" y="26280"/>
                        <a:pt x="511999" y="30135"/>
                      </a:cubicBezTo>
                      <a:cubicBezTo>
                        <a:pt x="511999" y="31887"/>
                        <a:pt x="511999" y="33990"/>
                        <a:pt x="512349" y="35742"/>
                      </a:cubicBezTo>
                      <a:cubicBezTo>
                        <a:pt x="500084" y="39948"/>
                        <a:pt x="487818" y="45905"/>
                        <a:pt x="474852" y="47657"/>
                      </a:cubicBezTo>
                      <a:cubicBezTo>
                        <a:pt x="428593" y="53965"/>
                        <a:pt x="381984" y="60273"/>
                        <a:pt x="335375" y="63427"/>
                      </a:cubicBezTo>
                      <a:cubicBezTo>
                        <a:pt x="291569" y="66231"/>
                        <a:pt x="247413" y="66231"/>
                        <a:pt x="203608" y="64829"/>
                      </a:cubicBezTo>
                      <a:cubicBezTo>
                        <a:pt x="145434" y="63077"/>
                        <a:pt x="86910" y="59923"/>
                        <a:pt x="30138" y="45204"/>
                      </a:cubicBezTo>
                      <a:cubicBezTo>
                        <a:pt x="21377" y="43452"/>
                        <a:pt x="12616" y="39247"/>
                        <a:pt x="0" y="34691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3" name="Google Shape;263;p8"/>
                <p:cNvSpPr/>
                <p:nvPr/>
              </p:nvSpPr>
              <p:spPr>
                <a:xfrm>
                  <a:off x="4336530" y="3455466"/>
                  <a:ext cx="511648" cy="42053"/>
                </a:xfrm>
                <a:custGeom>
                  <a:rect b="b" l="l" r="r" t="t"/>
                  <a:pathLst>
                    <a:path extrusionOk="0" h="42053" w="511648">
                      <a:moveTo>
                        <a:pt x="512349" y="15599"/>
                      </a:moveTo>
                      <a:cubicBezTo>
                        <a:pt x="497981" y="20155"/>
                        <a:pt x="483963" y="26813"/>
                        <a:pt x="469244" y="28566"/>
                      </a:cubicBezTo>
                      <a:cubicBezTo>
                        <a:pt x="414926" y="34874"/>
                        <a:pt x="360256" y="42583"/>
                        <a:pt x="305587" y="43985"/>
                      </a:cubicBezTo>
                      <a:cubicBezTo>
                        <a:pt x="241806" y="45737"/>
                        <a:pt x="178026" y="42233"/>
                        <a:pt x="114245" y="38378"/>
                      </a:cubicBezTo>
                      <a:cubicBezTo>
                        <a:pt x="84807" y="36626"/>
                        <a:pt x="55370" y="29266"/>
                        <a:pt x="26283" y="23659"/>
                      </a:cubicBezTo>
                      <a:cubicBezTo>
                        <a:pt x="18223" y="22258"/>
                        <a:pt x="10864" y="17702"/>
                        <a:pt x="0" y="13497"/>
                      </a:cubicBezTo>
                      <a:cubicBezTo>
                        <a:pt x="14368" y="5086"/>
                        <a:pt x="25933" y="-1923"/>
                        <a:pt x="40301" y="530"/>
                      </a:cubicBezTo>
                      <a:cubicBezTo>
                        <a:pt x="104432" y="12796"/>
                        <a:pt x="169615" y="16300"/>
                        <a:pt x="234797" y="17351"/>
                      </a:cubicBezTo>
                      <a:cubicBezTo>
                        <a:pt x="303835" y="18403"/>
                        <a:pt x="372522" y="15950"/>
                        <a:pt x="441209" y="6137"/>
                      </a:cubicBezTo>
                      <a:cubicBezTo>
                        <a:pt x="450320" y="4735"/>
                        <a:pt x="459783" y="3334"/>
                        <a:pt x="468894" y="1231"/>
                      </a:cubicBezTo>
                      <a:cubicBezTo>
                        <a:pt x="485365" y="-2974"/>
                        <a:pt x="498331" y="4385"/>
                        <a:pt x="511648" y="11394"/>
                      </a:cubicBezTo>
                      <a:cubicBezTo>
                        <a:pt x="511999" y="12796"/>
                        <a:pt x="512349" y="14197"/>
                        <a:pt x="512349" y="15599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4" name="Google Shape;264;p8"/>
                <p:cNvSpPr/>
                <p:nvPr/>
              </p:nvSpPr>
              <p:spPr>
                <a:xfrm>
                  <a:off x="4335829" y="3251897"/>
                  <a:ext cx="511648" cy="38549"/>
                </a:xfrm>
                <a:custGeom>
                  <a:rect b="b" l="l" r="r" t="t"/>
                  <a:pathLst>
                    <a:path extrusionOk="0" h="38548" w="511648">
                      <a:moveTo>
                        <a:pt x="0" y="10654"/>
                      </a:moveTo>
                      <a:cubicBezTo>
                        <a:pt x="14368" y="842"/>
                        <a:pt x="25582" y="-560"/>
                        <a:pt x="39951" y="1192"/>
                      </a:cubicBezTo>
                      <a:cubicBezTo>
                        <a:pt x="89714" y="8201"/>
                        <a:pt x="139827" y="15210"/>
                        <a:pt x="189590" y="16962"/>
                      </a:cubicBezTo>
                      <a:cubicBezTo>
                        <a:pt x="249516" y="19065"/>
                        <a:pt x="309792" y="17312"/>
                        <a:pt x="369718" y="14509"/>
                      </a:cubicBezTo>
                      <a:cubicBezTo>
                        <a:pt x="404763" y="12757"/>
                        <a:pt x="440158" y="6799"/>
                        <a:pt x="474852" y="842"/>
                      </a:cubicBezTo>
                      <a:cubicBezTo>
                        <a:pt x="488869" y="-1612"/>
                        <a:pt x="499733" y="1192"/>
                        <a:pt x="513751" y="10654"/>
                      </a:cubicBezTo>
                      <a:cubicBezTo>
                        <a:pt x="501836" y="15210"/>
                        <a:pt x="492724" y="20466"/>
                        <a:pt x="482912" y="21868"/>
                      </a:cubicBezTo>
                      <a:cubicBezTo>
                        <a:pt x="434901" y="28527"/>
                        <a:pt x="386890" y="37638"/>
                        <a:pt x="338529" y="39390"/>
                      </a:cubicBezTo>
                      <a:cubicBezTo>
                        <a:pt x="270192" y="41843"/>
                        <a:pt x="201155" y="40091"/>
                        <a:pt x="132818" y="36937"/>
                      </a:cubicBezTo>
                      <a:cubicBezTo>
                        <a:pt x="96372" y="35185"/>
                        <a:pt x="60627" y="26424"/>
                        <a:pt x="24531" y="20116"/>
                      </a:cubicBezTo>
                      <a:cubicBezTo>
                        <a:pt x="16821" y="19065"/>
                        <a:pt x="9812" y="14509"/>
                        <a:pt x="0" y="10654"/>
                      </a:cubicBezTo>
                      <a:close/>
                    </a:path>
                  </a:pathLst>
                </a:custGeom>
                <a:solidFill>
                  <a:srgbClr val="1F709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pic>
          <p:nvPicPr>
            <p:cNvPr descr="자전거 타기" id="265" name="Google Shape;26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966524">
              <a:off x="7771403" y="1012896"/>
              <a:ext cx="2464021" cy="24640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6" name="Google Shape;266;p8"/>
            <p:cNvGrpSpPr/>
            <p:nvPr/>
          </p:nvGrpSpPr>
          <p:grpSpPr>
            <a:xfrm>
              <a:off x="9257886" y="3579068"/>
              <a:ext cx="2070388" cy="710877"/>
              <a:chOff x="9257886" y="3579068"/>
              <a:chExt cx="2070388" cy="710877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9257886" y="3579068"/>
                <a:ext cx="1610485" cy="125178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9486240" y="4164767"/>
                <a:ext cx="1420858" cy="125178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9979524" y="3871917"/>
                <a:ext cx="615706" cy="125178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10712568" y="3871917"/>
                <a:ext cx="615706" cy="125178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71" name="Google Shape;271;p8"/>
            <p:cNvSpPr txBox="1"/>
            <p:nvPr/>
          </p:nvSpPr>
          <p:spPr>
            <a:xfrm>
              <a:off x="1663113" y="1390195"/>
              <a:ext cx="5896140" cy="710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algun Gothic"/>
                <a:buNone/>
              </a:pPr>
              <a:r>
                <a:rPr b="1" lang="en-US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2년 동안의 시간당 자전거 대여 데이터</a:t>
              </a:r>
              <a:endParaRPr/>
            </a:p>
          </p:txBody>
        </p:sp>
        <p:grpSp>
          <p:nvGrpSpPr>
            <p:cNvPr id="272" name="Google Shape;272;p8"/>
            <p:cNvGrpSpPr/>
            <p:nvPr/>
          </p:nvGrpSpPr>
          <p:grpSpPr>
            <a:xfrm>
              <a:off x="1590109" y="4693011"/>
              <a:ext cx="7029135" cy="1221701"/>
              <a:chOff x="1151317" y="1546491"/>
              <a:chExt cx="7029135" cy="1221701"/>
            </a:xfrm>
          </p:grpSpPr>
          <p:grpSp>
            <p:nvGrpSpPr>
              <p:cNvPr id="273" name="Google Shape;273;p8"/>
              <p:cNvGrpSpPr/>
              <p:nvPr/>
            </p:nvGrpSpPr>
            <p:grpSpPr>
              <a:xfrm>
                <a:off x="1151317" y="1546491"/>
                <a:ext cx="5636814" cy="435926"/>
                <a:chOff x="929148" y="2009089"/>
                <a:chExt cx="5636814" cy="435926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29148" y="2009090"/>
                  <a:ext cx="3953164" cy="435925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1F7097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4970800" y="2009089"/>
                  <a:ext cx="1595162" cy="435925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1F7097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76" name="Google Shape;276;p8"/>
                <p:cNvSpPr/>
                <p:nvPr/>
              </p:nvSpPr>
              <p:spPr>
                <a:xfrm>
                  <a:off x="2172927" y="2075682"/>
                  <a:ext cx="7593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3F3F3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Train 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77" name="Google Shape;277;p8"/>
                <p:cNvSpPr/>
                <p:nvPr/>
              </p:nvSpPr>
              <p:spPr>
                <a:xfrm>
                  <a:off x="5371801" y="2075682"/>
                  <a:ext cx="66710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3F3F3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Test 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78" name="Google Shape;278;p8"/>
                <p:cNvSpPr/>
                <p:nvPr/>
              </p:nvSpPr>
              <p:spPr>
                <a:xfrm>
                  <a:off x="3955806" y="2075682"/>
                  <a:ext cx="57073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3F3F3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Val 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279" name="Google Shape;279;p8"/>
                <p:cNvCxnSpPr/>
                <p:nvPr/>
              </p:nvCxnSpPr>
              <p:spPr>
                <a:xfrm>
                  <a:off x="3649253" y="2031438"/>
                  <a:ext cx="0" cy="41357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1F7097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80" name="Google Shape;280;p8"/>
              <p:cNvSpPr/>
              <p:nvPr/>
            </p:nvSpPr>
            <p:spPr>
              <a:xfrm>
                <a:off x="2613585" y="2121861"/>
                <a:ext cx="14526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Noto Sans Symbols"/>
                  <a:buChar char="✔"/>
                </a:pPr>
                <a:r>
                  <a:rPr b="1" lang="en-US" sz="1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매월 19일</a:t>
                </a:r>
                <a:endParaRPr b="1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5007789" y="2121861"/>
                <a:ext cx="31726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Noto Sans Symbols"/>
                  <a:buChar char="✔"/>
                </a:pPr>
                <a:r>
                  <a:rPr b="1" lang="en-US" sz="1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20일부터 말일</a:t>
                </a:r>
                <a:endParaRPr b="1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Noto Sans Symbols"/>
                  <a:buChar char="✔"/>
                </a:pPr>
                <a:r>
                  <a:rPr b="1"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라벨(대여량 데이터) 없음.</a:t>
                </a:r>
                <a:endParaRPr b="1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1616379" y="2123420"/>
              <a:ext cx="5860684" cy="2015561"/>
              <a:chOff x="1665233" y="2286527"/>
              <a:chExt cx="5860684" cy="2015561"/>
            </a:xfrm>
          </p:grpSpPr>
          <p:pic>
            <p:nvPicPr>
              <p:cNvPr id="283" name="Google Shape;283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665233" y="2286527"/>
                <a:ext cx="591363" cy="5974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665233" y="2980829"/>
                <a:ext cx="591363" cy="5974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" name="Google Shape;285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65233" y="3704628"/>
                <a:ext cx="591363" cy="59746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86" name="Google Shape;286;p8"/>
              <p:cNvGrpSpPr/>
              <p:nvPr/>
            </p:nvGrpSpPr>
            <p:grpSpPr>
              <a:xfrm>
                <a:off x="2341484" y="2348592"/>
                <a:ext cx="5184433" cy="1846153"/>
                <a:chOff x="2374882" y="2556323"/>
                <a:chExt cx="5184433" cy="1846153"/>
              </a:xfrm>
            </p:grpSpPr>
            <p:sp>
              <p:nvSpPr>
                <p:cNvPr id="287" name="Google Shape;287;p8"/>
                <p:cNvSpPr/>
                <p:nvPr/>
              </p:nvSpPr>
              <p:spPr>
                <a:xfrm>
                  <a:off x="2374882" y="2556323"/>
                  <a:ext cx="4953600" cy="454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매월 1일 ~19일의 회원/비회원 자전거 대여량</a:t>
                  </a:r>
                  <a:endParaRPr b="1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>
                  <a:off x="2374882" y="3230254"/>
                  <a:ext cx="3651962" cy="454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날짜(시간 및 휴일, 평일, 계절 등)</a:t>
                  </a:r>
                  <a:endParaRPr/>
                </a:p>
              </p:txBody>
            </p:sp>
            <p:sp>
              <p:nvSpPr>
                <p:cNvPr id="289" name="Google Shape;289;p8"/>
                <p:cNvSpPr/>
                <p:nvPr/>
              </p:nvSpPr>
              <p:spPr>
                <a:xfrm>
                  <a:off x="2374882" y="3948184"/>
                  <a:ext cx="5184433" cy="454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기상정보(눈,비,온도,상대습도,풍속,폭설,폭우 등)</a:t>
                  </a:r>
                  <a:endParaRPr/>
                </a:p>
              </p:txBody>
            </p:sp>
          </p:grpSp>
        </p:grpSp>
      </p:grpSp>
      <p:sp>
        <p:nvSpPr>
          <p:cNvPr id="290" name="Google Shape;290;p8"/>
          <p:cNvSpPr txBox="1"/>
          <p:nvPr/>
        </p:nvSpPr>
        <p:spPr>
          <a:xfrm>
            <a:off x="4087234" y="53320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데이터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6" name="Google Shape;296;p9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297" name="Google Shape;297;p9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Kaggle 데이터 </a:t>
              </a:r>
              <a:endParaRPr/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99" name="Google Shape;299;p9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9"/>
          <p:cNvSpPr txBox="1"/>
          <p:nvPr/>
        </p:nvSpPr>
        <p:spPr>
          <a:xfrm>
            <a:off x="4087234" y="533209"/>
            <a:ext cx="15969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데이터 사전</a:t>
            </a:r>
            <a:endParaRPr/>
          </a:p>
        </p:txBody>
      </p:sp>
      <p:grpSp>
        <p:nvGrpSpPr>
          <p:cNvPr id="301" name="Google Shape;301;p9"/>
          <p:cNvGrpSpPr/>
          <p:nvPr/>
        </p:nvGrpSpPr>
        <p:grpSpPr>
          <a:xfrm>
            <a:off x="319646" y="1551249"/>
            <a:ext cx="11641296" cy="4112121"/>
            <a:chOff x="319646" y="1551249"/>
            <a:chExt cx="11641296" cy="4112121"/>
          </a:xfrm>
        </p:grpSpPr>
        <p:sp>
          <p:nvSpPr>
            <p:cNvPr id="302" name="Google Shape;302;p9"/>
            <p:cNvSpPr/>
            <p:nvPr/>
          </p:nvSpPr>
          <p:spPr>
            <a:xfrm>
              <a:off x="573805" y="2032711"/>
              <a:ext cx="6289491" cy="305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datetime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- hourly date + timestamp (날짜와 시간)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season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- 1 = spring, 2 = summer, 3 = fall, 4 = winter (계절)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holiday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- whether the day is considered a holiday (휴일)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workingday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- whether the day is neither a weekend nor holiday (평일)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weather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  <a:p>
              <a:pPr indent="-342900" lvl="1" marL="8001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Clear, Few clouds, Partly cloudy, Partly cloudy (맑은 날씨)</a:t>
              </a:r>
              <a:endParaRPr/>
            </a:p>
            <a:p>
              <a:pPr indent="-342900" lvl="1" marL="8001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Mist + Cloudy, Mist + Broken clouds, Mist + Few clouds, Mist (안개)</a:t>
              </a:r>
              <a:endParaRPr/>
            </a:p>
            <a:p>
              <a:pPr indent="-342900" lvl="1" marL="8001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Light Snow, Light Rain + Thunderstorm + Scattered clouds, Light Rain + Scattered clouds (가벼운 눈, 비)</a:t>
              </a:r>
              <a:endParaRPr/>
            </a:p>
            <a:p>
              <a:pPr indent="-342900" lvl="1" marL="8001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Heavy Rain + Ice Pallets + Thunderstorm + Mist, Snow + Fog (폭설, 폭우)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7117454" y="2032711"/>
              <a:ext cx="4468579" cy="29656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temp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temperature in Celsius (온도)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atemp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“feels like” temperature in Celsius (체감 온도)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humidity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relative humidity (상대 습도)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windspeed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wind speed (풍속)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casual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number of non-registered user rentals initiated (비회원 대여량)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registered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number of registered user rentals initiated (회원 대여량)</a:t>
              </a:r>
              <a:endParaRPr/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1"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count</a:t>
              </a:r>
              <a:r>
                <a:rPr lang="en-US" sz="1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 - number of total rentals (총 대여량)</a:t>
              </a:r>
              <a:endParaRPr b="0" i="0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319646" y="1551249"/>
              <a:ext cx="11641296" cy="4112121"/>
            </a:xfrm>
            <a:prstGeom prst="rect">
              <a:avLst/>
            </a:prstGeom>
            <a:noFill/>
            <a:ln cap="flat" cmpd="sng" w="25400">
              <a:solidFill>
                <a:srgbClr val="1F709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0" name="Google Shape;310;p10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311" name="Google Shape;311;p10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312" name="Google Shape;312;p10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13" name="Google Shape;313;p10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10"/>
          <p:cNvSpPr txBox="1"/>
          <p:nvPr/>
        </p:nvSpPr>
        <p:spPr>
          <a:xfrm>
            <a:off x="4087234" y="533209"/>
            <a:ext cx="822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준비</a:t>
            </a:r>
            <a:endParaRPr/>
          </a:p>
        </p:txBody>
      </p:sp>
      <p:grpSp>
        <p:nvGrpSpPr>
          <p:cNvPr id="315" name="Google Shape;315;p10"/>
          <p:cNvGrpSpPr/>
          <p:nvPr/>
        </p:nvGrpSpPr>
        <p:grpSpPr>
          <a:xfrm>
            <a:off x="1128672" y="556423"/>
            <a:ext cx="10389593" cy="5707793"/>
            <a:chOff x="1128672" y="556423"/>
            <a:chExt cx="10389593" cy="5707793"/>
          </a:xfrm>
        </p:grpSpPr>
        <p:grpSp>
          <p:nvGrpSpPr>
            <p:cNvPr id="316" name="Google Shape;316;p10"/>
            <p:cNvGrpSpPr/>
            <p:nvPr/>
          </p:nvGrpSpPr>
          <p:grpSpPr>
            <a:xfrm>
              <a:off x="1128672" y="556423"/>
              <a:ext cx="10389593" cy="5707793"/>
              <a:chOff x="608188" y="409334"/>
              <a:chExt cx="10389593" cy="5707793"/>
            </a:xfrm>
          </p:grpSpPr>
          <p:pic>
            <p:nvPicPr>
              <p:cNvPr id="317" name="Google Shape;31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49432" y="1861750"/>
                <a:ext cx="9748349" cy="4255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" name="Google Shape;318;p10"/>
              <p:cNvSpPr/>
              <p:nvPr/>
            </p:nvSpPr>
            <p:spPr>
              <a:xfrm rot="-835058">
                <a:off x="913676" y="1306836"/>
                <a:ext cx="7890387" cy="3503223"/>
              </a:xfrm>
              <a:prstGeom prst="arc">
                <a:avLst>
                  <a:gd fmla="val 11328211" name="adj1"/>
                  <a:gd fmla="val 20974630" name="adj2"/>
                </a:avLst>
              </a:prstGeom>
              <a:noFill/>
              <a:ln cap="flat" cmpd="sng" w="28575">
                <a:solidFill>
                  <a:srgbClr val="D8D8D8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9" name="Google Shape;319;p10"/>
              <p:cNvSpPr txBox="1"/>
              <p:nvPr/>
            </p:nvSpPr>
            <p:spPr>
              <a:xfrm>
                <a:off x="3149813" y="1225905"/>
                <a:ext cx="395316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이용 라이브러리</a:t>
                </a:r>
                <a:endParaRPr/>
              </a:p>
            </p:txBody>
          </p:sp>
        </p:grpSp>
        <p:grpSp>
          <p:nvGrpSpPr>
            <p:cNvPr id="320" name="Google Shape;320;p10"/>
            <p:cNvGrpSpPr/>
            <p:nvPr/>
          </p:nvGrpSpPr>
          <p:grpSpPr>
            <a:xfrm>
              <a:off x="8973907" y="2107502"/>
              <a:ext cx="2483431" cy="1530793"/>
              <a:chOff x="4965552" y="1762052"/>
              <a:chExt cx="1374974" cy="1530793"/>
            </a:xfrm>
          </p:grpSpPr>
          <p:sp>
            <p:nvSpPr>
              <p:cNvPr id="321" name="Google Shape;321;p10"/>
              <p:cNvSpPr txBox="1"/>
              <p:nvPr/>
            </p:nvSpPr>
            <p:spPr>
              <a:xfrm>
                <a:off x="4965552" y="2123294"/>
                <a:ext cx="1374974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처리와 분석을 위한 라이브러리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행과 열로 이루어진 데이터 객체를 만들어 다룰 수 있음. 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2" name="Google Shape;322;p10"/>
              <p:cNvSpPr txBox="1"/>
              <p:nvPr/>
            </p:nvSpPr>
            <p:spPr>
              <a:xfrm>
                <a:off x="4965552" y="1762052"/>
                <a:ext cx="13749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Pandas</a:t>
                </a:r>
                <a:endParaRPr b="1" sz="16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23" name="Google Shape;323;p10"/>
            <p:cNvGrpSpPr/>
            <p:nvPr/>
          </p:nvGrpSpPr>
          <p:grpSpPr>
            <a:xfrm>
              <a:off x="1953193" y="4087300"/>
              <a:ext cx="2448232" cy="1567070"/>
              <a:chOff x="4965552" y="1736224"/>
              <a:chExt cx="1138693" cy="1567070"/>
            </a:xfrm>
          </p:grpSpPr>
          <p:sp>
            <p:nvSpPr>
              <p:cNvPr id="324" name="Google Shape;324;p10"/>
              <p:cNvSpPr txBox="1"/>
              <p:nvPr/>
            </p:nvSpPr>
            <p:spPr>
              <a:xfrm>
                <a:off x="4979503" y="2133743"/>
                <a:ext cx="992547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시각화에 필수적인 라이브러리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다양한 색상 테마와 통계용 차트 등의 기능이 있음.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5" name="Google Shape;325;p10"/>
              <p:cNvSpPr txBox="1"/>
              <p:nvPr/>
            </p:nvSpPr>
            <p:spPr>
              <a:xfrm>
                <a:off x="4965552" y="1736224"/>
                <a:ext cx="113869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Matplotlib, seaborn</a:t>
                </a:r>
                <a:endParaRPr b="1" sz="16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26" name="Google Shape;326;p10"/>
            <p:cNvGrpSpPr/>
            <p:nvPr/>
          </p:nvGrpSpPr>
          <p:grpSpPr>
            <a:xfrm>
              <a:off x="6593340" y="2868854"/>
              <a:ext cx="2166913" cy="1319970"/>
              <a:chOff x="4965552" y="1736224"/>
              <a:chExt cx="1374974" cy="1319970"/>
            </a:xfrm>
          </p:grpSpPr>
          <p:sp>
            <p:nvSpPr>
              <p:cNvPr id="327" name="Google Shape;327;p10"/>
              <p:cNvSpPr txBox="1"/>
              <p:nvPr/>
            </p:nvSpPr>
            <p:spPr>
              <a:xfrm>
                <a:off x="4965552" y="2102087"/>
                <a:ext cx="1374974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python을 대표하는 머신러닝 라이브러리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여러가지 머신러닝 모듈로 구성됨.</a:t>
                </a:r>
                <a:endParaRPr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8" name="Google Shape;328;p10"/>
              <p:cNvSpPr txBox="1"/>
              <p:nvPr/>
            </p:nvSpPr>
            <p:spPr>
              <a:xfrm>
                <a:off x="4965552" y="1736224"/>
                <a:ext cx="13749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sklearn</a:t>
                </a:r>
                <a:endParaRPr b="1" sz="16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29" name="Google Shape;329;p10"/>
            <p:cNvGrpSpPr/>
            <p:nvPr/>
          </p:nvGrpSpPr>
          <p:grpSpPr>
            <a:xfrm>
              <a:off x="4212773" y="3513011"/>
              <a:ext cx="2166913" cy="1351626"/>
              <a:chOff x="4965552" y="1736224"/>
              <a:chExt cx="1374974" cy="1351626"/>
            </a:xfrm>
          </p:grpSpPr>
          <p:sp>
            <p:nvSpPr>
              <p:cNvPr id="330" name="Google Shape;330;p10"/>
              <p:cNvSpPr txBox="1"/>
              <p:nvPr/>
            </p:nvSpPr>
            <p:spPr>
              <a:xfrm>
                <a:off x="4965552" y="2133743"/>
                <a:ext cx="1374974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285750" lvl="0" marL="2857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Char char="•"/>
                </a:pPr>
                <a:r>
                  <a:rPr lang="en-US" sz="14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파이썬을 기반으로 하여 과학, 분석, 그리고 엔지니어링을 위한 라이브러리</a:t>
                </a:r>
                <a:endParaRPr/>
              </a:p>
            </p:txBody>
          </p:sp>
          <p:sp>
            <p:nvSpPr>
              <p:cNvPr id="331" name="Google Shape;331;p10"/>
              <p:cNvSpPr txBox="1"/>
              <p:nvPr/>
            </p:nvSpPr>
            <p:spPr>
              <a:xfrm>
                <a:off x="4965552" y="1736224"/>
                <a:ext cx="13749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scipy</a:t>
                </a:r>
                <a:endParaRPr b="1" sz="16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38" name="Google Shape;338;p11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339" name="Google Shape;339;p11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340" name="Google Shape;340;p11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41" name="Google Shape;341;p11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2" name="Google Shape;342;p11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343" name="Google Shape;343;p11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344" name="Google Shape;344;p11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 데이터, Test 데이터 컬럼 수 확인하면서 테스트 데이터 없는 것 확인.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&gt; 자전거 대여량 관련된 컬럼이 없음.</a:t>
              </a:r>
              <a:endParaRPr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컬럼명, 데이터 개수 확인.</a:t>
              </a:r>
              <a:endParaRPr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캐글데이터 다운받고, 확인하기</a:t>
              </a:r>
              <a:endParaRPr/>
            </a:p>
          </p:txBody>
        </p:sp>
      </p:grpSp>
      <p:sp>
        <p:nvSpPr>
          <p:cNvPr id="346" name="Google Shape;346;p11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48" name="Google Shape;348;p11"/>
          <p:cNvGrpSpPr/>
          <p:nvPr/>
        </p:nvGrpSpPr>
        <p:grpSpPr>
          <a:xfrm>
            <a:off x="2120334" y="1252825"/>
            <a:ext cx="8868440" cy="1461149"/>
            <a:chOff x="1394689" y="1265073"/>
            <a:chExt cx="8868440" cy="1461149"/>
          </a:xfrm>
        </p:grpSpPr>
        <p:pic>
          <p:nvPicPr>
            <p:cNvPr id="349" name="Google Shape;34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94689" y="1379037"/>
              <a:ext cx="5602862" cy="134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1"/>
            <p:cNvSpPr/>
            <p:nvPr/>
          </p:nvSpPr>
          <p:spPr>
            <a:xfrm>
              <a:off x="7463965" y="1265073"/>
              <a:ext cx="2799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테이블 형태, 데이터 개수</a:t>
              </a: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7463965" y="1716888"/>
              <a:ext cx="20833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   (10886, 12)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7463965" y="2199053"/>
              <a:ext cx="18196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Test    (6493, 9)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3" name="Google Shape;353;p11"/>
          <p:cNvGrpSpPr/>
          <p:nvPr/>
        </p:nvGrpSpPr>
        <p:grpSpPr>
          <a:xfrm>
            <a:off x="1394689" y="3093947"/>
            <a:ext cx="10217994" cy="1343381"/>
            <a:chOff x="936436" y="3080791"/>
            <a:chExt cx="10217994" cy="1343381"/>
          </a:xfrm>
        </p:grpSpPr>
        <p:grpSp>
          <p:nvGrpSpPr>
            <p:cNvPr id="354" name="Google Shape;354;p11"/>
            <p:cNvGrpSpPr/>
            <p:nvPr/>
          </p:nvGrpSpPr>
          <p:grpSpPr>
            <a:xfrm>
              <a:off x="1615501" y="3333027"/>
              <a:ext cx="1298644" cy="782279"/>
              <a:chOff x="221226" y="1432636"/>
              <a:chExt cx="1298644" cy="914400"/>
            </a:xfrm>
          </p:grpSpPr>
          <p:sp>
            <p:nvSpPr>
              <p:cNvPr id="355" name="Google Shape;355;p11"/>
              <p:cNvSpPr/>
              <p:nvPr/>
            </p:nvSpPr>
            <p:spPr>
              <a:xfrm>
                <a:off x="221226" y="1520836"/>
                <a:ext cx="1028206" cy="749312"/>
              </a:xfrm>
              <a:prstGeom prst="rect">
                <a:avLst/>
              </a:prstGeom>
              <a:noFill/>
              <a:ln cap="flat" cmpd="sng" w="38100">
                <a:solidFill>
                  <a:srgbClr val="1F709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605470" y="1432636"/>
                <a:ext cx="914400" cy="9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57" name="Google Shape;357;p11"/>
            <p:cNvGrpSpPr/>
            <p:nvPr/>
          </p:nvGrpSpPr>
          <p:grpSpPr>
            <a:xfrm>
              <a:off x="2013698" y="3080791"/>
              <a:ext cx="9140732" cy="1343381"/>
              <a:chOff x="1848042" y="2808972"/>
              <a:chExt cx="9140732" cy="1343381"/>
            </a:xfrm>
          </p:grpSpPr>
          <p:sp>
            <p:nvSpPr>
              <p:cNvPr id="358" name="Google Shape;358;p11"/>
              <p:cNvSpPr/>
              <p:nvPr/>
            </p:nvSpPr>
            <p:spPr>
              <a:xfrm>
                <a:off x="2714928" y="2808972"/>
                <a:ext cx="8273846" cy="1343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21212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(Index(['datetime', 'season', 'holiday', 'workingday', 'weather', 'temp', 'atemp', 'humidity', 'windspeed', </a:t>
                </a:r>
                <a:r>
                  <a:rPr b="1" lang="en-US" sz="1400">
                    <a:solidFill>
                      <a:srgbClr val="21212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'casual', 'registered', 'count'</a:t>
                </a:r>
                <a:r>
                  <a:rPr lang="en-US" sz="1400">
                    <a:solidFill>
                      <a:srgbClr val="21212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], dtype='object’)</a:t>
                </a:r>
                <a:endParaRPr/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21212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Index(['datetime', 'season', 'holiday', 'workingday', 'weather', 'temp', 'atemp', 'humidity', 'windspeed'], dtype='object'))</a:t>
                </a:r>
                <a:endParaRPr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1848042" y="2962954"/>
                <a:ext cx="7218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Train</a:t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1899556" y="3568957"/>
                <a:ext cx="61875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Test</a:t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61" name="Google Shape;361;p11"/>
            <p:cNvSpPr/>
            <p:nvPr/>
          </p:nvSpPr>
          <p:spPr>
            <a:xfrm>
              <a:off x="936436" y="3422386"/>
              <a:ext cx="64633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컬럼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확인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5618" y="902541"/>
            <a:ext cx="3555937" cy="379596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69" name="Google Shape;369;p12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370" name="Google Shape;370;p12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371" name="Google Shape;371;p12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72" name="Google Shape;372;p12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2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76" name="Google Shape;376;p12"/>
          <p:cNvPicPr preferRelativeResize="0"/>
          <p:nvPr/>
        </p:nvPicPr>
        <p:blipFill rotWithShape="1">
          <a:blip r:embed="rId4">
            <a:alphaModFix/>
          </a:blip>
          <a:srcRect b="0" l="0" r="1890" t="0"/>
          <a:stretch/>
        </p:blipFill>
        <p:spPr>
          <a:xfrm>
            <a:off x="598902" y="1782288"/>
            <a:ext cx="7049805" cy="19943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2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378" name="Google Shape;378;p12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Count 가 예측하기 위한 데이터. 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windspeed 에서 ‘0’ 인 데이터가 많이 보임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결측값은 없어 보임.</a:t>
              </a:r>
              <a:endParaRPr/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상위 데이터 다섯 개와 테이블 정보 살펴보기.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80" name="Google Shape;380;p12"/>
          <p:cNvSpPr/>
          <p:nvPr/>
        </p:nvSpPr>
        <p:spPr>
          <a:xfrm>
            <a:off x="3332662" y="3812334"/>
            <a:ext cx="18598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상위 5개</a:t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9182063" y="2110523"/>
            <a:ext cx="1017639" cy="2126385"/>
          </a:xfrm>
          <a:prstGeom prst="rect">
            <a:avLst/>
          </a:prstGeom>
          <a:noFill/>
          <a:ln cap="flat" cmpd="sng" w="28575">
            <a:solidFill>
              <a:srgbClr val="0587A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2" name="Google Shape;382;p12"/>
          <p:cNvGrpSpPr/>
          <p:nvPr/>
        </p:nvGrpSpPr>
        <p:grpSpPr>
          <a:xfrm>
            <a:off x="5170180" y="4129549"/>
            <a:ext cx="4121718" cy="2374490"/>
            <a:chOff x="4993202" y="4129549"/>
            <a:chExt cx="4121718" cy="2126384"/>
          </a:xfrm>
        </p:grpSpPr>
        <p:cxnSp>
          <p:nvCxnSpPr>
            <p:cNvPr id="383" name="Google Shape;383;p12"/>
            <p:cNvCxnSpPr/>
            <p:nvPr/>
          </p:nvCxnSpPr>
          <p:spPr>
            <a:xfrm flipH="1" rot="10800000">
              <a:off x="6910320" y="4129549"/>
              <a:ext cx="2204600" cy="2126384"/>
            </a:xfrm>
            <a:prstGeom prst="straightConnector1">
              <a:avLst/>
            </a:prstGeom>
            <a:noFill/>
            <a:ln cap="flat" cmpd="sng" w="19050">
              <a:solidFill>
                <a:srgbClr val="1F7097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84" name="Google Shape;384;p12"/>
            <p:cNvCxnSpPr/>
            <p:nvPr/>
          </p:nvCxnSpPr>
          <p:spPr>
            <a:xfrm>
              <a:off x="4993202" y="6255933"/>
              <a:ext cx="1917290" cy="0"/>
            </a:xfrm>
            <a:prstGeom prst="straightConnector1">
              <a:avLst/>
            </a:prstGeom>
            <a:noFill/>
            <a:ln cap="flat" cmpd="sng" w="19050">
              <a:solidFill>
                <a:srgbClr val="1F7097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91" name="Google Shape;391;p13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392" name="Google Shape;392;p13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393" name="Google Shape;393;p13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94" name="Google Shape;394;p13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" name="Google Shape;395;p13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396" name="Google Shape;396;p13"/>
          <p:cNvGrpSpPr/>
          <p:nvPr/>
        </p:nvGrpSpPr>
        <p:grpSpPr>
          <a:xfrm>
            <a:off x="1717854" y="4941144"/>
            <a:ext cx="9453635" cy="1709307"/>
            <a:chOff x="2551705" y="4251589"/>
            <a:chExt cx="2357002" cy="1709307"/>
          </a:xfrm>
        </p:grpSpPr>
        <p:sp>
          <p:nvSpPr>
            <p:cNvPr id="397" name="Google Shape;397;p13"/>
            <p:cNvSpPr txBox="1"/>
            <p:nvPr/>
          </p:nvSpPr>
          <p:spPr>
            <a:xfrm>
              <a:off x="2551705" y="4615976"/>
              <a:ext cx="2357002" cy="13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평균값(평균기온) 20.23도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humidity 도 많지는 않지만 0과 100에 데이터가 있음.</a:t>
              </a:r>
              <a:endParaRPr/>
            </a:p>
            <a:p>
              <a:pPr indent="-342900" lvl="0" marL="34290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windspeed 에는 이상하게 0에 많은 데이터가 몰려 있음.</a:t>
              </a:r>
              <a:endParaRPr/>
            </a:p>
            <a:p>
              <a:pPr indent="-342900" lvl="0" marL="34290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temp 와 atemp는 count 과의 관계가 유사해 보임.</a:t>
              </a:r>
              <a:endParaRPr/>
            </a:p>
          </p:txBody>
        </p:sp>
        <p:sp>
          <p:nvSpPr>
            <p:cNvPr id="398" name="Google Shape;398;p13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기온정보 자세히 보고 기상정보 시각화 해보기.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99" name="Google Shape;399;p13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1" name="Google Shape;4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6289" y="1965241"/>
            <a:ext cx="3229711" cy="2334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8943" y="1080960"/>
            <a:ext cx="3916655" cy="337454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3696698" y="1671985"/>
            <a:ext cx="15688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 : 기온 컬럼</a:t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7805301" y="733904"/>
            <a:ext cx="15039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기상정보 산점도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11" name="Google Shape;411;p14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412" name="Google Shape;412;p14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413" name="Google Shape;413;p14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14" name="Google Shape;414;p14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p14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416" name="Google Shape;416;p14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417" name="Google Shape;417;p14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연도별 대여량은 2011년 보다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2012년이 더 많음.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월별 대여량은 6월에 가장 많고 7~10월도 많음. 그리고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1월에 가장 적음.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일별대여량은 1일부터 19일 까지만 있고 나머지 날짜는 test.csv에 있음. </a:t>
              </a:r>
              <a:endParaRPr/>
            </a:p>
          </p:txBody>
        </p:sp>
        <p:sp>
          <p:nvSpPr>
            <p:cNvPr id="418" name="Google Shape;418;p14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날짜별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19" name="Google Shape;419;p14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3">
            <a:alphaModFix/>
          </a:blip>
          <a:srcRect b="51221" l="0" r="0" t="0"/>
          <a:stretch/>
        </p:blipFill>
        <p:spPr>
          <a:xfrm>
            <a:off x="709950" y="1652624"/>
            <a:ext cx="10772100" cy="247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8" name="Google Shape;428;p15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429" name="Google Shape;429;p15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430" name="Google Shape;430;p15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31" name="Google Shape;431;p15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2" name="Google Shape;432;p15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433" name="Google Shape;433;p15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434" name="Google Shape;434;p15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시간 대 대여량을 보면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출퇴근 시간에 대여량이 많음</a:t>
              </a: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. 하지만 주말과 나누어 볼 필요가 있을 것 같음.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분, 초도 다 0이기 때문에 의미가 없음.</a:t>
              </a:r>
              <a:endParaRPr/>
            </a:p>
          </p:txBody>
        </p:sp>
        <p:sp>
          <p:nvSpPr>
            <p:cNvPr id="435" name="Google Shape;435;p15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시간별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36" name="Google Shape;436;p15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8" name="Google Shape;438;p15"/>
          <p:cNvPicPr preferRelativeResize="0"/>
          <p:nvPr/>
        </p:nvPicPr>
        <p:blipFill rotWithShape="1">
          <a:blip r:embed="rId3">
            <a:alphaModFix/>
          </a:blip>
          <a:srcRect b="0" l="0" r="0" t="47668"/>
          <a:stretch/>
        </p:blipFill>
        <p:spPr>
          <a:xfrm>
            <a:off x="760445" y="1660094"/>
            <a:ext cx="10772100" cy="2650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45" name="Google Shape;445;p16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446" name="Google Shape;446;p16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447" name="Google Shape;447;p16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48" name="Google Shape;448;p16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9" name="Google Shape;449;p16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450" name="Google Shape;450;p16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451" name="Google Shape;451;p16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season 과 weather 모두 자전거 대여량에 유의미한 영향을 주는 것 같음.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심한 눈비가 오는 날씨에는 대여량이 거의 없는 것이 확인됨.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이상값이 다수 존재하는 것이 보임. 너무 벗어난 값에 대한 처리 필요.</a:t>
              </a:r>
              <a:endParaRPr/>
            </a:p>
          </p:txBody>
        </p:sp>
        <p:sp>
          <p:nvSpPr>
            <p:cNvPr id="452" name="Google Shape;452;p16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계절별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53" name="Google Shape;453;p16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812" y="1432829"/>
            <a:ext cx="6568376" cy="312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2" name="Google Shape;462;p17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463" name="Google Shape;463;p17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464" name="Google Shape;464;p17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65" name="Google Shape;465;p17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17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467" name="Google Shape;467;p17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468" name="Google Shape;468;p17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출퇴근 시간으로 예상되는 8시, 17시, 18시에 대여량이 가장 높음.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봄(Spring)의 대여량이 다른 계절에 비해 상대적으로 낮게 나옴.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봄보다 겨울 대여량이 많은 것이 신기해 계절을 어떻게 나눴는지 확인.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9" name="Google Shape;469;p17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계절에 따른 시간별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70" name="Google Shape;470;p17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72" name="Google Shape;4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977" y="1197858"/>
            <a:ext cx="8114046" cy="3392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79" name="Google Shape;479;p18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480" name="Google Shape;480;p18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481" name="Google Shape;481;p18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82" name="Google Shape;482;p18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18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484" name="Google Shape;484;p18"/>
          <p:cNvGrpSpPr/>
          <p:nvPr/>
        </p:nvGrpSpPr>
        <p:grpSpPr>
          <a:xfrm>
            <a:off x="1717854" y="4941144"/>
            <a:ext cx="9373273" cy="1305576"/>
            <a:chOff x="2551705" y="4251589"/>
            <a:chExt cx="2336966" cy="1305576"/>
          </a:xfrm>
        </p:grpSpPr>
        <p:sp>
          <p:nvSpPr>
            <p:cNvPr id="485" name="Google Shape;485;p18"/>
            <p:cNvSpPr txBox="1"/>
            <p:nvPr/>
          </p:nvSpPr>
          <p:spPr>
            <a:xfrm>
              <a:off x="2551705" y="4687375"/>
              <a:ext cx="1091569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1, 2, 3월 봄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4, 5, 6월 여름</a:t>
              </a:r>
              <a:endParaRPr/>
            </a:p>
          </p:txBody>
        </p:sp>
        <p:sp>
          <p:nvSpPr>
            <p:cNvPr id="486" name="Google Shape;486;p18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봄보다 겨울 대여량이 많은 것이 신기하여 계절을 어떻게 나눴는지 확인.</a:t>
              </a:r>
              <a:endParaRPr/>
            </a:p>
          </p:txBody>
        </p:sp>
      </p:grpSp>
      <p:sp>
        <p:nvSpPr>
          <p:cNvPr id="487" name="Google Shape;487;p18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4554461" y="5393052"/>
            <a:ext cx="4378144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7, 8, 9월 가을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10, 11, 12월 겨울</a:t>
            </a:r>
            <a:endParaRPr/>
          </a:p>
        </p:txBody>
      </p:sp>
      <p:pic>
        <p:nvPicPr>
          <p:cNvPr id="490" name="Google Shape;4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445" y="1800676"/>
            <a:ext cx="5948087" cy="212638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8"/>
          <p:cNvSpPr/>
          <p:nvPr/>
        </p:nvSpPr>
        <p:spPr>
          <a:xfrm>
            <a:off x="7457711" y="4116395"/>
            <a:ext cx="37882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D686F"/>
                </a:solidFill>
                <a:latin typeface="Merriweather"/>
                <a:ea typeface="Merriweather"/>
                <a:cs typeface="Merriweather"/>
                <a:sym typeface="Merriweather"/>
              </a:rPr>
              <a:t>+) 워싱턴DC 지역이라고 나와있어서 월별 온도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92" name="Google Shape;4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0261" y="932352"/>
            <a:ext cx="4323118" cy="313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99" name="Google Shape;499;p19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00" name="Google Shape;500;p19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01" name="Google Shape;501;p19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02" name="Google Shape;502;p19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3" name="Google Shape;503;p19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04" name="Google Shape;504;p19"/>
          <p:cNvGrpSpPr/>
          <p:nvPr/>
        </p:nvGrpSpPr>
        <p:grpSpPr>
          <a:xfrm>
            <a:off x="1717854" y="4941144"/>
            <a:ext cx="9453635" cy="1305576"/>
            <a:chOff x="2551705" y="4251589"/>
            <a:chExt cx="2357002" cy="1305576"/>
          </a:xfrm>
        </p:grpSpPr>
        <p:sp>
          <p:nvSpPr>
            <p:cNvPr id="505" name="Google Shape;505;p19"/>
            <p:cNvSpPr txBox="1"/>
            <p:nvPr/>
          </p:nvSpPr>
          <p:spPr>
            <a:xfrm>
              <a:off x="2551705" y="4687375"/>
              <a:ext cx="2357002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출퇴근 시간이라고 예상되는 8시, 17시, 18시가 가장 대여량이 많음.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폭우와 폭설이 내리는 날씨(heavy)는 대여량이 거의 없는 것을 볼 수 있음.</a:t>
              </a:r>
              <a:endParaRPr/>
            </a:p>
          </p:txBody>
        </p:sp>
        <p:sp>
          <p:nvSpPr>
            <p:cNvPr id="506" name="Google Shape;506;p19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날씨에 따른 시간별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07" name="Google Shape;507;p19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09" name="Google Shape;5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47" y="1280199"/>
            <a:ext cx="7801599" cy="326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6" name="Google Shape;516;p20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17" name="Google Shape;517;p20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18" name="Google Shape;518;p20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19" name="Google Shape;519;p20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0" name="Google Shape;520;p20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21" name="Google Shape;521;p20"/>
          <p:cNvGrpSpPr/>
          <p:nvPr/>
        </p:nvGrpSpPr>
        <p:grpSpPr>
          <a:xfrm>
            <a:off x="1717854" y="4941144"/>
            <a:ext cx="9453635" cy="1305576"/>
            <a:chOff x="2551705" y="4251589"/>
            <a:chExt cx="2357002" cy="1305576"/>
          </a:xfrm>
        </p:grpSpPr>
        <p:sp>
          <p:nvSpPr>
            <p:cNvPr id="522" name="Google Shape;522;p20"/>
            <p:cNvSpPr txBox="1"/>
            <p:nvPr/>
          </p:nvSpPr>
          <p:spPr>
            <a:xfrm>
              <a:off x="2551705" y="4687375"/>
              <a:ext cx="2357002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앞서 살펴본 boxplot 에서는 주말과 평일의 총 대여량 차이를 알 수 없었지만 시간별 대여량을 보니 주말과 평일의 차이가 확연하게 보임.</a:t>
              </a:r>
              <a:endParaRPr/>
            </a:p>
          </p:txBody>
        </p:sp>
        <p:sp>
          <p:nvSpPr>
            <p:cNvPr id="523" name="Google Shape;523;p20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요일에 따른 시간별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24" name="Google Shape;524;p20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6" name="Google Shape;5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4147" y="1281773"/>
            <a:ext cx="7863706" cy="323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33" name="Google Shape;533;p21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34" name="Google Shape;534;p21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35" name="Google Shape;535;p21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36" name="Google Shape;536;p21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7" name="Google Shape;537;p21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38" name="Google Shape;538;p21"/>
          <p:cNvGrpSpPr/>
          <p:nvPr/>
        </p:nvGrpSpPr>
        <p:grpSpPr>
          <a:xfrm>
            <a:off x="1717854" y="4941144"/>
            <a:ext cx="9453635" cy="1305576"/>
            <a:chOff x="2551705" y="4251589"/>
            <a:chExt cx="2357002" cy="1305576"/>
          </a:xfrm>
        </p:grpSpPr>
        <p:sp>
          <p:nvSpPr>
            <p:cNvPr id="539" name="Google Shape;539;p21"/>
            <p:cNvSpPr txBox="1"/>
            <p:nvPr/>
          </p:nvSpPr>
          <p:spPr>
            <a:xfrm>
              <a:off x="2551705" y="4687375"/>
              <a:ext cx="2357002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요일에 따른 시간별 대여량의 평일(월,화,수,목,금) 과 주말(토,일) 추세와 동일.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이상 없음을 확인. 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0" name="Google Shape;540;p21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평일과 주말 시간에 따른 자전거 대여량 확인하기.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41" name="Google Shape;541;p21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43" name="Google Shape;5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1411" y="1419980"/>
            <a:ext cx="7249178" cy="3004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"/>
          <p:cNvSpPr/>
          <p:nvPr/>
        </p:nvSpPr>
        <p:spPr>
          <a:xfrm>
            <a:off x="0" y="0"/>
            <a:ext cx="5383161" cy="68862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0" name="Google Shape;550;p22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51" name="Google Shape;551;p22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52" name="Google Shape;552;p22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53" name="Google Shape;553;p22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4" name="Google Shape;554;p22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55" name="Google Shape;555;p22"/>
          <p:cNvGrpSpPr/>
          <p:nvPr/>
        </p:nvGrpSpPr>
        <p:grpSpPr>
          <a:xfrm>
            <a:off x="740675" y="1734603"/>
            <a:ext cx="4214314" cy="4257305"/>
            <a:chOff x="2586068" y="4255655"/>
            <a:chExt cx="2336966" cy="1379378"/>
          </a:xfrm>
        </p:grpSpPr>
        <p:sp>
          <p:nvSpPr>
            <p:cNvPr id="556" name="Google Shape;556;p22"/>
            <p:cNvSpPr txBox="1"/>
            <p:nvPr/>
          </p:nvSpPr>
          <p:spPr>
            <a:xfrm>
              <a:off x="2586068" y="4410861"/>
              <a:ext cx="2336966" cy="1224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온도, 습도, 풍속은 거의 연관관계가 없음.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대여량과 가장 연관이 높은 건 registered 로 등록 된 대여자가 많지만, test 데이터에는 이 값이 없음.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atemp와 temp는 0.98로 상관관계가 높지만 온도와 체감온도를 둘 다 피처로 사용하기에 적합하지 않음. 둘의 상관관계가 높음.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7" name="Google Shape;557;p22"/>
            <p:cNvSpPr txBox="1"/>
            <p:nvPr/>
          </p:nvSpPr>
          <p:spPr>
            <a:xfrm>
              <a:off x="2586068" y="4255655"/>
              <a:ext cx="2336966" cy="129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상관관계 확인</a:t>
              </a:r>
              <a:endParaRPr/>
            </a:p>
          </p:txBody>
        </p:sp>
      </p:grpSp>
      <p:grpSp>
        <p:nvGrpSpPr>
          <p:cNvPr id="558" name="Google Shape;558;p22"/>
          <p:cNvGrpSpPr/>
          <p:nvPr/>
        </p:nvGrpSpPr>
        <p:grpSpPr>
          <a:xfrm>
            <a:off x="5045877" y="1620480"/>
            <a:ext cx="634244" cy="634244"/>
            <a:chOff x="5098454" y="1435750"/>
            <a:chExt cx="634244" cy="634244"/>
          </a:xfrm>
        </p:grpSpPr>
        <p:sp>
          <p:nvSpPr>
            <p:cNvPr id="559" name="Google Shape;559;p22"/>
            <p:cNvSpPr/>
            <p:nvPr/>
          </p:nvSpPr>
          <p:spPr>
            <a:xfrm>
              <a:off x="5098454" y="1435750"/>
              <a:ext cx="634244" cy="634244"/>
            </a:xfrm>
            <a:prstGeom prst="ellipse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5243711" y="1578534"/>
              <a:ext cx="343730" cy="343730"/>
            </a:xfrm>
            <a:custGeom>
              <a:rect b="b" l="l" r="r" t="t"/>
              <a:pathLst>
                <a:path extrusionOk="0" h="3240000" w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61" name="Google Shape;5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771" y="1311074"/>
            <a:ext cx="5724251" cy="483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3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68" name="Google Shape;568;p23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69" name="Google Shape;569;p23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70" name="Google Shape;570;p23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71" name="Google Shape;571;p23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23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73" name="Google Shape;573;p23"/>
          <p:cNvGrpSpPr/>
          <p:nvPr/>
        </p:nvGrpSpPr>
        <p:grpSpPr>
          <a:xfrm>
            <a:off x="1717854" y="4941144"/>
            <a:ext cx="9453635" cy="1305576"/>
            <a:chOff x="2551705" y="4251589"/>
            <a:chExt cx="2357002" cy="1305576"/>
          </a:xfrm>
        </p:grpSpPr>
        <p:sp>
          <p:nvSpPr>
            <p:cNvPr id="574" name="Google Shape;574;p23"/>
            <p:cNvSpPr txBox="1"/>
            <p:nvPr/>
          </p:nvSpPr>
          <p:spPr>
            <a:xfrm>
              <a:off x="2551705" y="4687375"/>
              <a:ext cx="2357002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둘다 겨울보다는 여름에 대여량이 많음.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2011년과 2012년의 월별 데이터를 이어보면 전체적으로 증가하는 추세임.</a:t>
              </a:r>
              <a:endParaRPr/>
            </a:p>
          </p:txBody>
        </p:sp>
        <p:sp>
          <p:nvSpPr>
            <p:cNvPr id="575" name="Google Shape;575;p23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2011년도와 2012년도 데이터 월별 대여량 비교.</a:t>
              </a:r>
              <a:endParaRPr b="1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76" name="Google Shape;576;p23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78" name="Google Shape;5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368" y="1402010"/>
            <a:ext cx="11299366" cy="2816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4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5" name="Google Shape;585;p24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586" name="Google Shape;586;p24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587" name="Google Shape;587;p24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88" name="Google Shape;588;p24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24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590" name="Google Shape;590;p24"/>
          <p:cNvGrpSpPr/>
          <p:nvPr/>
        </p:nvGrpSpPr>
        <p:grpSpPr>
          <a:xfrm>
            <a:off x="1717854" y="4941144"/>
            <a:ext cx="9373273" cy="1721074"/>
            <a:chOff x="2551705" y="4251589"/>
            <a:chExt cx="2336966" cy="1721074"/>
          </a:xfrm>
        </p:grpSpPr>
        <p:sp>
          <p:nvSpPr>
            <p:cNvPr id="591" name="Google Shape;591;p24"/>
            <p:cNvSpPr txBox="1"/>
            <p:nvPr/>
          </p:nvSpPr>
          <p:spPr>
            <a:xfrm>
              <a:off x="2551705" y="4687375"/>
              <a:ext cx="2270693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종속변수 count 가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오른쪽으로 치우쳐진 것</a:t>
              </a: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확인할 수 있음.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대부분의 기계학습은 종속변수가 normal 이어야 하기 때문에 정규분포를 갖는 것이 바람직함.</a:t>
              </a:r>
              <a:endParaRPr/>
            </a:p>
          </p:txBody>
        </p:sp>
        <p:sp>
          <p:nvSpPr>
            <p:cNvPr id="592" name="Google Shape;592;p24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Count(대여량) 데이터 분포도 파악</a:t>
              </a:r>
              <a:endParaRPr/>
            </a:p>
          </p:txBody>
        </p:sp>
      </p:grpSp>
      <p:sp>
        <p:nvSpPr>
          <p:cNvPr id="593" name="Google Shape;593;p24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5" name="Google Shape;5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5087" y="1365139"/>
            <a:ext cx="698182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4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mo"/>
              <a:buNone/>
            </a:pPr>
            <a:r>
              <a:rPr b="0" i="1" lang="en-US" sz="900" u="none" cap="none" strike="noStrike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count값의 데이터 분포도를 파악</a:t>
            </a: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/>
          <p:nvPr/>
        </p:nvSpPr>
        <p:spPr>
          <a:xfrm>
            <a:off x="1" y="4734237"/>
            <a:ext cx="12191999" cy="21263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3" name="Google Shape;603;p25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04" name="Google Shape;604;p25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05" name="Google Shape;605;p25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06" name="Google Shape;606;p25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7" name="Google Shape;607;p25"/>
          <p:cNvSpPr txBox="1"/>
          <p:nvPr/>
        </p:nvSpPr>
        <p:spPr>
          <a:xfrm>
            <a:off x="4087234" y="533209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(1) 데이터탐색</a:t>
            </a:r>
            <a:endParaRPr/>
          </a:p>
        </p:txBody>
      </p:sp>
      <p:grpSp>
        <p:nvGrpSpPr>
          <p:cNvPr id="608" name="Google Shape;608;p25"/>
          <p:cNvGrpSpPr/>
          <p:nvPr/>
        </p:nvGrpSpPr>
        <p:grpSpPr>
          <a:xfrm>
            <a:off x="1717854" y="4941144"/>
            <a:ext cx="9373273" cy="1305576"/>
            <a:chOff x="2551705" y="4251589"/>
            <a:chExt cx="2336966" cy="1305576"/>
          </a:xfrm>
        </p:grpSpPr>
        <p:sp>
          <p:nvSpPr>
            <p:cNvPr id="609" name="Google Shape;609;p25"/>
            <p:cNvSpPr txBox="1"/>
            <p:nvPr/>
          </p:nvSpPr>
          <p:spPr>
            <a:xfrm>
              <a:off x="2551705" y="4687375"/>
              <a:ext cx="2270693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outlier data를 제거하고 count 변수에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</a:t>
              </a: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씌워 변경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정규분포를 완전히 따르지 않지만 이전 그래프보다는 비교적 괜찮음.</a:t>
              </a:r>
              <a:endParaRPr/>
            </a:p>
          </p:txBody>
        </p:sp>
        <p:sp>
          <p:nvSpPr>
            <p:cNvPr id="610" name="Google Shape;610;p25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Count(대여량) 데이터 정규화</a:t>
              </a:r>
              <a:endParaRPr/>
            </a:p>
          </p:txBody>
        </p:sp>
      </p:grpSp>
      <p:sp>
        <p:nvSpPr>
          <p:cNvPr id="611" name="Google Shape;611;p25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mo"/>
              <a:buNone/>
            </a:pPr>
            <a:r>
              <a:rPr b="0" i="1" lang="en-US" sz="900" u="none" cap="none" strike="noStrike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count값의 데이터 분포도를 파악</a:t>
            </a: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662" y="1345078"/>
            <a:ext cx="69246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6"/>
          <p:cNvSpPr/>
          <p:nvPr/>
        </p:nvSpPr>
        <p:spPr>
          <a:xfrm>
            <a:off x="0" y="0"/>
            <a:ext cx="5383161" cy="68862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1" name="Google Shape;621;p26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22" name="Google Shape;622;p26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23" name="Google Shape;623;p26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24" name="Google Shape;624;p26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25" name="Google Shape;625;p26"/>
          <p:cNvGrpSpPr/>
          <p:nvPr/>
        </p:nvGrpSpPr>
        <p:grpSpPr>
          <a:xfrm>
            <a:off x="740675" y="1734605"/>
            <a:ext cx="4214314" cy="3474528"/>
            <a:chOff x="2586068" y="4255655"/>
            <a:chExt cx="2336966" cy="1125756"/>
          </a:xfrm>
        </p:grpSpPr>
        <p:sp>
          <p:nvSpPr>
            <p:cNvPr id="626" name="Google Shape;626;p26"/>
            <p:cNvSpPr txBox="1"/>
            <p:nvPr/>
          </p:nvSpPr>
          <p:spPr>
            <a:xfrm>
              <a:off x="2586068" y="4548081"/>
              <a:ext cx="2336966" cy="83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month 와 season, temp 와 atemp 의 상관 관계가 매우 높게 나옴.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특히 temp 와 atemp 의 경우에는 거의 같은 Feature 라고 생각됨.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Noto Sans Symbols"/>
                <a:buChar char="✔"/>
              </a:pPr>
              <a:r>
                <a:rPr b="1" lang="en-US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Feature를 선별 필요해 보임.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627;p26"/>
            <p:cNvSpPr txBox="1"/>
            <p:nvPr/>
          </p:nvSpPr>
          <p:spPr>
            <a:xfrm>
              <a:off x="2586068" y="4255655"/>
              <a:ext cx="2336966" cy="22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사용할 수 있을 만한 Feature 들을 추려서 상관관계 재확인.</a:t>
              </a:r>
              <a:endParaRPr/>
            </a:p>
          </p:txBody>
        </p:sp>
      </p:grpSp>
      <p:grpSp>
        <p:nvGrpSpPr>
          <p:cNvPr id="628" name="Google Shape;628;p26"/>
          <p:cNvGrpSpPr/>
          <p:nvPr/>
        </p:nvGrpSpPr>
        <p:grpSpPr>
          <a:xfrm>
            <a:off x="5045877" y="1620480"/>
            <a:ext cx="634244" cy="634244"/>
            <a:chOff x="5098454" y="1435750"/>
            <a:chExt cx="634244" cy="634244"/>
          </a:xfrm>
        </p:grpSpPr>
        <p:sp>
          <p:nvSpPr>
            <p:cNvPr id="629" name="Google Shape;629;p26"/>
            <p:cNvSpPr/>
            <p:nvPr/>
          </p:nvSpPr>
          <p:spPr>
            <a:xfrm>
              <a:off x="5098454" y="1435750"/>
              <a:ext cx="634244" cy="634244"/>
            </a:xfrm>
            <a:prstGeom prst="ellipse">
              <a:avLst/>
            </a:prstGeom>
            <a:solidFill>
              <a:srgbClr val="1F70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5243711" y="1578534"/>
              <a:ext cx="343730" cy="343730"/>
            </a:xfrm>
            <a:custGeom>
              <a:rect b="b" l="l" r="r" t="t"/>
              <a:pathLst>
                <a:path extrusionOk="0" h="3240000" w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1" name="Google Shape;631;p26"/>
          <p:cNvSpPr txBox="1"/>
          <p:nvPr/>
        </p:nvSpPr>
        <p:spPr>
          <a:xfrm>
            <a:off x="4087234" y="533209"/>
            <a:ext cx="4091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(2) 데이터정제, Feature Engineering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2" name="Google Shape;6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4887" y="1763264"/>
            <a:ext cx="5941929" cy="3925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7"/>
          <p:cNvSpPr/>
          <p:nvPr/>
        </p:nvSpPr>
        <p:spPr>
          <a:xfrm>
            <a:off x="1" y="0"/>
            <a:ext cx="12191999" cy="4778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39" name="Google Shape;639;p27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40" name="Google Shape;640;p27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41" name="Google Shape;641;p27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42" name="Google Shape;642;p27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p27"/>
          <p:cNvSpPr txBox="1"/>
          <p:nvPr/>
        </p:nvSpPr>
        <p:spPr>
          <a:xfrm>
            <a:off x="4087234" y="533209"/>
            <a:ext cx="4091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(2) 데이터정제, Feature Engineering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44" name="Google Shape;644;p27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645" name="Google Shape;645;p27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날짜와 시간에 관련된 Feature 는 datetime, holiday, workingday, year, month, day, hour, day_name 이 있음.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숫자형으로 나타나는 </a:t>
              </a:r>
              <a:r>
                <a:rPr b="1"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holiday, workingday, month, hour 를 사용</a:t>
              </a: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하고 나머지는 제거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6" name="Google Shape;646;p27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날짜, 시간 관련 변수</a:t>
              </a:r>
              <a:endParaRPr/>
            </a:p>
          </p:txBody>
        </p:sp>
      </p:grpSp>
      <p:sp>
        <p:nvSpPr>
          <p:cNvPr id="647" name="Google Shape;647;p27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27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49" name="Google Shape;6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242" y="1278625"/>
            <a:ext cx="7181515" cy="322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"/>
          <p:cNvSpPr/>
          <p:nvPr/>
        </p:nvSpPr>
        <p:spPr>
          <a:xfrm>
            <a:off x="1" y="0"/>
            <a:ext cx="12191999" cy="4778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56" name="Google Shape;656;p28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57" name="Google Shape;657;p28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58" name="Google Shape;658;p28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59" name="Google Shape;659;p28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28"/>
          <p:cNvSpPr txBox="1"/>
          <p:nvPr/>
        </p:nvSpPr>
        <p:spPr>
          <a:xfrm>
            <a:off x="4087234" y="533209"/>
            <a:ext cx="4091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(2) 데이터정제, Feature Engineering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63" name="Google Shape;6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1591" y="1462356"/>
            <a:ext cx="8148817" cy="2816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4" name="Google Shape;664;p28"/>
          <p:cNvGrpSpPr/>
          <p:nvPr/>
        </p:nvGrpSpPr>
        <p:grpSpPr>
          <a:xfrm>
            <a:off x="1717854" y="4941144"/>
            <a:ext cx="9453635" cy="1305576"/>
            <a:chOff x="2551705" y="4251589"/>
            <a:chExt cx="2357002" cy="1305576"/>
          </a:xfrm>
        </p:grpSpPr>
        <p:sp>
          <p:nvSpPr>
            <p:cNvPr id="665" name="Google Shape;665;p28"/>
            <p:cNvSpPr txBox="1"/>
            <p:nvPr/>
          </p:nvSpPr>
          <p:spPr>
            <a:xfrm>
              <a:off x="2551705" y="4687375"/>
              <a:ext cx="2357002" cy="869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season 과 weather 은 범주형 데이터임으로 One-Hot Encoding을 진행.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casual, registered 는 test 데이터에서는 존재하지 않기 때문에 과감하게 삭제함.</a:t>
              </a:r>
              <a:endParaRPr/>
            </a:p>
          </p:txBody>
        </p:sp>
        <p:sp>
          <p:nvSpPr>
            <p:cNvPr id="666" name="Google Shape;666;p28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season, weather, casual, registered 변수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/>
          <p:nvPr/>
        </p:nvSpPr>
        <p:spPr>
          <a:xfrm>
            <a:off x="1" y="0"/>
            <a:ext cx="12191999" cy="4778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3" name="Google Shape;673;p29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74" name="Google Shape;674;p29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75" name="Google Shape;675;p29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76" name="Google Shape;676;p29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7" name="Google Shape;677;p29"/>
          <p:cNvSpPr txBox="1"/>
          <p:nvPr/>
        </p:nvSpPr>
        <p:spPr>
          <a:xfrm>
            <a:off x="4087234" y="533209"/>
            <a:ext cx="4091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(2) 데이터정제, Feature Engineering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760445" y="4424172"/>
            <a:ext cx="634244" cy="634244"/>
          </a:xfrm>
          <a:prstGeom prst="ellipse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905702" y="4566956"/>
            <a:ext cx="343730" cy="34373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0" name="Google Shape;680;p29"/>
          <p:cNvGrpSpPr/>
          <p:nvPr/>
        </p:nvGrpSpPr>
        <p:grpSpPr>
          <a:xfrm>
            <a:off x="1717854" y="4941144"/>
            <a:ext cx="9453635" cy="1721074"/>
            <a:chOff x="2551705" y="4251589"/>
            <a:chExt cx="2357002" cy="1721074"/>
          </a:xfrm>
        </p:grpSpPr>
        <p:sp>
          <p:nvSpPr>
            <p:cNvPr id="681" name="Google Shape;681;p29"/>
            <p:cNvSpPr txBox="1"/>
            <p:nvPr/>
          </p:nvSpPr>
          <p:spPr>
            <a:xfrm>
              <a:off x="2551705" y="4687375"/>
              <a:ext cx="2357002" cy="128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temp 와 atemp 는 상관관계가 매우 높아 temp만 사용.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windspeed의 ‘0＇은 결측값일 수 있지만 NaN 표시가 아님.</a:t>
              </a:r>
              <a:endParaRPr/>
            </a:p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바람이 불지않는 잔잔한 상태를 0으로 나타내는 경우라 생각하고 진행.</a:t>
              </a:r>
              <a:endParaRPr/>
            </a:p>
          </p:txBody>
        </p:sp>
        <p:sp>
          <p:nvSpPr>
            <p:cNvPr id="682" name="Google Shape;682;p29"/>
            <p:cNvSpPr txBox="1"/>
            <p:nvPr/>
          </p:nvSpPr>
          <p:spPr>
            <a:xfrm>
              <a:off x="2551705" y="4251589"/>
              <a:ext cx="23369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temp, atemp, humidity, windspeed 변수</a:t>
              </a:r>
              <a:endParaRPr/>
            </a:p>
          </p:txBody>
        </p:sp>
      </p:grpSp>
      <p:pic>
        <p:nvPicPr>
          <p:cNvPr id="683" name="Google Shape;6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8288" y="1435750"/>
            <a:ext cx="3536873" cy="361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7854" y="1443340"/>
            <a:ext cx="6134966" cy="2862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"/>
          <p:cNvSpPr/>
          <p:nvPr/>
        </p:nvSpPr>
        <p:spPr>
          <a:xfrm>
            <a:off x="1" y="1262742"/>
            <a:ext cx="12191999" cy="55952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91" name="Google Shape;691;p30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692" name="Google Shape;692;p30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693" name="Google Shape;693;p30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94" name="Google Shape;694;p30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5" name="Google Shape;695;p30"/>
          <p:cNvSpPr txBox="1"/>
          <p:nvPr/>
        </p:nvSpPr>
        <p:spPr>
          <a:xfrm>
            <a:off x="4087234" y="533209"/>
            <a:ext cx="4932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(2) 데이터정제, test 데이터도 동일하게 적용</a:t>
            </a:r>
            <a:endParaRPr/>
          </a:p>
        </p:txBody>
      </p:sp>
      <p:pic>
        <p:nvPicPr>
          <p:cNvPr id="696" name="Google Shape;6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58" y="2293999"/>
            <a:ext cx="7087214" cy="4153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221" y="2293999"/>
            <a:ext cx="3810330" cy="415326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30"/>
          <p:cNvSpPr txBox="1"/>
          <p:nvPr/>
        </p:nvSpPr>
        <p:spPr>
          <a:xfrm>
            <a:off x="409558" y="1626662"/>
            <a:ext cx="93732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데이터도 train 데이터 전처리 과정과 같게 처리함.</a:t>
            </a:r>
            <a:endParaRPr b="1" sz="2000">
              <a:solidFill>
                <a:srgbClr val="1F70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1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04" name="Google Shape;704;p31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705" name="Google Shape;705;p31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706" name="Google Shape;706;p31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07" name="Google Shape;707;p31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8" name="Google Shape;708;p31"/>
          <p:cNvSpPr txBox="1"/>
          <p:nvPr/>
        </p:nvSpPr>
        <p:spPr>
          <a:xfrm>
            <a:off x="4087234" y="533209"/>
            <a:ext cx="22589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(3) 모델링 및 평가</a:t>
            </a:r>
            <a:endParaRPr/>
          </a:p>
        </p:txBody>
      </p:sp>
      <p:grpSp>
        <p:nvGrpSpPr>
          <p:cNvPr id="709" name="Google Shape;709;p31"/>
          <p:cNvGrpSpPr/>
          <p:nvPr/>
        </p:nvGrpSpPr>
        <p:grpSpPr>
          <a:xfrm>
            <a:off x="943607" y="1595757"/>
            <a:ext cx="10446131" cy="4075268"/>
            <a:chOff x="943607" y="1595757"/>
            <a:chExt cx="10446131" cy="4075268"/>
          </a:xfrm>
        </p:grpSpPr>
        <p:grpSp>
          <p:nvGrpSpPr>
            <p:cNvPr id="710" name="Google Shape;710;p31"/>
            <p:cNvGrpSpPr/>
            <p:nvPr/>
          </p:nvGrpSpPr>
          <p:grpSpPr>
            <a:xfrm>
              <a:off x="943607" y="1595757"/>
              <a:ext cx="9979042" cy="605770"/>
              <a:chOff x="1280131" y="1900557"/>
              <a:chExt cx="9979042" cy="605770"/>
            </a:xfrm>
          </p:grpSpPr>
          <p:sp>
            <p:nvSpPr>
              <p:cNvPr id="711" name="Google Shape;711;p31"/>
              <p:cNvSpPr txBox="1"/>
              <p:nvPr/>
            </p:nvSpPr>
            <p:spPr>
              <a:xfrm>
                <a:off x="1885900" y="1972609"/>
                <a:ext cx="937327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평가척도</a:t>
                </a:r>
                <a:endParaRPr/>
              </a:p>
            </p:txBody>
          </p:sp>
          <p:grpSp>
            <p:nvGrpSpPr>
              <p:cNvPr id="712" name="Google Shape;712;p31"/>
              <p:cNvGrpSpPr/>
              <p:nvPr/>
            </p:nvGrpSpPr>
            <p:grpSpPr>
              <a:xfrm>
                <a:off x="1280131" y="1900557"/>
                <a:ext cx="605770" cy="605770"/>
                <a:chOff x="874495" y="1445681"/>
                <a:chExt cx="749873" cy="749873"/>
              </a:xfrm>
            </p:grpSpPr>
            <p:pic>
              <p:nvPicPr>
                <p:cNvPr id="713" name="Google Shape;713;p3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74495" y="1445681"/>
                  <a:ext cx="749873" cy="7498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14" name="Google Shape;714;p31"/>
                <p:cNvSpPr/>
                <p:nvPr/>
              </p:nvSpPr>
              <p:spPr>
                <a:xfrm>
                  <a:off x="1081984" y="1651772"/>
                  <a:ext cx="334893" cy="337690"/>
                </a:xfrm>
                <a:custGeom>
                  <a:rect b="b" l="l" r="r" t="t"/>
                  <a:pathLst>
                    <a:path extrusionOk="0" h="1665940" w="1652142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pic>
          <p:nvPicPr>
            <p:cNvPr id="715" name="Google Shape;71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3162" y="1664273"/>
              <a:ext cx="8436576" cy="40067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2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21" name="Google Shape;721;p32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722" name="Google Shape;722;p32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/>
            </a:p>
          </p:txBody>
        </p:sp>
        <p:sp>
          <p:nvSpPr>
            <p:cNvPr id="723" name="Google Shape;723;p32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24" name="Google Shape;724;p32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5" name="Google Shape;725;p32"/>
          <p:cNvSpPr txBox="1"/>
          <p:nvPr/>
        </p:nvSpPr>
        <p:spPr>
          <a:xfrm>
            <a:off x="4087234" y="533209"/>
            <a:ext cx="22589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(3) 모델링 및 평가</a:t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3234360" y="1487720"/>
            <a:ext cx="5931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데이터를 분석하여 미래 데이터를 예측 - 회귀분석</a:t>
            </a:r>
            <a:endParaRPr/>
          </a:p>
        </p:txBody>
      </p:sp>
      <p:grpSp>
        <p:nvGrpSpPr>
          <p:cNvPr id="727" name="Google Shape;727;p32"/>
          <p:cNvGrpSpPr/>
          <p:nvPr/>
        </p:nvGrpSpPr>
        <p:grpSpPr>
          <a:xfrm>
            <a:off x="1391566" y="2074258"/>
            <a:ext cx="9408868" cy="4265281"/>
            <a:chOff x="1391566" y="2181978"/>
            <a:chExt cx="9408868" cy="4265281"/>
          </a:xfrm>
        </p:grpSpPr>
        <p:pic>
          <p:nvPicPr>
            <p:cNvPr id="728" name="Google Shape;7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91566" y="2181978"/>
              <a:ext cx="9408868" cy="4265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32"/>
            <p:cNvSpPr/>
            <p:nvPr/>
          </p:nvSpPr>
          <p:spPr>
            <a:xfrm>
              <a:off x="5460249" y="2500287"/>
              <a:ext cx="12715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선형회귀 </a:t>
              </a: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5691081" y="3053681"/>
              <a:ext cx="8098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라쏘 </a:t>
              </a:r>
              <a:endParaRPr/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5705594" y="3670733"/>
              <a:ext cx="8098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릿지 </a:t>
              </a: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5590177" y="4257278"/>
              <a:ext cx="10406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앙상블 </a:t>
              </a:r>
              <a:endParaRPr/>
            </a:p>
          </p:txBody>
        </p:sp>
      </p:grpSp>
      <p:sp>
        <p:nvSpPr>
          <p:cNvPr id="733" name="Google Shape;733;p32"/>
          <p:cNvSpPr/>
          <p:nvPr/>
        </p:nvSpPr>
        <p:spPr>
          <a:xfrm>
            <a:off x="1456247" y="4206898"/>
            <a:ext cx="33532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RandomForestRegressor( ) </a:t>
            </a:r>
            <a:endParaRPr/>
          </a:p>
        </p:txBody>
      </p:sp>
      <p:sp>
        <p:nvSpPr>
          <p:cNvPr id="734" name="Google Shape;734;p32"/>
          <p:cNvSpPr/>
          <p:nvPr/>
        </p:nvSpPr>
        <p:spPr>
          <a:xfrm>
            <a:off x="7661104" y="2332686"/>
            <a:ext cx="2540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LinearRegression( ) </a:t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2635478" y="3000916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Lasso( ) </a:t>
            </a: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8205390" y="3584540"/>
            <a:ext cx="1226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Ridge( ) </a:t>
            </a:r>
            <a:endParaRPr/>
          </a:p>
        </p:txBody>
      </p:sp>
      <p:sp>
        <p:nvSpPr>
          <p:cNvPr id="737" name="Google Shape;737;p32"/>
          <p:cNvSpPr/>
          <p:nvPr/>
        </p:nvSpPr>
        <p:spPr>
          <a:xfrm>
            <a:off x="7555981" y="2847028"/>
            <a:ext cx="33865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RMSLE: 0.703</a:t>
            </a: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RMSE: 436.929, MAE: 118.447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7998667" y="4087128"/>
            <a:ext cx="3353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RMSLE: 0.703</a:t>
            </a: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RMSE: 436.927, MAE: 118.450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1406076" y="3471271"/>
            <a:ext cx="34048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RMSLE: 0.704</a:t>
            </a: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RMSE: 436.749, MAE: 118.564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0" name="Google Shape;740;p32"/>
          <p:cNvSpPr/>
          <p:nvPr/>
        </p:nvSpPr>
        <p:spPr>
          <a:xfrm>
            <a:off x="1249432" y="4795525"/>
            <a:ext cx="40010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RMSLE: 0.016</a:t>
            </a: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RMSE: 3.336, MAE: 1.322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1249432" y="4055020"/>
            <a:ext cx="4198611" cy="141636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1249432" y="5592723"/>
            <a:ext cx="20826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7097"/>
              </a:buClr>
              <a:buSzPts val="1800"/>
              <a:buFont typeface="Noto Sans Symbols"/>
              <a:buChar char="✔"/>
            </a:pPr>
            <a:r>
              <a:rPr b="1" lang="en-US" sz="1800">
                <a:solidFill>
                  <a:srgbClr val="1F7097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최종모델 선정.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3"/>
          <p:cNvSpPr/>
          <p:nvPr/>
        </p:nvSpPr>
        <p:spPr>
          <a:xfrm>
            <a:off x="631053" y="735500"/>
            <a:ext cx="10929894" cy="5589292"/>
          </a:xfrm>
          <a:prstGeom prst="roundRect">
            <a:avLst>
              <a:gd fmla="val 1286" name="adj"/>
            </a:avLst>
          </a:prstGeom>
          <a:noFill/>
          <a:ln cap="flat" cmpd="sng" w="12700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p33"/>
          <p:cNvSpPr/>
          <p:nvPr/>
        </p:nvSpPr>
        <p:spPr>
          <a:xfrm>
            <a:off x="453054" y="159026"/>
            <a:ext cx="5291763" cy="8960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9" name="Google Shape;749;p33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50" name="Google Shape;750;p33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751" name="Google Shape;751;p33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모델링 및 결과</a:t>
              </a:r>
              <a:endParaRPr/>
            </a:p>
          </p:txBody>
        </p:sp>
        <p:sp>
          <p:nvSpPr>
            <p:cNvPr id="752" name="Google Shape;752;p33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53" name="Google Shape;753;p33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54" name="Google Shape;754;p33"/>
          <p:cNvGrpSpPr/>
          <p:nvPr/>
        </p:nvGrpSpPr>
        <p:grpSpPr>
          <a:xfrm>
            <a:off x="837365" y="1991085"/>
            <a:ext cx="7219670" cy="1655629"/>
            <a:chOff x="453054" y="1727573"/>
            <a:chExt cx="7219670" cy="1655629"/>
          </a:xfrm>
        </p:grpSpPr>
        <p:pic>
          <p:nvPicPr>
            <p:cNvPr id="755" name="Google Shape;75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3054" y="1727588"/>
              <a:ext cx="4066224" cy="1655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33"/>
            <p:cNvSpPr/>
            <p:nvPr/>
          </p:nvSpPr>
          <p:spPr>
            <a:xfrm>
              <a:off x="1106326" y="2232222"/>
              <a:ext cx="174051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최종모델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랜덤포레스트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757" name="Google Shape;757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07821" y="1727573"/>
              <a:ext cx="3164903" cy="1655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33"/>
            <p:cNvSpPr/>
            <p:nvPr/>
          </p:nvSpPr>
          <p:spPr>
            <a:xfrm>
              <a:off x="5131101" y="2232222"/>
              <a:ext cx="19298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하이퍼 파라미터 튜닝</a:t>
              </a:r>
              <a:endParaRPr b="1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59" name="Google Shape;75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9117" y="3958736"/>
            <a:ext cx="5238002" cy="1968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3"/>
          <p:cNvPicPr preferRelativeResize="0"/>
          <p:nvPr/>
        </p:nvPicPr>
        <p:blipFill rotWithShape="1">
          <a:blip r:embed="rId6">
            <a:alphaModFix/>
          </a:blip>
          <a:srcRect b="0" l="0" r="61675" t="0"/>
          <a:stretch/>
        </p:blipFill>
        <p:spPr>
          <a:xfrm>
            <a:off x="8319465" y="2221489"/>
            <a:ext cx="1194332" cy="1278708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3"/>
          <p:cNvSpPr/>
          <p:nvPr/>
        </p:nvSpPr>
        <p:spPr>
          <a:xfrm>
            <a:off x="9097918" y="1838204"/>
            <a:ext cx="2713142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 Param: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{'max_depth': 12, 'min_samples_leaf': 8, 'min_samples_split': 8, 'n_estimators': 100}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33"/>
          <p:cNvSpPr txBox="1"/>
          <p:nvPr/>
        </p:nvSpPr>
        <p:spPr>
          <a:xfrm>
            <a:off x="4087234" y="533209"/>
            <a:ext cx="1284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최종모델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4"/>
          <p:cNvSpPr/>
          <p:nvPr/>
        </p:nvSpPr>
        <p:spPr>
          <a:xfrm>
            <a:off x="631053" y="735500"/>
            <a:ext cx="10929894" cy="5589292"/>
          </a:xfrm>
          <a:prstGeom prst="roundRect">
            <a:avLst>
              <a:gd fmla="val 1286" name="adj"/>
            </a:avLst>
          </a:prstGeom>
          <a:noFill/>
          <a:ln cap="flat" cmpd="sng" w="12700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ㅍ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8" name="Google Shape;768;p34"/>
          <p:cNvSpPr/>
          <p:nvPr/>
        </p:nvSpPr>
        <p:spPr>
          <a:xfrm>
            <a:off x="453054" y="159026"/>
            <a:ext cx="5291763" cy="8960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1" y="410740"/>
            <a:ext cx="3953164" cy="584775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70" name="Google Shape;770;p34"/>
          <p:cNvGrpSpPr/>
          <p:nvPr/>
        </p:nvGrpSpPr>
        <p:grpSpPr>
          <a:xfrm>
            <a:off x="453054" y="410741"/>
            <a:ext cx="2724255" cy="584775"/>
            <a:chOff x="6102442" y="1483456"/>
            <a:chExt cx="2724255" cy="584775"/>
          </a:xfrm>
        </p:grpSpPr>
        <p:sp>
          <p:nvSpPr>
            <p:cNvPr id="771" name="Google Shape;771;p34"/>
            <p:cNvSpPr txBox="1"/>
            <p:nvPr/>
          </p:nvSpPr>
          <p:spPr>
            <a:xfrm>
              <a:off x="6898820" y="1591176"/>
              <a:ext cx="1927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모델링 및 결과</a:t>
              </a:r>
              <a:endParaRPr/>
            </a:p>
          </p:txBody>
        </p:sp>
        <p:sp>
          <p:nvSpPr>
            <p:cNvPr id="772" name="Google Shape;772;p34"/>
            <p:cNvSpPr txBox="1"/>
            <p:nvPr/>
          </p:nvSpPr>
          <p:spPr>
            <a:xfrm>
              <a:off x="6102442" y="1483456"/>
              <a:ext cx="9811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1" sz="3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73" name="Google Shape;773;p34"/>
          <p:cNvCxnSpPr/>
          <p:nvPr/>
        </p:nvCxnSpPr>
        <p:spPr>
          <a:xfrm>
            <a:off x="0" y="1055073"/>
            <a:ext cx="3953165" cy="0"/>
          </a:xfrm>
          <a:prstGeom prst="straightConnector1">
            <a:avLst/>
          </a:prstGeom>
          <a:noFill/>
          <a:ln cap="flat" cmpd="sng" w="38100">
            <a:solidFill>
              <a:srgbClr val="1F709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4" name="Google Shape;774;p34"/>
          <p:cNvSpPr txBox="1"/>
          <p:nvPr/>
        </p:nvSpPr>
        <p:spPr>
          <a:xfrm>
            <a:off x="4087234" y="533209"/>
            <a:ext cx="1284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캐글제출</a:t>
            </a:r>
            <a:endParaRPr/>
          </a:p>
        </p:txBody>
      </p:sp>
      <p:grpSp>
        <p:nvGrpSpPr>
          <p:cNvPr id="775" name="Google Shape;775;p34"/>
          <p:cNvGrpSpPr/>
          <p:nvPr/>
        </p:nvGrpSpPr>
        <p:grpSpPr>
          <a:xfrm>
            <a:off x="272310" y="2400198"/>
            <a:ext cx="11647380" cy="2446768"/>
            <a:chOff x="424026" y="2074463"/>
            <a:chExt cx="11647380" cy="2446768"/>
          </a:xfrm>
        </p:grpSpPr>
        <p:pic>
          <p:nvPicPr>
            <p:cNvPr id="776" name="Google Shape;776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1933" y="3657591"/>
              <a:ext cx="1572984" cy="740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7" name="Google Shape;777;p34"/>
            <p:cNvPicPr preferRelativeResize="0"/>
            <p:nvPr/>
          </p:nvPicPr>
          <p:blipFill rotWithShape="1">
            <a:blip r:embed="rId4">
              <a:alphaModFix/>
            </a:blip>
            <a:srcRect b="-7076" l="0" r="9873" t="0"/>
            <a:stretch/>
          </p:blipFill>
          <p:spPr>
            <a:xfrm>
              <a:off x="8549900" y="3029942"/>
              <a:ext cx="3521506" cy="865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05829" y="3635241"/>
              <a:ext cx="1949180" cy="8859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3208" y="3097732"/>
              <a:ext cx="3280149" cy="7529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34"/>
            <p:cNvPicPr preferRelativeResize="0"/>
            <p:nvPr/>
          </p:nvPicPr>
          <p:blipFill rotWithShape="1">
            <a:blip r:embed="rId7">
              <a:alphaModFix/>
            </a:blip>
            <a:srcRect b="56006" l="82022" r="0" t="11572"/>
            <a:stretch/>
          </p:blipFill>
          <p:spPr>
            <a:xfrm>
              <a:off x="1316766" y="3657591"/>
              <a:ext cx="1949180" cy="6811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1" name="Google Shape;781;p34"/>
            <p:cNvPicPr preferRelativeResize="0"/>
            <p:nvPr/>
          </p:nvPicPr>
          <p:blipFill rotWithShape="1">
            <a:blip r:embed="rId7">
              <a:alphaModFix/>
            </a:blip>
            <a:srcRect b="33241" l="0" r="48898" t="0"/>
            <a:stretch/>
          </p:blipFill>
          <p:spPr>
            <a:xfrm>
              <a:off x="424026" y="3038407"/>
              <a:ext cx="3443234" cy="871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2" name="Google Shape;782;p34"/>
            <p:cNvSpPr/>
            <p:nvPr/>
          </p:nvSpPr>
          <p:spPr>
            <a:xfrm>
              <a:off x="3600942" y="3136615"/>
              <a:ext cx="566084" cy="584769"/>
            </a:xfrm>
            <a:prstGeom prst="chevron">
              <a:avLst>
                <a:gd fmla="val 54864" name="adj"/>
              </a:avLst>
            </a:prstGeom>
            <a:solidFill>
              <a:srgbClr val="0587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7698391" y="3136615"/>
              <a:ext cx="566084" cy="584769"/>
            </a:xfrm>
            <a:prstGeom prst="chevron">
              <a:avLst>
                <a:gd fmla="val 54864" name="adj"/>
              </a:avLst>
            </a:prstGeom>
            <a:solidFill>
              <a:srgbClr val="0587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8119306" y="3136615"/>
              <a:ext cx="566084" cy="584769"/>
            </a:xfrm>
            <a:prstGeom prst="chevron">
              <a:avLst>
                <a:gd fmla="val 54864" name="adj"/>
              </a:avLst>
            </a:prstGeom>
            <a:solidFill>
              <a:srgbClr val="0587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85" name="Google Shape;785;p34"/>
            <p:cNvGrpSpPr/>
            <p:nvPr/>
          </p:nvGrpSpPr>
          <p:grpSpPr>
            <a:xfrm>
              <a:off x="1070539" y="2074463"/>
              <a:ext cx="2320530" cy="701101"/>
              <a:chOff x="1070539" y="2074463"/>
              <a:chExt cx="2320530" cy="701101"/>
            </a:xfrm>
          </p:grpSpPr>
          <p:pic>
            <p:nvPicPr>
              <p:cNvPr id="786" name="Google Shape;786;p3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70539" y="2074463"/>
                <a:ext cx="701101" cy="7011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7" name="Google Shape;787;p34"/>
              <p:cNvSpPr/>
              <p:nvPr/>
            </p:nvSpPr>
            <p:spPr>
              <a:xfrm>
                <a:off x="2052241" y="2240347"/>
                <a:ext cx="13388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샘플데이터</a:t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88" name="Google Shape;788;p34"/>
            <p:cNvGrpSpPr/>
            <p:nvPr/>
          </p:nvGrpSpPr>
          <p:grpSpPr>
            <a:xfrm>
              <a:off x="4605326" y="2074463"/>
              <a:ext cx="3028031" cy="701101"/>
              <a:chOff x="4959077" y="2074463"/>
              <a:chExt cx="3028031" cy="701101"/>
            </a:xfrm>
          </p:grpSpPr>
          <p:pic>
            <p:nvPicPr>
              <p:cNvPr id="789" name="Google Shape;789;p3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959077" y="2074463"/>
                <a:ext cx="701101" cy="7011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0" name="Google Shape;790;p34"/>
              <p:cNvSpPr/>
              <p:nvPr/>
            </p:nvSpPr>
            <p:spPr>
              <a:xfrm>
                <a:off x="5940779" y="2101848"/>
                <a:ext cx="204632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LinearRegression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(중간결과)</a:t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91" name="Google Shape;791;p34"/>
            <p:cNvGrpSpPr/>
            <p:nvPr/>
          </p:nvGrpSpPr>
          <p:grpSpPr>
            <a:xfrm>
              <a:off x="8846545" y="2074463"/>
              <a:ext cx="2551362" cy="701101"/>
              <a:chOff x="8846545" y="2074463"/>
              <a:chExt cx="2551362" cy="701101"/>
            </a:xfrm>
          </p:grpSpPr>
          <p:pic>
            <p:nvPicPr>
              <p:cNvPr id="792" name="Google Shape;792;p3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846545" y="2074463"/>
                <a:ext cx="701101" cy="7011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3" name="Google Shape;793;p34"/>
              <p:cNvSpPr/>
              <p:nvPr/>
            </p:nvSpPr>
            <p:spPr>
              <a:xfrm>
                <a:off x="9828247" y="2101848"/>
                <a:ext cx="156966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랜덤포레스트</a:t>
                </a:r>
                <a:endParaRPr b="1" sz="1800">
                  <a:solidFill>
                    <a:srgbClr val="1F7097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F7097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(최종제출)</a:t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5"/>
          <p:cNvSpPr/>
          <p:nvPr/>
        </p:nvSpPr>
        <p:spPr>
          <a:xfrm>
            <a:off x="631053" y="556591"/>
            <a:ext cx="10929894" cy="5768201"/>
          </a:xfrm>
          <a:prstGeom prst="roundRect">
            <a:avLst>
              <a:gd fmla="val 128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ㅍ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2" y="2243036"/>
            <a:ext cx="12191998" cy="2289208"/>
          </a:xfrm>
          <a:prstGeom prst="rect">
            <a:avLst/>
          </a:prstGeom>
          <a:solidFill>
            <a:srgbClr val="1F70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0" name="Google Shape;800;p35"/>
          <p:cNvSpPr txBox="1"/>
          <p:nvPr/>
        </p:nvSpPr>
        <p:spPr>
          <a:xfrm>
            <a:off x="-263002" y="3105834"/>
            <a:ext cx="46618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b="1" sz="3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자전거 타기" id="801" name="Google Shape;8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484438" y="28377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2022-11-05T03:43:13Z</dcterms:created>
  <dc:creator>User</dc:creator>
</cp:coreProperties>
</file>